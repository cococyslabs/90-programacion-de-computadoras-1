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8288000" cy="10287000"/>
  <p:notesSz cx="6858000" cy="9144000"/>
  <p:embeddedFontLst>
    <p:embeddedFont>
      <p:font typeface="Open Sans Bold" charset="1" panose="00000000000000000000"/>
      <p:regular r:id="rId28"/>
    </p:embeddedFont>
    <p:embeddedFont>
      <p:font typeface="Open Sans" charset="1" panose="00000000000000000000"/>
      <p:regular r:id="rId29"/>
    </p:embeddedFont>
    <p:embeddedFont>
      <p:font typeface="Poppins" charset="1" panose="00000500000000000000"/>
      <p:regular r:id="rId30"/>
    </p:embeddedFont>
    <p:embeddedFont>
      <p:font typeface="Inter" charset="1" panose="02000503000000020004"/>
      <p:regular r:id="rId31"/>
    </p:embeddedFont>
    <p:embeddedFont>
      <p:font typeface="Poppins Bold" charset="1" panose="00000800000000000000"/>
      <p:regular r:id="rId32"/>
    </p:embeddedFont>
    <p:embeddedFont>
      <p:font typeface="Inter Bold" charset="1" panose="02000503000000020004"/>
      <p:regular r:id="rId33"/>
    </p:embeddedFont>
    <p:embeddedFont>
      <p:font typeface="Inter Italics" charset="1" panose="02000503000000020004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1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pn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2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png" Type="http://schemas.openxmlformats.org/officeDocument/2006/relationships/image"/><Relationship Id="rId4" Target="../media/image25.png" Type="http://schemas.openxmlformats.org/officeDocument/2006/relationships/image"/><Relationship Id="rId5" Target="../media/image26.png" Type="http://schemas.openxmlformats.org/officeDocument/2006/relationships/image"/><Relationship Id="rId6" Target="../media/image27.png" Type="http://schemas.openxmlformats.org/officeDocument/2006/relationships/image"/><Relationship Id="rId7" Target="../media/image28.png" Type="http://schemas.openxmlformats.org/officeDocument/2006/relationships/image"/><Relationship Id="rId8" Target="../media/image29.png" Type="http://schemas.openxmlformats.org/officeDocument/2006/relationships/image"/><Relationship Id="rId9" Target="../media/image3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3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4.png" Type="http://schemas.openxmlformats.org/officeDocument/2006/relationships/image"/><Relationship Id="rId4" Target="../media/image35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36.png" Type="http://schemas.openxmlformats.org/officeDocument/2006/relationships/image"/><Relationship Id="rId6" Target="../media/image37.png" Type="http://schemas.openxmlformats.org/officeDocument/2006/relationships/image"/><Relationship Id="rId7" Target="../media/image38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9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81" r="0" b="-81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5927112" y="6416164"/>
            <a:ext cx="6433785" cy="880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25"/>
              </a:lnSpc>
            </a:pPr>
            <a:r>
              <a:rPr lang="en-US" sz="5088" b="true">
                <a:solidFill>
                  <a:srgbClr val="FEFEF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Luis Vejo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652952" y="3895715"/>
            <a:ext cx="10982096" cy="2299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34"/>
              </a:lnSpc>
            </a:pPr>
            <a:r>
              <a:rPr lang="en-US" sz="4524" b="true">
                <a:solidFill>
                  <a:srgbClr val="FEFEF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Laboratorio de Programación de Computadoras 1 Sección N</a:t>
            </a:r>
          </a:p>
          <a:p>
            <a:pPr algn="ctr">
              <a:lnSpc>
                <a:spcPts val="5214"/>
              </a:lnSpc>
            </a:pPr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2379998" y="1922183"/>
          <a:ext cx="5410200" cy="1619250"/>
        </p:xfrm>
        <a:graphic>
          <a:graphicData uri="http://schemas.openxmlformats.org/drawingml/2006/table">
            <a:tbl>
              <a:tblPr/>
              <a:tblGrid>
                <a:gridCol w="2705100"/>
                <a:gridCol w="2705100"/>
              </a:tblGrid>
              <a:tr h="8096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Dia, Fecha: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Martes</a:t>
                      </a: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, 18/08/2026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96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Hora de inicio: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12:20pm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2030617" y="9332866"/>
            <a:ext cx="6433785" cy="620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64"/>
              </a:lnSpc>
            </a:pPr>
            <a:r>
              <a:rPr lang="en-US" sz="3689" b="true">
                <a:solidFill>
                  <a:srgbClr val="FEFEF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Empezamos 12:25pm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43050" y="3509810"/>
            <a:ext cx="16682085" cy="2011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720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Diseño de </a:t>
            </a:r>
          </a:p>
          <a:p>
            <a:pPr algn="l">
              <a:lnSpc>
                <a:spcPts val="7920"/>
              </a:lnSpc>
            </a:pPr>
            <a:r>
              <a:rPr lang="en-US" sz="7200">
                <a:solidFill>
                  <a:srgbClr val="A3E635"/>
                </a:solidFill>
                <a:latin typeface="Poppins"/>
                <a:ea typeface="Poppins"/>
                <a:cs typeface="Poppins"/>
                <a:sym typeface="Poppins"/>
              </a:rPr>
              <a:t>Bases de Datos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43050" y="5987948"/>
            <a:ext cx="15887700" cy="510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8"/>
              </a:lnSpc>
            </a:pPr>
            <a:r>
              <a:rPr lang="en-US" sz="27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Aux. Luis Vejo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43050" y="6822205"/>
            <a:ext cx="15887700" cy="510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8"/>
              </a:lnSpc>
            </a:pPr>
            <a:r>
              <a:rPr lang="en-US" sz="27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Laboratorio de Programación de Computadoras 1, Sección 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43050" y="7656462"/>
            <a:ext cx="15887700" cy="653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8"/>
              </a:lnSpc>
            </a:pPr>
            <a:r>
              <a:rPr lang="en-US" sz="27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Día, Fecha: Martes, 18/08/2026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43050" y="8490718"/>
            <a:ext cx="15887700" cy="510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8"/>
              </a:lnSpc>
            </a:pPr>
            <a:r>
              <a:rPr lang="en-US" sz="27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Hora de inicio: 12:20pm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86750" y="3031850"/>
            <a:ext cx="1714500" cy="85725"/>
            <a:chOff x="0" y="0"/>
            <a:chExt cx="2286000" cy="1143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86000" cy="114300"/>
            </a:xfrm>
            <a:custGeom>
              <a:avLst/>
              <a:gdLst/>
              <a:ahLst/>
              <a:cxnLst/>
              <a:rect r="r" b="b" t="t" l="l"/>
              <a:pathLst>
                <a:path h="11430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11430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A3E635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111241" y="3612875"/>
            <a:ext cx="4065508" cy="130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20"/>
              </a:lnSpc>
            </a:pPr>
            <a:r>
              <a:rPr lang="en-US" sz="8100" b="true">
                <a:solidFill>
                  <a:srgbClr val="F8FAFC"/>
                </a:solidFill>
                <a:latin typeface="Poppins Bold"/>
                <a:ea typeface="Poppins Bold"/>
                <a:cs typeface="Poppins Bold"/>
                <a:sym typeface="Poppins Bold"/>
              </a:rPr>
              <a:t>Clase 6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086225" y="5851250"/>
            <a:ext cx="10115550" cy="1878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8"/>
              </a:lnSpc>
            </a:pPr>
            <a:r>
              <a:rPr lang="en-US" sz="3150">
                <a:solidFill>
                  <a:srgbClr val="A3E635"/>
                </a:solidFill>
                <a:latin typeface="Inter"/>
                <a:ea typeface="Inter"/>
                <a:cs typeface="Inter"/>
                <a:sym typeface="Inter"/>
              </a:rPr>
              <a:t>LABORATORIO DE PROGRAMACIÓN DE COMPUTADORAS</a:t>
            </a:r>
          </a:p>
          <a:p>
            <a:pPr algn="ctr">
              <a:lnSpc>
                <a:spcPts val="5038"/>
              </a:lnSpc>
            </a:pPr>
            <a:r>
              <a:rPr lang="en-US" sz="3150">
                <a:solidFill>
                  <a:srgbClr val="A3E635"/>
                </a:solidFill>
                <a:latin typeface="Inter"/>
                <a:ea typeface="Inter"/>
                <a:cs typeface="Inter"/>
                <a:sym typeface="Inter"/>
              </a:rPr>
              <a:t> SECCIÓN N - CÓDIGO 090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72625" y="2893219"/>
            <a:ext cx="7858125" cy="6000750"/>
            <a:chOff x="0" y="0"/>
            <a:chExt cx="10477500" cy="8001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10477500" cy="8001000"/>
            </a:xfrm>
            <a:custGeom>
              <a:avLst/>
              <a:gdLst/>
              <a:ahLst/>
              <a:cxnLst/>
              <a:rect r="r" b="b" t="t" l="l"/>
              <a:pathLst>
                <a:path h="8001000" w="10477500">
                  <a:moveTo>
                    <a:pt x="0" y="0"/>
                  </a:moveTo>
                  <a:lnTo>
                    <a:pt x="10477500" y="0"/>
                  </a:lnTo>
                  <a:lnTo>
                    <a:pt x="10477500" y="8001000"/>
                  </a:lnTo>
                  <a:lnTo>
                    <a:pt x="0" y="800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19" r="0" b="-119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314450" y="2797969"/>
            <a:ext cx="7400925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250" b="true">
                <a:solidFill>
                  <a:srgbClr val="CBD5E1"/>
                </a:solidFill>
                <a:latin typeface="Inter Bold"/>
                <a:ea typeface="Inter Bold"/>
                <a:cs typeface="Inter Bold"/>
                <a:sym typeface="Inter Bold"/>
              </a:rPr>
              <a:t>1. Foro de la Semana No. 5:</a:t>
            </a: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Discusión sobre modelos de datos.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14450" y="3998119"/>
            <a:ext cx="7400925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250" b="true">
                <a:solidFill>
                  <a:srgbClr val="CBD5E1"/>
                </a:solidFill>
                <a:latin typeface="Inter Bold"/>
                <a:ea typeface="Inter Bold"/>
                <a:cs typeface="Inter Bold"/>
                <a:sym typeface="Inter Bold"/>
              </a:rPr>
              <a:t>2. Proyecto 1:</a:t>
            </a: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Revisión del enunciado y lineamientos.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14450" y="4741069"/>
            <a:ext cx="7400925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250" b="true">
                <a:solidFill>
                  <a:srgbClr val="CBD5E1"/>
                </a:solidFill>
                <a:latin typeface="Inter Bold"/>
                <a:ea typeface="Inter Bold"/>
                <a:cs typeface="Inter Bold"/>
                <a:sym typeface="Inter Bold"/>
              </a:rPr>
              <a:t>3. Contenido:</a:t>
            </a: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Fundamentos de Diseño de Bases de Datos y Modelo ER.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14450" y="5941219"/>
            <a:ext cx="7400925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250" b="true">
                <a:solidFill>
                  <a:srgbClr val="CBD5E1"/>
                </a:solidFill>
                <a:latin typeface="Inter Bold"/>
                <a:ea typeface="Inter Bold"/>
                <a:cs typeface="Inter Bold"/>
                <a:sym typeface="Inter Bold"/>
              </a:rPr>
              <a:t>4. Examen Corto No. 2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601200" y="2921794"/>
            <a:ext cx="7800975" cy="5943600"/>
            <a:chOff x="0" y="0"/>
            <a:chExt cx="10401300" cy="79248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10401300" cy="7924800"/>
            </a:xfrm>
            <a:custGeom>
              <a:avLst/>
              <a:gdLst/>
              <a:ahLst/>
              <a:cxnLst/>
              <a:rect r="r" b="b" t="t" l="l"/>
              <a:pathLst>
                <a:path h="7924800" w="10401300">
                  <a:moveTo>
                    <a:pt x="0" y="0"/>
                  </a:moveTo>
                  <a:lnTo>
                    <a:pt x="10401300" y="0"/>
                  </a:lnTo>
                  <a:lnTo>
                    <a:pt x="10401300" y="7924800"/>
                  </a:lnTo>
                  <a:lnTo>
                    <a:pt x="0" y="792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33" r="0" b="-232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57250" y="2971800"/>
            <a:ext cx="357188" cy="300038"/>
            <a:chOff x="0" y="0"/>
            <a:chExt cx="476250" cy="40005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476250" cy="400050"/>
            </a:xfrm>
            <a:custGeom>
              <a:avLst/>
              <a:gdLst/>
              <a:ahLst/>
              <a:cxnLst/>
              <a:rect r="r" b="b" t="t" l="l"/>
              <a:pathLst>
                <a:path h="400050" w="476250">
                  <a:moveTo>
                    <a:pt x="0" y="0"/>
                  </a:moveTo>
                  <a:lnTo>
                    <a:pt x="476250" y="0"/>
                  </a:lnTo>
                  <a:lnTo>
                    <a:pt x="47625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57250" y="4171950"/>
            <a:ext cx="214312" cy="300038"/>
            <a:chOff x="0" y="0"/>
            <a:chExt cx="285750" cy="40005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285750" cy="400050"/>
            </a:xfrm>
            <a:custGeom>
              <a:avLst/>
              <a:gdLst/>
              <a:ahLst/>
              <a:cxnLst/>
              <a:rect r="r" b="b" t="t" l="l"/>
              <a:pathLst>
                <a:path h="400050" w="285750">
                  <a:moveTo>
                    <a:pt x="0" y="0"/>
                  </a:moveTo>
                  <a:lnTo>
                    <a:pt x="285750" y="0"/>
                  </a:lnTo>
                  <a:lnTo>
                    <a:pt x="28575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57250" y="4914900"/>
            <a:ext cx="257175" cy="300038"/>
            <a:chOff x="0" y="0"/>
            <a:chExt cx="342900" cy="40005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342900" cy="400050"/>
            </a:xfrm>
            <a:custGeom>
              <a:avLst/>
              <a:gdLst/>
              <a:ahLst/>
              <a:cxnLst/>
              <a:rect r="r" b="b" t="t" l="l"/>
              <a:pathLst>
                <a:path h="40005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57250" y="6115050"/>
            <a:ext cx="285750" cy="300038"/>
            <a:chOff x="0" y="0"/>
            <a:chExt cx="381000" cy="40005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381000" cy="400050"/>
            </a:xfrm>
            <a:custGeom>
              <a:avLst/>
              <a:gdLst/>
              <a:ahLst/>
              <a:cxnLst/>
              <a:rect r="r" b="b" t="t" l="l"/>
              <a:pathLst>
                <a:path h="40005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857250" y="809625"/>
            <a:ext cx="17402175" cy="976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true">
                <a:solidFill>
                  <a:srgbClr val="A3E635"/>
                </a:solidFill>
                <a:latin typeface="Poppins Bold"/>
                <a:ea typeface="Poppins Bold"/>
                <a:cs typeface="Poppins Bold"/>
                <a:sym typeface="Poppins Bold"/>
              </a:rPr>
              <a:t>Agenda de la Clase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86750" y="3351871"/>
            <a:ext cx="1714500" cy="85725"/>
            <a:chOff x="0" y="0"/>
            <a:chExt cx="2286000" cy="1143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86000" cy="114300"/>
            </a:xfrm>
            <a:custGeom>
              <a:avLst/>
              <a:gdLst/>
              <a:ahLst/>
              <a:cxnLst/>
              <a:rect r="r" b="b" t="t" l="l"/>
              <a:pathLst>
                <a:path h="11430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11430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A3E635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6248638" y="3932896"/>
            <a:ext cx="5790724" cy="161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20"/>
              </a:lnSpc>
            </a:pPr>
            <a:r>
              <a:rPr lang="en-US" sz="8100" b="true">
                <a:solidFill>
                  <a:srgbClr val="F8FAFC"/>
                </a:solidFill>
                <a:latin typeface="Poppins Bold"/>
                <a:ea typeface="Poppins Bold"/>
                <a:cs typeface="Poppins Bold"/>
                <a:sym typeface="Poppins Bold"/>
              </a:rPr>
              <a:t>Contenido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136356" y="6171271"/>
            <a:ext cx="8015288" cy="763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8"/>
              </a:lnSpc>
            </a:pPr>
            <a:r>
              <a:rPr lang="en-US" sz="3150">
                <a:solidFill>
                  <a:srgbClr val="A3E635"/>
                </a:solidFill>
                <a:latin typeface="Inter"/>
                <a:ea typeface="Inter"/>
                <a:cs typeface="Inter"/>
                <a:sym typeface="Inter"/>
              </a:rPr>
              <a:t>Fundamentos y Diseño de Bases de Datos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57512" y="2104206"/>
            <a:ext cx="12372975" cy="6402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88"/>
              </a:lnSpc>
            </a:pPr>
            <a:r>
              <a:rPr lang="en-US" sz="585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Una base de datos es una recopilación organizada de información o datos estructurados, almacenada electrónicamente en un sistema informático.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836194" y="9078144"/>
            <a:ext cx="10615612" cy="442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0"/>
              </a:lnSpc>
            </a:pPr>
            <a:r>
              <a:rPr lang="en-US" sz="2925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Permite acceder, gestionar y actualizar los datos fácilmente.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814512" y="3609156"/>
            <a:ext cx="628650" cy="1800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50"/>
              </a:lnSpc>
            </a:pPr>
            <a:r>
              <a:rPr lang="en-US" sz="13500">
                <a:solidFill>
                  <a:srgbClr val="A3E635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844838" y="9563919"/>
            <a:ext cx="628650" cy="723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50"/>
              </a:lnSpc>
            </a:pPr>
            <a:r>
              <a:rPr lang="en-US" sz="13500">
                <a:solidFill>
                  <a:srgbClr val="A3E635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42912" y="718318"/>
            <a:ext cx="17402175" cy="976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40"/>
              </a:lnSpc>
            </a:pPr>
            <a:r>
              <a:rPr lang="en-US" sz="4950" b="true">
                <a:solidFill>
                  <a:srgbClr val="F8FAFC"/>
                </a:solidFill>
                <a:latin typeface="Poppins Bold"/>
                <a:ea typeface="Poppins Bold"/>
                <a:cs typeface="Poppins Bold"/>
                <a:sym typeface="Poppins Bold"/>
              </a:rPr>
              <a:t>¿Qué es una Base de Datos?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7250" y="3164681"/>
            <a:ext cx="7858125" cy="5457825"/>
            <a:chOff x="0" y="0"/>
            <a:chExt cx="10477500" cy="72771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10477500" cy="7277100"/>
            </a:xfrm>
            <a:custGeom>
              <a:avLst/>
              <a:gdLst/>
              <a:ahLst/>
              <a:cxnLst/>
              <a:rect r="r" b="b" t="t" l="l"/>
              <a:pathLst>
                <a:path h="7277100" w="10477500">
                  <a:moveTo>
                    <a:pt x="0" y="0"/>
                  </a:moveTo>
                  <a:lnTo>
                    <a:pt x="10477500" y="0"/>
                  </a:lnTo>
                  <a:lnTo>
                    <a:pt x="10477500" y="7277100"/>
                  </a:lnTo>
                  <a:lnTo>
                    <a:pt x="0" y="7277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30" r="0" b="-13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572625" y="3164681"/>
            <a:ext cx="7858125" cy="5457825"/>
            <a:chOff x="0" y="0"/>
            <a:chExt cx="10477500" cy="72771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477500" cy="7277100"/>
            </a:xfrm>
            <a:custGeom>
              <a:avLst/>
              <a:gdLst/>
              <a:ahLst/>
              <a:cxnLst/>
              <a:rect r="r" b="b" t="t" l="l"/>
              <a:pathLst>
                <a:path h="7277100" w="10477500">
                  <a:moveTo>
                    <a:pt x="0" y="0"/>
                  </a:moveTo>
                  <a:lnTo>
                    <a:pt x="10477500" y="0"/>
                  </a:lnTo>
                  <a:lnTo>
                    <a:pt x="10477500" y="7277100"/>
                  </a:lnTo>
                  <a:lnTo>
                    <a:pt x="0" y="7277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30" r="0" b="-13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443038" y="3731419"/>
            <a:ext cx="7020878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A3E635"/>
                </a:solidFill>
                <a:latin typeface="Poppins"/>
                <a:ea typeface="Poppins"/>
                <a:cs typeface="Poppins"/>
                <a:sym typeface="Poppins"/>
              </a:rPr>
              <a:t>1. Bases de Datos Relacionales (SQL)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43038" y="5369719"/>
            <a:ext cx="6686550" cy="2381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Almacenan datos en tablas estructuradas (filas y columnas) que se relacionan entre sí. Utilizan un esquema fijo. El diseño conceptual estándar se basa en el </a:t>
            </a:r>
            <a:r>
              <a:rPr lang="en-US" sz="2250" b="true">
                <a:solidFill>
                  <a:srgbClr val="CBD5E1"/>
                </a:solidFill>
                <a:latin typeface="Inter Bold"/>
                <a:ea typeface="Inter Bold"/>
                <a:cs typeface="Inter Bold"/>
                <a:sym typeface="Inter Bold"/>
              </a:rPr>
              <a:t>Modelo Entidad-Relación (ER)</a:t>
            </a: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propuesto por Peter Chen.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158412" y="3731419"/>
            <a:ext cx="7020878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A3E635"/>
                </a:solidFill>
                <a:latin typeface="Poppins"/>
                <a:ea typeface="Poppins"/>
                <a:cs typeface="Poppins"/>
                <a:sym typeface="Poppins"/>
              </a:rPr>
              <a:t>2. Bases de Datos No Relacionales (NoSQL)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158412" y="5369719"/>
            <a:ext cx="6686550" cy="2381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Almacenan datos en formatos flexibles como documentos (JSON), grafos o clave-valor. Ideales para datos no estructurados o esquemas dinámicos, pero no utilizan diagramas ER clásicos para su modelado.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57250" y="809625"/>
            <a:ext cx="17402175" cy="976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true">
                <a:solidFill>
                  <a:srgbClr val="A3E635"/>
                </a:solidFill>
                <a:latin typeface="Poppins Bold"/>
                <a:ea typeface="Poppins Bold"/>
                <a:cs typeface="Poppins Bold"/>
                <a:sym typeface="Poppins Bold"/>
              </a:rPr>
              <a:t>Tipos de Diseño de Bases de Datos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7250" y="2643188"/>
            <a:ext cx="5238826" cy="6500812"/>
            <a:chOff x="0" y="0"/>
            <a:chExt cx="6985102" cy="866775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6985127" cy="8667750"/>
            </a:xfrm>
            <a:custGeom>
              <a:avLst/>
              <a:gdLst/>
              <a:ahLst/>
              <a:cxnLst/>
              <a:rect r="r" b="b" t="t" l="l"/>
              <a:pathLst>
                <a:path h="8667750" w="6985127">
                  <a:moveTo>
                    <a:pt x="0" y="0"/>
                  </a:moveTo>
                  <a:lnTo>
                    <a:pt x="6985127" y="0"/>
                  </a:lnTo>
                  <a:lnTo>
                    <a:pt x="6985127" y="8667750"/>
                  </a:lnTo>
                  <a:lnTo>
                    <a:pt x="0" y="8667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4" t="0" r="-44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524701" y="2643188"/>
            <a:ext cx="5238826" cy="6500812"/>
            <a:chOff x="0" y="0"/>
            <a:chExt cx="6985102" cy="866775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6985127" cy="8667750"/>
            </a:xfrm>
            <a:custGeom>
              <a:avLst/>
              <a:gdLst/>
              <a:ahLst/>
              <a:cxnLst/>
              <a:rect r="r" b="b" t="t" l="l"/>
              <a:pathLst>
                <a:path h="8667750" w="6985127">
                  <a:moveTo>
                    <a:pt x="0" y="0"/>
                  </a:moveTo>
                  <a:lnTo>
                    <a:pt x="6985127" y="0"/>
                  </a:lnTo>
                  <a:lnTo>
                    <a:pt x="6985127" y="8667750"/>
                  </a:lnTo>
                  <a:lnTo>
                    <a:pt x="0" y="8667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81" t="0" r="-18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192152" y="2643188"/>
            <a:ext cx="5238826" cy="6500812"/>
            <a:chOff x="0" y="0"/>
            <a:chExt cx="6985102" cy="866775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6985127" cy="8667750"/>
            </a:xfrm>
            <a:custGeom>
              <a:avLst/>
              <a:gdLst/>
              <a:ahLst/>
              <a:cxnLst/>
              <a:rect r="r" b="b" t="t" l="l"/>
              <a:pathLst>
                <a:path h="8667750" w="6985127">
                  <a:moveTo>
                    <a:pt x="0" y="0"/>
                  </a:moveTo>
                  <a:lnTo>
                    <a:pt x="6985127" y="0"/>
                  </a:lnTo>
                  <a:lnTo>
                    <a:pt x="6985127" y="8667750"/>
                  </a:lnTo>
                  <a:lnTo>
                    <a:pt x="0" y="8667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81" t="0" r="-18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443038" y="4395788"/>
            <a:ext cx="2115264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Visualizar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43038" y="5434012"/>
            <a:ext cx="4067251" cy="2838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Permite a los analistas y desarrolladores obtener una vista clara y lógica de cómo se estructurará la información en el sistema antes de programar.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110489" y="4395788"/>
            <a:ext cx="1650206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Diseñar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110489" y="5434012"/>
            <a:ext cx="4067251" cy="2838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Ayuda a identificar errores estructurales, planificar las tablas y definir correctamente la cardinalidad para mantener la integridad referencial.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777940" y="4395788"/>
            <a:ext cx="2715339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Documentar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777940" y="5434012"/>
            <a:ext cx="4067251" cy="2381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Funciona como el "plano arquitectónico" universal. Facilita la comunicación entre el equipo técnico y las partes interesadas del negocio.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443038" y="3300412"/>
            <a:ext cx="771525" cy="685800"/>
            <a:chOff x="0" y="0"/>
            <a:chExt cx="1028700" cy="91440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1028700" cy="914400"/>
            </a:xfrm>
            <a:custGeom>
              <a:avLst/>
              <a:gdLst/>
              <a:ahLst/>
              <a:cxnLst/>
              <a:rect r="r" b="b" t="t" l="l"/>
              <a:pathLst>
                <a:path h="914400" w="1028700">
                  <a:moveTo>
                    <a:pt x="0" y="0"/>
                  </a:moveTo>
                  <a:lnTo>
                    <a:pt x="1028700" y="0"/>
                  </a:lnTo>
                  <a:lnTo>
                    <a:pt x="10287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110489" y="3300412"/>
            <a:ext cx="685800" cy="685800"/>
            <a:chOff x="0" y="0"/>
            <a:chExt cx="914400" cy="91440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041" t="0" r="-1041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777940" y="3300412"/>
            <a:ext cx="600075" cy="685800"/>
            <a:chOff x="0" y="0"/>
            <a:chExt cx="800100" cy="914400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800100" cy="914400"/>
            </a:xfrm>
            <a:custGeom>
              <a:avLst/>
              <a:gdLst/>
              <a:ahLst/>
              <a:cxnLst/>
              <a:rect r="r" b="b" t="t" l="l"/>
              <a:pathLst>
                <a:path h="914400" w="800100">
                  <a:moveTo>
                    <a:pt x="0" y="0"/>
                  </a:moveTo>
                  <a:lnTo>
                    <a:pt x="800100" y="0"/>
                  </a:lnTo>
                  <a:lnTo>
                    <a:pt x="8001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190" t="0" r="-1190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857250" y="809625"/>
            <a:ext cx="17402175" cy="976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true">
                <a:solidFill>
                  <a:srgbClr val="A3E635"/>
                </a:solidFill>
                <a:latin typeface="Poppins Bold"/>
                <a:ea typeface="Poppins Bold"/>
                <a:cs typeface="Poppins Bold"/>
                <a:sym typeface="Poppins Bold"/>
              </a:rPr>
              <a:t>Propósito del Diagrama ER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72625" y="2893219"/>
            <a:ext cx="7858125" cy="6000750"/>
            <a:chOff x="0" y="0"/>
            <a:chExt cx="10477500" cy="8001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10477500" cy="8001000"/>
            </a:xfrm>
            <a:custGeom>
              <a:avLst/>
              <a:gdLst/>
              <a:ahLst/>
              <a:cxnLst/>
              <a:rect r="r" b="b" t="t" l="l"/>
              <a:pathLst>
                <a:path h="8001000" w="10477500">
                  <a:moveTo>
                    <a:pt x="0" y="0"/>
                  </a:moveTo>
                  <a:lnTo>
                    <a:pt x="10477500" y="0"/>
                  </a:lnTo>
                  <a:lnTo>
                    <a:pt x="10477500" y="8001000"/>
                  </a:lnTo>
                  <a:lnTo>
                    <a:pt x="0" y="800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19" r="0" b="-119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857250" y="3083719"/>
            <a:ext cx="7858125" cy="1924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Desarrollado por </a:t>
            </a:r>
            <a:r>
              <a:rPr lang="en-US" sz="2250" b="true">
                <a:solidFill>
                  <a:srgbClr val="CBD5E1"/>
                </a:solidFill>
                <a:latin typeface="Inter Bold"/>
                <a:ea typeface="Inter Bold"/>
                <a:cs typeface="Inter Bold"/>
                <a:sym typeface="Inter Bold"/>
              </a:rPr>
              <a:t>Peter Chen</a:t>
            </a: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en 1976, es el estándar conceptual para el diseño de bases de datos relacionales. Hoy en día, sus principios siguen vigentes, evolucionando a notaciones modernas.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14450" y="5198269"/>
            <a:ext cx="7400925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250" b="true">
                <a:solidFill>
                  <a:srgbClr val="CBD5E1"/>
                </a:solidFill>
                <a:latin typeface="Inter Bold"/>
                <a:ea typeface="Inter Bold"/>
                <a:cs typeface="Inter Bold"/>
                <a:sym typeface="Inter Bold"/>
              </a:rPr>
              <a:t>Entidades:</a:t>
            </a: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Objetos del mundo real (Ej. Cliente).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14450" y="5941219"/>
            <a:ext cx="7400925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250" b="true">
                <a:solidFill>
                  <a:srgbClr val="CBD5E1"/>
                </a:solidFill>
                <a:latin typeface="Inter Bold"/>
                <a:ea typeface="Inter Bold"/>
                <a:cs typeface="Inter Bold"/>
                <a:sym typeface="Inter Bold"/>
              </a:rPr>
              <a:t>Atributos:</a:t>
            </a: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Propiedades de la entidad (Ej. Nombre).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14450" y="6684169"/>
            <a:ext cx="7400925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250" b="true">
                <a:solidFill>
                  <a:srgbClr val="CBD5E1"/>
                </a:solidFill>
                <a:latin typeface="Inter Bold"/>
                <a:ea typeface="Inter Bold"/>
                <a:cs typeface="Inter Bold"/>
                <a:sym typeface="Inter Bold"/>
              </a:rPr>
              <a:t>Relaciones:</a:t>
            </a: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Cómo interactúan las entidades entre sí.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601200" y="2921794"/>
            <a:ext cx="7800975" cy="5943600"/>
            <a:chOff x="0" y="0"/>
            <a:chExt cx="10401300" cy="79248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10401300" cy="7924800"/>
            </a:xfrm>
            <a:custGeom>
              <a:avLst/>
              <a:gdLst/>
              <a:ahLst/>
              <a:cxnLst/>
              <a:rect r="r" b="b" t="t" l="l"/>
              <a:pathLst>
                <a:path h="7924800" w="10401300">
                  <a:moveTo>
                    <a:pt x="0" y="0"/>
                  </a:moveTo>
                  <a:lnTo>
                    <a:pt x="10401300" y="0"/>
                  </a:lnTo>
                  <a:lnTo>
                    <a:pt x="10401300" y="7924800"/>
                  </a:lnTo>
                  <a:lnTo>
                    <a:pt x="0" y="792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33" r="0" b="-232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57250" y="5372100"/>
            <a:ext cx="257175" cy="300038"/>
            <a:chOff x="0" y="0"/>
            <a:chExt cx="342900" cy="40005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342900" cy="400050"/>
            </a:xfrm>
            <a:custGeom>
              <a:avLst/>
              <a:gdLst/>
              <a:ahLst/>
              <a:cxnLst/>
              <a:rect r="r" b="b" t="t" l="l"/>
              <a:pathLst>
                <a:path h="40005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57250" y="6115050"/>
            <a:ext cx="257175" cy="300038"/>
            <a:chOff x="0" y="0"/>
            <a:chExt cx="342900" cy="40005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342900" cy="400050"/>
            </a:xfrm>
            <a:custGeom>
              <a:avLst/>
              <a:gdLst/>
              <a:ahLst/>
              <a:cxnLst/>
              <a:rect r="r" b="b" t="t" l="l"/>
              <a:pathLst>
                <a:path h="40005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57250" y="6858000"/>
            <a:ext cx="257175" cy="300038"/>
            <a:chOff x="0" y="0"/>
            <a:chExt cx="342900" cy="40005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342900" cy="400050"/>
            </a:xfrm>
            <a:custGeom>
              <a:avLst/>
              <a:gdLst/>
              <a:ahLst/>
              <a:cxnLst/>
              <a:rect r="r" b="b" t="t" l="l"/>
              <a:pathLst>
                <a:path h="40005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857250" y="809625"/>
            <a:ext cx="17402175" cy="976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true">
                <a:solidFill>
                  <a:srgbClr val="A3E635"/>
                </a:solidFill>
                <a:latin typeface="Poppins Bold"/>
                <a:ea typeface="Poppins Bold"/>
                <a:cs typeface="Poppins Bold"/>
                <a:sym typeface="Poppins Bold"/>
              </a:rPr>
              <a:t>El Modelo Entidad-Relación (ER)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7250" y="2871788"/>
            <a:ext cx="8072438" cy="6043612"/>
            <a:chOff x="0" y="0"/>
            <a:chExt cx="10763250" cy="805815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10763250" cy="8058150"/>
            </a:xfrm>
            <a:custGeom>
              <a:avLst/>
              <a:gdLst/>
              <a:ahLst/>
              <a:cxnLst/>
              <a:rect r="r" b="b" t="t" l="l"/>
              <a:pathLst>
                <a:path h="8058150" w="10763250">
                  <a:moveTo>
                    <a:pt x="0" y="0"/>
                  </a:moveTo>
                  <a:lnTo>
                    <a:pt x="10763250" y="0"/>
                  </a:lnTo>
                  <a:lnTo>
                    <a:pt x="10763250" y="8058150"/>
                  </a:lnTo>
                  <a:lnTo>
                    <a:pt x="0" y="8058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358312" y="2871788"/>
            <a:ext cx="8072438" cy="6043612"/>
            <a:chOff x="0" y="0"/>
            <a:chExt cx="10763250" cy="805815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763250" cy="8058150"/>
            </a:xfrm>
            <a:custGeom>
              <a:avLst/>
              <a:gdLst/>
              <a:ahLst/>
              <a:cxnLst/>
              <a:rect r="r" b="b" t="t" l="l"/>
              <a:pathLst>
                <a:path h="8058150" w="10763250">
                  <a:moveTo>
                    <a:pt x="0" y="0"/>
                  </a:moveTo>
                  <a:lnTo>
                    <a:pt x="10763250" y="0"/>
                  </a:lnTo>
                  <a:lnTo>
                    <a:pt x="10763250" y="8058150"/>
                  </a:lnTo>
                  <a:lnTo>
                    <a:pt x="0" y="8058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443038" y="4624388"/>
            <a:ext cx="4635579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¿Qué es una Entidad?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43038" y="5662612"/>
            <a:ext cx="6900862" cy="2381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Es cualquier objeto, persona, lugar o evento del cual necesitamos almacenar información. Físicamente se convertirá en una tabla. </a:t>
            </a:r>
          </a:p>
          <a:p>
            <a:pPr algn="l">
              <a:lnSpc>
                <a:spcPts val="3599"/>
              </a:lnSpc>
            </a:pPr>
          </a:p>
          <a:p>
            <a:pPr algn="l">
              <a:lnSpc>
                <a:spcPts val="3600"/>
              </a:lnSpc>
            </a:pPr>
            <a:r>
              <a:rPr lang="en-US" sz="2250" b="true">
                <a:solidFill>
                  <a:srgbClr val="CBD5E1"/>
                </a:solidFill>
                <a:latin typeface="Inter Bold"/>
                <a:ea typeface="Inter Bold"/>
                <a:cs typeface="Inter Bold"/>
                <a:sym typeface="Inter Bold"/>
              </a:rPr>
              <a:t>Ejemplos:</a:t>
            </a: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Estudiante, Producto, Factura.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44100" y="4624388"/>
            <a:ext cx="4455557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¿Qué es un Atributo?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44100" y="5662612"/>
            <a:ext cx="6900862" cy="2381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Son los datos o características específicas que describen a la entidad. Serán las columnas de nuestra tabla.</a:t>
            </a:r>
          </a:p>
          <a:p>
            <a:pPr algn="l">
              <a:lnSpc>
                <a:spcPts val="3599"/>
              </a:lnSpc>
            </a:pPr>
          </a:p>
          <a:p>
            <a:pPr algn="l">
              <a:lnSpc>
                <a:spcPts val="3600"/>
              </a:lnSpc>
            </a:pPr>
            <a:r>
              <a:rPr lang="en-US" sz="2250" b="true">
                <a:solidFill>
                  <a:srgbClr val="CBD5E1"/>
                </a:solidFill>
                <a:latin typeface="Inter Bold"/>
                <a:ea typeface="Inter Bold"/>
                <a:cs typeface="Inter Bold"/>
                <a:sym typeface="Inter Bold"/>
              </a:rPr>
              <a:t>Ejemplos:</a:t>
            </a: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Carnet, Precio, Fecha de Emisión.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443038" y="3529012"/>
            <a:ext cx="600075" cy="685800"/>
            <a:chOff x="0" y="0"/>
            <a:chExt cx="800100" cy="91440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800100" cy="914400"/>
            </a:xfrm>
            <a:custGeom>
              <a:avLst/>
              <a:gdLst/>
              <a:ahLst/>
              <a:cxnLst/>
              <a:rect r="r" b="b" t="t" l="l"/>
              <a:pathLst>
                <a:path h="914400" w="800100">
                  <a:moveTo>
                    <a:pt x="0" y="0"/>
                  </a:moveTo>
                  <a:lnTo>
                    <a:pt x="800100" y="0"/>
                  </a:lnTo>
                  <a:lnTo>
                    <a:pt x="8001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944100" y="3529012"/>
            <a:ext cx="685800" cy="685800"/>
            <a:chOff x="0" y="0"/>
            <a:chExt cx="914400" cy="91440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857250" y="809625"/>
            <a:ext cx="17402175" cy="976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true">
                <a:solidFill>
                  <a:srgbClr val="A3E635"/>
                </a:solidFill>
                <a:latin typeface="Poppins Bold"/>
                <a:ea typeface="Poppins Bold"/>
                <a:cs typeface="Poppins Bold"/>
                <a:sym typeface="Poppins Bold"/>
              </a:rPr>
              <a:t>Comprendiendo los Componentes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72625" y="2893219"/>
            <a:ext cx="7858125" cy="6000750"/>
            <a:chOff x="0" y="0"/>
            <a:chExt cx="10477500" cy="8001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10477500" cy="8001000"/>
            </a:xfrm>
            <a:custGeom>
              <a:avLst/>
              <a:gdLst/>
              <a:ahLst/>
              <a:cxnLst/>
              <a:rect r="r" b="b" t="t" l="l"/>
              <a:pathLst>
                <a:path h="8001000" w="10477500">
                  <a:moveTo>
                    <a:pt x="0" y="0"/>
                  </a:moveTo>
                  <a:lnTo>
                    <a:pt x="10477500" y="0"/>
                  </a:lnTo>
                  <a:lnTo>
                    <a:pt x="10477500" y="8001000"/>
                  </a:lnTo>
                  <a:lnTo>
                    <a:pt x="0" y="800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19" r="0" b="-119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857250" y="3083719"/>
            <a:ext cx="7858125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Las bases de datos relacionales obtienen su poder al conectar entidades mediante </a:t>
            </a:r>
            <a:r>
              <a:rPr lang="en-US" sz="2250" b="true">
                <a:solidFill>
                  <a:srgbClr val="CBD5E1"/>
                </a:solidFill>
                <a:latin typeface="Inter Bold"/>
                <a:ea typeface="Inter Bold"/>
                <a:cs typeface="Inter Bold"/>
                <a:sym typeface="Inter Bold"/>
              </a:rPr>
              <a:t>relaciones lógicas</a:t>
            </a: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57250" y="4283869"/>
            <a:ext cx="7858125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Una relación describe el evento que asocia dos o más entidades. Por ejemplo: Un </a:t>
            </a:r>
            <a:r>
              <a:rPr lang="en-US" sz="2250" i="true">
                <a:solidFill>
                  <a:srgbClr val="CBD5E1"/>
                </a:solidFill>
                <a:latin typeface="Inter Italics"/>
                <a:ea typeface="Inter Italics"/>
                <a:cs typeface="Inter Italics"/>
                <a:sym typeface="Inter Italics"/>
              </a:rPr>
              <a:t>Estudiante</a:t>
            </a: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(Entidad) </a:t>
            </a:r>
            <a:r>
              <a:rPr lang="en-US" sz="2250" b="true">
                <a:solidFill>
                  <a:srgbClr val="CBD5E1"/>
                </a:solidFill>
                <a:latin typeface="Inter Bold"/>
                <a:ea typeface="Inter Bold"/>
                <a:cs typeface="Inter Bold"/>
                <a:sym typeface="Inter Bold"/>
              </a:rPr>
              <a:t>"se inscribe en"</a:t>
            </a: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(Relación) un </a:t>
            </a:r>
            <a:r>
              <a:rPr lang="en-US" sz="2250" i="true">
                <a:solidFill>
                  <a:srgbClr val="CBD5E1"/>
                </a:solidFill>
                <a:latin typeface="Inter Italics"/>
                <a:ea typeface="Inter Italics"/>
                <a:cs typeface="Inter Italics"/>
                <a:sym typeface="Inter Italics"/>
              </a:rPr>
              <a:t>Curso</a:t>
            </a: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(Entidad).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57250" y="5941219"/>
            <a:ext cx="7858125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La forma en que se conectan numéricamente se define mediante la cardinalidad.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601200" y="2921794"/>
            <a:ext cx="7800975" cy="5943600"/>
            <a:chOff x="0" y="0"/>
            <a:chExt cx="10401300" cy="7924800"/>
          </a:xfrm>
        </p:grpSpPr>
        <p:sp>
          <p:nvSpPr>
            <p:cNvPr name="Freeform 8" id="8" descr="image.png"/>
            <p:cNvSpPr/>
            <p:nvPr/>
          </p:nvSpPr>
          <p:spPr>
            <a:xfrm flipH="false" flipV="false" rot="0">
              <a:off x="0" y="0"/>
              <a:ext cx="10401300" cy="7924800"/>
            </a:xfrm>
            <a:custGeom>
              <a:avLst/>
              <a:gdLst/>
              <a:ahLst/>
              <a:cxnLst/>
              <a:rect r="r" b="b" t="t" l="l"/>
              <a:pathLst>
                <a:path h="7924800" w="10401300">
                  <a:moveTo>
                    <a:pt x="0" y="0"/>
                  </a:moveTo>
                  <a:lnTo>
                    <a:pt x="10401300" y="0"/>
                  </a:lnTo>
                  <a:lnTo>
                    <a:pt x="10401300" y="7924800"/>
                  </a:lnTo>
                  <a:lnTo>
                    <a:pt x="0" y="792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33" r="0" b="-232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857250" y="809625"/>
            <a:ext cx="17402175" cy="976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true">
                <a:solidFill>
                  <a:srgbClr val="A3E635"/>
                </a:solidFill>
                <a:latin typeface="Poppins Bold"/>
                <a:ea typeface="Poppins Bold"/>
                <a:cs typeface="Poppins Bold"/>
                <a:sym typeface="Poppins Bold"/>
              </a:rPr>
              <a:t>Relaciones entre Entidades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7250" y="2343150"/>
            <a:ext cx="5238826" cy="7100888"/>
            <a:chOff x="0" y="0"/>
            <a:chExt cx="6985102" cy="946785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6985127" cy="9467850"/>
            </a:xfrm>
            <a:custGeom>
              <a:avLst/>
              <a:gdLst/>
              <a:ahLst/>
              <a:cxnLst/>
              <a:rect r="r" b="b" t="t" l="l"/>
              <a:pathLst>
                <a:path h="9467850" w="6985127">
                  <a:moveTo>
                    <a:pt x="0" y="0"/>
                  </a:moveTo>
                  <a:lnTo>
                    <a:pt x="6985127" y="0"/>
                  </a:lnTo>
                  <a:lnTo>
                    <a:pt x="6985127" y="9467850"/>
                  </a:lnTo>
                  <a:lnTo>
                    <a:pt x="0" y="9467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4" t="0" r="-44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524701" y="2343150"/>
            <a:ext cx="5238826" cy="7100888"/>
            <a:chOff x="0" y="0"/>
            <a:chExt cx="6985102" cy="946785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6985127" cy="9467850"/>
            </a:xfrm>
            <a:custGeom>
              <a:avLst/>
              <a:gdLst/>
              <a:ahLst/>
              <a:cxnLst/>
              <a:rect r="r" b="b" t="t" l="l"/>
              <a:pathLst>
                <a:path h="9467850" w="6985127">
                  <a:moveTo>
                    <a:pt x="0" y="0"/>
                  </a:moveTo>
                  <a:lnTo>
                    <a:pt x="6985127" y="0"/>
                  </a:lnTo>
                  <a:lnTo>
                    <a:pt x="6985127" y="9467850"/>
                  </a:lnTo>
                  <a:lnTo>
                    <a:pt x="0" y="9467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81" t="0" r="-18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192152" y="2343150"/>
            <a:ext cx="5238826" cy="7100888"/>
            <a:chOff x="0" y="0"/>
            <a:chExt cx="6985102" cy="946785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6985127" cy="9467850"/>
            </a:xfrm>
            <a:custGeom>
              <a:avLst/>
              <a:gdLst/>
              <a:ahLst/>
              <a:cxnLst/>
              <a:rect r="r" b="b" t="t" l="l"/>
              <a:pathLst>
                <a:path h="9467850" w="6985127">
                  <a:moveTo>
                    <a:pt x="0" y="0"/>
                  </a:moveTo>
                  <a:lnTo>
                    <a:pt x="6985127" y="0"/>
                  </a:lnTo>
                  <a:lnTo>
                    <a:pt x="6985127" y="9467850"/>
                  </a:lnTo>
                  <a:lnTo>
                    <a:pt x="0" y="9467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81" t="0" r="-18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443038" y="4095750"/>
            <a:ext cx="3135392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Uno a Uno (1:1)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43038" y="5133975"/>
            <a:ext cx="4067251" cy="2838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Un registro de la Entidad A se relaciona únicamente con un registro de la Entidad B.</a:t>
            </a:r>
          </a:p>
          <a:p>
            <a:pPr algn="l">
              <a:lnSpc>
                <a:spcPts val="3599"/>
              </a:lnSpc>
            </a:pPr>
          </a:p>
          <a:p>
            <a:pPr algn="l">
              <a:lnSpc>
                <a:spcPts val="3600"/>
              </a:lnSpc>
            </a:pPr>
            <a:r>
              <a:rPr lang="en-US" sz="2250" i="true">
                <a:solidFill>
                  <a:srgbClr val="CBD5E1"/>
                </a:solidFill>
                <a:latin typeface="Inter Italics"/>
                <a:ea typeface="Inter Italics"/>
                <a:cs typeface="Inter Italics"/>
                <a:sym typeface="Inter Italics"/>
              </a:rPr>
              <a:t>Ej: Un "Ciudadano" tiene un único "DPI".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110489" y="4095750"/>
            <a:ext cx="4155519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Uno a Muchos (1:N)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110489" y="5133975"/>
            <a:ext cx="4067251" cy="2838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Un registro de A puede relacionarse con múltiples de B, pero B solo con uno de A.</a:t>
            </a:r>
          </a:p>
          <a:p>
            <a:pPr algn="l">
              <a:lnSpc>
                <a:spcPts val="3599"/>
              </a:lnSpc>
            </a:pPr>
          </a:p>
          <a:p>
            <a:pPr algn="l">
              <a:lnSpc>
                <a:spcPts val="3600"/>
              </a:lnSpc>
            </a:pPr>
            <a:r>
              <a:rPr lang="en-US" sz="2250" i="true">
                <a:solidFill>
                  <a:srgbClr val="CBD5E1"/>
                </a:solidFill>
                <a:latin typeface="Inter Italics"/>
                <a:ea typeface="Inter Italics"/>
                <a:cs typeface="Inter Italics"/>
                <a:sym typeface="Inter Italics"/>
              </a:rPr>
              <a:t>Ej: Un "Cliente" puede tener muchas "Facturas".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777940" y="4095750"/>
            <a:ext cx="4270610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Muchos a Muchos (M:N)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777940" y="5734050"/>
            <a:ext cx="4067251" cy="2838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Múltiples registros de A se relacionan con múltiples de B. Requiere una tabla intermedia.</a:t>
            </a:r>
          </a:p>
          <a:p>
            <a:pPr algn="l">
              <a:lnSpc>
                <a:spcPts val="3599"/>
              </a:lnSpc>
            </a:pPr>
          </a:p>
          <a:p>
            <a:pPr algn="l">
              <a:lnSpc>
                <a:spcPts val="3600"/>
              </a:lnSpc>
            </a:pPr>
            <a:r>
              <a:rPr lang="en-US" sz="2250" i="true">
                <a:solidFill>
                  <a:srgbClr val="CBD5E1"/>
                </a:solidFill>
                <a:latin typeface="Inter Italics"/>
                <a:ea typeface="Inter Italics"/>
                <a:cs typeface="Inter Italics"/>
                <a:sym typeface="Inter Italics"/>
              </a:rPr>
              <a:t>Ej: "Estudiantes" y "Cursos".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443038" y="3000375"/>
            <a:ext cx="342900" cy="685800"/>
            <a:chOff x="0" y="0"/>
            <a:chExt cx="457200" cy="91440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457200" cy="914400"/>
            </a:xfrm>
            <a:custGeom>
              <a:avLst/>
              <a:gdLst/>
              <a:ahLst/>
              <a:cxnLst/>
              <a:rect r="r" b="b" t="t" l="l"/>
              <a:pathLst>
                <a:path h="9144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2386012" y="3000375"/>
            <a:ext cx="342900" cy="685800"/>
            <a:chOff x="0" y="0"/>
            <a:chExt cx="457200" cy="91440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457200" cy="914400"/>
            </a:xfrm>
            <a:custGeom>
              <a:avLst/>
              <a:gdLst/>
              <a:ahLst/>
              <a:cxnLst/>
              <a:rect r="r" b="b" t="t" l="l"/>
              <a:pathLst>
                <a:path h="9144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110489" y="3000375"/>
            <a:ext cx="342900" cy="685800"/>
            <a:chOff x="0" y="0"/>
            <a:chExt cx="457200" cy="914400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457200" cy="914400"/>
            </a:xfrm>
            <a:custGeom>
              <a:avLst/>
              <a:gdLst/>
              <a:ahLst/>
              <a:cxnLst/>
              <a:rect r="r" b="b" t="t" l="l"/>
              <a:pathLst>
                <a:path h="9144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083" t="0" r="-2083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053464" y="3000375"/>
            <a:ext cx="514350" cy="685800"/>
            <a:chOff x="0" y="0"/>
            <a:chExt cx="685800" cy="914400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685800" cy="914400"/>
            </a:xfrm>
            <a:custGeom>
              <a:avLst/>
              <a:gdLst/>
              <a:ahLst/>
              <a:cxnLst/>
              <a:rect r="r" b="b" t="t" l="l"/>
              <a:pathLst>
                <a:path h="91440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388" t="0" r="-1388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2777940" y="3000375"/>
            <a:ext cx="600075" cy="685800"/>
            <a:chOff x="0" y="0"/>
            <a:chExt cx="800100" cy="914400"/>
          </a:xfrm>
        </p:grpSpPr>
        <p:sp>
          <p:nvSpPr>
            <p:cNvPr name="Freeform 23" id="23" descr="image.png"/>
            <p:cNvSpPr/>
            <p:nvPr/>
          </p:nvSpPr>
          <p:spPr>
            <a:xfrm flipH="false" flipV="false" rot="0">
              <a:off x="0" y="0"/>
              <a:ext cx="800100" cy="914400"/>
            </a:xfrm>
            <a:custGeom>
              <a:avLst/>
              <a:gdLst/>
              <a:ahLst/>
              <a:cxnLst/>
              <a:rect r="r" b="b" t="t" l="l"/>
              <a:pathLst>
                <a:path h="914400" w="800100">
                  <a:moveTo>
                    <a:pt x="0" y="0"/>
                  </a:moveTo>
                  <a:lnTo>
                    <a:pt x="800100" y="0"/>
                  </a:lnTo>
                  <a:lnTo>
                    <a:pt x="8001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190" t="0" r="-119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3978090" y="3000375"/>
            <a:ext cx="514350" cy="685800"/>
            <a:chOff x="0" y="0"/>
            <a:chExt cx="685800" cy="914400"/>
          </a:xfrm>
        </p:grpSpPr>
        <p:sp>
          <p:nvSpPr>
            <p:cNvPr name="Freeform 25" id="25" descr="image.png"/>
            <p:cNvSpPr/>
            <p:nvPr/>
          </p:nvSpPr>
          <p:spPr>
            <a:xfrm flipH="false" flipV="false" rot="0">
              <a:off x="0" y="0"/>
              <a:ext cx="685800" cy="914400"/>
            </a:xfrm>
            <a:custGeom>
              <a:avLst/>
              <a:gdLst/>
              <a:ahLst/>
              <a:cxnLst/>
              <a:rect r="r" b="b" t="t" l="l"/>
              <a:pathLst>
                <a:path h="91440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1388" t="0" r="-1388" b="0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857250" y="795337"/>
            <a:ext cx="17402175" cy="976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true">
                <a:solidFill>
                  <a:srgbClr val="A3E635"/>
                </a:solidFill>
                <a:latin typeface="Poppins Bold"/>
                <a:ea typeface="Poppins Bold"/>
                <a:cs typeface="Poppins Bold"/>
                <a:sym typeface="Poppins Bold"/>
              </a:rPr>
              <a:t>Cardinalidad de las Relaciones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43000" y="1095375"/>
            <a:ext cx="7950994" cy="190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true">
                <a:solidFill>
                  <a:srgbClr val="F8FAFC"/>
                </a:solidFill>
                <a:latin typeface="Poppins Bold"/>
                <a:ea typeface="Poppins Bold"/>
                <a:cs typeface="Poppins Bold"/>
                <a:sym typeface="Poppins Bold"/>
              </a:rPr>
              <a:t>Notación </a:t>
            </a:r>
          </a:p>
          <a:p>
            <a:pPr algn="l">
              <a:lnSpc>
                <a:spcPts val="5940"/>
              </a:lnSpc>
            </a:pPr>
            <a:r>
              <a:rPr lang="en-US" sz="4950" b="true">
                <a:solidFill>
                  <a:srgbClr val="A3E635"/>
                </a:solidFill>
                <a:latin typeface="Poppins Bold"/>
                <a:ea typeface="Poppins Bold"/>
                <a:cs typeface="Poppins Bold"/>
                <a:sym typeface="Poppins Bold"/>
              </a:rPr>
              <a:t>Pata de Gallo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572625" y="0"/>
            <a:ext cx="8715375" cy="10287000"/>
            <a:chOff x="0" y="0"/>
            <a:chExt cx="11620500" cy="13716000"/>
          </a:xfrm>
        </p:grpSpPr>
        <p:sp>
          <p:nvSpPr>
            <p:cNvPr name="Freeform 4" id="4" descr="image.png"/>
            <p:cNvSpPr/>
            <p:nvPr/>
          </p:nvSpPr>
          <p:spPr>
            <a:xfrm flipH="false" flipV="false" rot="0">
              <a:off x="0" y="0"/>
              <a:ext cx="116205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1620500">
                  <a:moveTo>
                    <a:pt x="0" y="0"/>
                  </a:moveTo>
                  <a:lnTo>
                    <a:pt x="11620500" y="0"/>
                  </a:lnTo>
                  <a:lnTo>
                    <a:pt x="116205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143000" y="4307834"/>
            <a:ext cx="7572375" cy="1613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24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La notación pata de gallo (Crow's Foot) es el estándar actual en la industria para diagramas de bases de datos relacionales.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43000" y="6158951"/>
            <a:ext cx="7572375" cy="2115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24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diferencia del modelo original de Chen con rombos, utiliza líneas y símbolos simples en los extremos para representar la cardinalidad y obligatoriedad de forma limpia.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7250" y="2650331"/>
            <a:ext cx="7858125" cy="6486525"/>
            <a:chOff x="0" y="0"/>
            <a:chExt cx="10477500" cy="86487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10477500" cy="8648700"/>
            </a:xfrm>
            <a:custGeom>
              <a:avLst/>
              <a:gdLst/>
              <a:ahLst/>
              <a:cxnLst/>
              <a:rect r="r" b="b" t="t" l="l"/>
              <a:pathLst>
                <a:path h="8648700" w="10477500">
                  <a:moveTo>
                    <a:pt x="0" y="0"/>
                  </a:moveTo>
                  <a:lnTo>
                    <a:pt x="10477500" y="0"/>
                  </a:lnTo>
                  <a:lnTo>
                    <a:pt x="10477500" y="8648700"/>
                  </a:lnTo>
                  <a:lnTo>
                    <a:pt x="0" y="8648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10" r="0" b="-11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572625" y="2650331"/>
            <a:ext cx="7858125" cy="6486525"/>
            <a:chOff x="0" y="0"/>
            <a:chExt cx="10477500" cy="86487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477500" cy="8648700"/>
            </a:xfrm>
            <a:custGeom>
              <a:avLst/>
              <a:gdLst/>
              <a:ahLst/>
              <a:cxnLst/>
              <a:rect r="r" b="b" t="t" l="l"/>
              <a:pathLst>
                <a:path h="8648700" w="10477500">
                  <a:moveTo>
                    <a:pt x="0" y="0"/>
                  </a:moveTo>
                  <a:lnTo>
                    <a:pt x="10477500" y="0"/>
                  </a:lnTo>
                  <a:lnTo>
                    <a:pt x="10477500" y="8648700"/>
                  </a:lnTo>
                  <a:lnTo>
                    <a:pt x="0" y="8648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10" r="0" b="-11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443038" y="3217069"/>
            <a:ext cx="7020878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A3E635"/>
                </a:solidFill>
                <a:latin typeface="Poppins"/>
                <a:ea typeface="Poppins"/>
                <a:cs typeface="Poppins"/>
                <a:sym typeface="Poppins"/>
              </a:rPr>
              <a:t>Llave Primaria (Primary Key - PK)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43038" y="4855369"/>
            <a:ext cx="6686550" cy="1924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Es un atributo o conjunto de atributos que </a:t>
            </a:r>
            <a:r>
              <a:rPr lang="en-US" sz="2250" b="true">
                <a:solidFill>
                  <a:srgbClr val="CBD5E1"/>
                </a:solidFill>
                <a:latin typeface="Inter Bold"/>
                <a:ea typeface="Inter Bold"/>
                <a:cs typeface="Inter Bold"/>
                <a:sym typeface="Inter Bold"/>
              </a:rPr>
              <a:t>identifica de manera única</a:t>
            </a: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cada fila en una tabla. No puede contener valores nulos ni repetirse.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43038" y="7255669"/>
            <a:ext cx="6686550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250" i="true">
                <a:solidFill>
                  <a:srgbClr val="CBD5E1"/>
                </a:solidFill>
                <a:latin typeface="Inter Italics"/>
                <a:ea typeface="Inter Italics"/>
                <a:cs typeface="Inter Italics"/>
                <a:sym typeface="Inter Italics"/>
              </a:rPr>
              <a:t>Ejemplo: El número de carnet de un estudiante o el código de un producto.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158412" y="4260056"/>
            <a:ext cx="7020878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A3E635"/>
                </a:solidFill>
                <a:latin typeface="Poppins"/>
                <a:ea typeface="Poppins"/>
                <a:cs typeface="Poppins"/>
                <a:sym typeface="Poppins"/>
              </a:rPr>
              <a:t>Llave Foránea (Foreign Key - FK)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158412" y="5298281"/>
            <a:ext cx="6686550" cy="1924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Es un campo en una tabla que </a:t>
            </a:r>
            <a:r>
              <a:rPr lang="en-US" sz="2250" b="true">
                <a:solidFill>
                  <a:srgbClr val="CBD5E1"/>
                </a:solidFill>
                <a:latin typeface="Inter Bold"/>
                <a:ea typeface="Inter Bold"/>
                <a:cs typeface="Inter Bold"/>
                <a:sym typeface="Inter Bold"/>
              </a:rPr>
              <a:t>hace referencia a la Llave Primaria de otra tabla</a:t>
            </a: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 Es el mecanismo técnico que crea físicamente la relación entre entidades y asegura la integridad referencial.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57250" y="809625"/>
            <a:ext cx="17402175" cy="976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true">
                <a:solidFill>
                  <a:srgbClr val="A3E635"/>
                </a:solidFill>
                <a:latin typeface="Poppins Bold"/>
                <a:ea typeface="Poppins Bold"/>
                <a:cs typeface="Poppins Bold"/>
                <a:sym typeface="Poppins Bold"/>
              </a:rPr>
              <a:t>Estableciendo Vínculos: Las Llaves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86750" y="3351871"/>
            <a:ext cx="1714500" cy="85725"/>
            <a:chOff x="0" y="0"/>
            <a:chExt cx="2286000" cy="1143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86000" cy="114300"/>
            </a:xfrm>
            <a:custGeom>
              <a:avLst/>
              <a:gdLst/>
              <a:ahLst/>
              <a:cxnLst/>
              <a:rect r="r" b="b" t="t" l="l"/>
              <a:pathLst>
                <a:path h="11430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11430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A3E635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5093494" y="3932896"/>
            <a:ext cx="8101012" cy="161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20"/>
              </a:lnSpc>
            </a:pPr>
            <a:r>
              <a:rPr lang="en-US" sz="8100" b="true">
                <a:solidFill>
                  <a:srgbClr val="F8FAFC"/>
                </a:solidFill>
                <a:latin typeface="Poppins Bold"/>
                <a:ea typeface="Poppins Bold"/>
                <a:cs typeface="Poppins Bold"/>
                <a:sym typeface="Poppins Bold"/>
              </a:rPr>
              <a:t>Normalización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943600" y="6171271"/>
            <a:ext cx="6400800" cy="763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8"/>
              </a:lnSpc>
            </a:pPr>
            <a:r>
              <a:rPr lang="en-US" sz="3150">
                <a:solidFill>
                  <a:srgbClr val="A3E635"/>
                </a:solidFill>
                <a:latin typeface="Inter"/>
                <a:ea typeface="Inter"/>
                <a:cs typeface="Inter"/>
                <a:sym typeface="Inter"/>
              </a:rPr>
              <a:t>Optimizando el diseño estructural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72625" y="2893219"/>
            <a:ext cx="7858125" cy="6000750"/>
            <a:chOff x="0" y="0"/>
            <a:chExt cx="10477500" cy="8001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10477500" cy="8001000"/>
            </a:xfrm>
            <a:custGeom>
              <a:avLst/>
              <a:gdLst/>
              <a:ahLst/>
              <a:cxnLst/>
              <a:rect r="r" b="b" t="t" l="l"/>
              <a:pathLst>
                <a:path h="8001000" w="10477500">
                  <a:moveTo>
                    <a:pt x="0" y="0"/>
                  </a:moveTo>
                  <a:lnTo>
                    <a:pt x="10477500" y="0"/>
                  </a:lnTo>
                  <a:lnTo>
                    <a:pt x="10477500" y="8001000"/>
                  </a:lnTo>
                  <a:lnTo>
                    <a:pt x="0" y="800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19" r="0" b="-119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857250" y="3083719"/>
            <a:ext cx="7858125" cy="1924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La normalización es el proceso de organizar los datos en una base de datos relacional para </a:t>
            </a:r>
            <a:r>
              <a:rPr lang="en-US" sz="2250" b="true">
                <a:solidFill>
                  <a:srgbClr val="CBD5E1"/>
                </a:solidFill>
                <a:latin typeface="Inter Bold"/>
                <a:ea typeface="Inter Bold"/>
                <a:cs typeface="Inter Bold"/>
                <a:sym typeface="Inter Bold"/>
              </a:rPr>
              <a:t>reducir la redundancia</a:t>
            </a: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 datos y asegurar la dependencia lógica de los mismos.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57250" y="5198269"/>
            <a:ext cx="7858125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250" b="true">
                <a:solidFill>
                  <a:srgbClr val="CBD5E1"/>
                </a:solidFill>
                <a:latin typeface="Inter Bold"/>
                <a:ea typeface="Inter Bold"/>
                <a:cs typeface="Inter Bold"/>
                <a:sym typeface="Inter Bold"/>
              </a:rPr>
              <a:t>Objetivos principales: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14450" y="5941219"/>
            <a:ext cx="7400925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Minimizar el espacio de almacenamiento.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14450" y="6684169"/>
            <a:ext cx="7400925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Evitar anomalías de inserción, actualización o borrado.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14450" y="7884319"/>
            <a:ext cx="7400925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Simplificar el modelo de datos estructurado.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601200" y="2921794"/>
            <a:ext cx="7800975" cy="5943600"/>
            <a:chOff x="0" y="0"/>
            <a:chExt cx="10401300" cy="79248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10401300" cy="7924800"/>
            </a:xfrm>
            <a:custGeom>
              <a:avLst/>
              <a:gdLst/>
              <a:ahLst/>
              <a:cxnLst/>
              <a:rect r="r" b="b" t="t" l="l"/>
              <a:pathLst>
                <a:path h="7924800" w="10401300">
                  <a:moveTo>
                    <a:pt x="0" y="0"/>
                  </a:moveTo>
                  <a:lnTo>
                    <a:pt x="10401300" y="0"/>
                  </a:lnTo>
                  <a:lnTo>
                    <a:pt x="10401300" y="7924800"/>
                  </a:lnTo>
                  <a:lnTo>
                    <a:pt x="0" y="792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33" r="0" b="-232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57250" y="6115050"/>
            <a:ext cx="142875" cy="300038"/>
            <a:chOff x="0" y="0"/>
            <a:chExt cx="190500" cy="400050"/>
          </a:xfrm>
        </p:grpSpPr>
        <p:sp>
          <p:nvSpPr>
            <p:cNvPr name="Freeform 12" id="12" descr="image.png"/>
            <p:cNvSpPr/>
            <p:nvPr/>
          </p:nvSpPr>
          <p:spPr>
            <a:xfrm flipH="false" flipV="false" rot="0">
              <a:off x="0" y="0"/>
              <a:ext cx="190500" cy="400050"/>
            </a:xfrm>
            <a:custGeom>
              <a:avLst/>
              <a:gdLst/>
              <a:ahLst/>
              <a:cxnLst/>
              <a:rect r="r" b="b" t="t" l="l"/>
              <a:pathLst>
                <a:path h="400050" w="190500">
                  <a:moveTo>
                    <a:pt x="0" y="0"/>
                  </a:moveTo>
                  <a:lnTo>
                    <a:pt x="190500" y="0"/>
                  </a:lnTo>
                  <a:lnTo>
                    <a:pt x="1905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57250" y="6858000"/>
            <a:ext cx="142875" cy="300038"/>
            <a:chOff x="0" y="0"/>
            <a:chExt cx="190500" cy="400050"/>
          </a:xfrm>
        </p:grpSpPr>
        <p:sp>
          <p:nvSpPr>
            <p:cNvPr name="Freeform 14" id="14" descr="image.png"/>
            <p:cNvSpPr/>
            <p:nvPr/>
          </p:nvSpPr>
          <p:spPr>
            <a:xfrm flipH="false" flipV="false" rot="0">
              <a:off x="0" y="0"/>
              <a:ext cx="190500" cy="400050"/>
            </a:xfrm>
            <a:custGeom>
              <a:avLst/>
              <a:gdLst/>
              <a:ahLst/>
              <a:cxnLst/>
              <a:rect r="r" b="b" t="t" l="l"/>
              <a:pathLst>
                <a:path h="400050" w="190500">
                  <a:moveTo>
                    <a:pt x="0" y="0"/>
                  </a:moveTo>
                  <a:lnTo>
                    <a:pt x="190500" y="0"/>
                  </a:lnTo>
                  <a:lnTo>
                    <a:pt x="1905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57250" y="8058150"/>
            <a:ext cx="142875" cy="300038"/>
            <a:chOff x="0" y="0"/>
            <a:chExt cx="190500" cy="400050"/>
          </a:xfrm>
        </p:grpSpPr>
        <p:sp>
          <p:nvSpPr>
            <p:cNvPr name="Freeform 16" id="16" descr="image.png"/>
            <p:cNvSpPr/>
            <p:nvPr/>
          </p:nvSpPr>
          <p:spPr>
            <a:xfrm flipH="false" flipV="false" rot="0">
              <a:off x="0" y="0"/>
              <a:ext cx="190500" cy="400050"/>
            </a:xfrm>
            <a:custGeom>
              <a:avLst/>
              <a:gdLst/>
              <a:ahLst/>
              <a:cxnLst/>
              <a:rect r="r" b="b" t="t" l="l"/>
              <a:pathLst>
                <a:path h="400050" w="190500">
                  <a:moveTo>
                    <a:pt x="0" y="0"/>
                  </a:moveTo>
                  <a:lnTo>
                    <a:pt x="190500" y="0"/>
                  </a:lnTo>
                  <a:lnTo>
                    <a:pt x="1905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857250" y="809625"/>
            <a:ext cx="17402175" cy="976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true">
                <a:solidFill>
                  <a:srgbClr val="A3E635"/>
                </a:solidFill>
                <a:latin typeface="Poppins Bold"/>
                <a:ea typeface="Poppins Bold"/>
                <a:cs typeface="Poppins Bold"/>
                <a:sym typeface="Poppins Bold"/>
              </a:rPr>
              <a:t>¿Qué es la Normalización?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7250" y="2643188"/>
            <a:ext cx="5238826" cy="6500812"/>
            <a:chOff x="0" y="0"/>
            <a:chExt cx="6985102" cy="866775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6985127" cy="8667750"/>
            </a:xfrm>
            <a:custGeom>
              <a:avLst/>
              <a:gdLst/>
              <a:ahLst/>
              <a:cxnLst/>
              <a:rect r="r" b="b" t="t" l="l"/>
              <a:pathLst>
                <a:path h="8667750" w="6985127">
                  <a:moveTo>
                    <a:pt x="0" y="0"/>
                  </a:moveTo>
                  <a:lnTo>
                    <a:pt x="6985127" y="0"/>
                  </a:lnTo>
                  <a:lnTo>
                    <a:pt x="6985127" y="8667750"/>
                  </a:lnTo>
                  <a:lnTo>
                    <a:pt x="0" y="8667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4" t="0" r="-44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524701" y="2643188"/>
            <a:ext cx="5238826" cy="6500812"/>
            <a:chOff x="0" y="0"/>
            <a:chExt cx="6985102" cy="866775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6985127" cy="8667750"/>
            </a:xfrm>
            <a:custGeom>
              <a:avLst/>
              <a:gdLst/>
              <a:ahLst/>
              <a:cxnLst/>
              <a:rect r="r" b="b" t="t" l="l"/>
              <a:pathLst>
                <a:path h="8667750" w="6985127">
                  <a:moveTo>
                    <a:pt x="0" y="0"/>
                  </a:moveTo>
                  <a:lnTo>
                    <a:pt x="6985127" y="0"/>
                  </a:lnTo>
                  <a:lnTo>
                    <a:pt x="6985127" y="8667750"/>
                  </a:lnTo>
                  <a:lnTo>
                    <a:pt x="0" y="8667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81" t="0" r="-18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192152" y="2643188"/>
            <a:ext cx="5238826" cy="6500812"/>
            <a:chOff x="0" y="0"/>
            <a:chExt cx="6985102" cy="866775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6985127" cy="8667750"/>
            </a:xfrm>
            <a:custGeom>
              <a:avLst/>
              <a:gdLst/>
              <a:ahLst/>
              <a:cxnLst/>
              <a:rect r="r" b="b" t="t" l="l"/>
              <a:pathLst>
                <a:path h="8667750" w="6985127">
                  <a:moveTo>
                    <a:pt x="0" y="0"/>
                  </a:moveTo>
                  <a:lnTo>
                    <a:pt x="6985127" y="0"/>
                  </a:lnTo>
                  <a:lnTo>
                    <a:pt x="6985127" y="8667750"/>
                  </a:lnTo>
                  <a:lnTo>
                    <a:pt x="0" y="8667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81" t="0" r="-18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443038" y="4395788"/>
            <a:ext cx="2910364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1NF (Primera)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43038" y="5434012"/>
            <a:ext cx="4067251" cy="2838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Elimina grupos repetitivos. Todos los atributos deben ser atómicos (indivisibles). Cada tabla debe tener una llave primaria y cada celda un solo valor.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110489" y="4395788"/>
            <a:ext cx="3225403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2NF (Segunda)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110489" y="5434012"/>
            <a:ext cx="4067251" cy="2838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Cumple 1NF. Todos los atributos que no son clave deben depender completamente de la llave primaria entera (sin dependencias parciales).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777940" y="4395788"/>
            <a:ext cx="2940367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3NF (Tercera)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777940" y="5434012"/>
            <a:ext cx="4067251" cy="2381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Cumple 2NF. Los atributos no clave no pueden depender de otros atributos no clave (eliminación de dependencias transitivas).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443038" y="3300412"/>
            <a:ext cx="600075" cy="685800"/>
            <a:chOff x="0" y="0"/>
            <a:chExt cx="800100" cy="91440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800100" cy="914400"/>
            </a:xfrm>
            <a:custGeom>
              <a:avLst/>
              <a:gdLst/>
              <a:ahLst/>
              <a:cxnLst/>
              <a:rect r="r" b="b" t="t" l="l"/>
              <a:pathLst>
                <a:path h="914400" w="800100">
                  <a:moveTo>
                    <a:pt x="0" y="0"/>
                  </a:moveTo>
                  <a:lnTo>
                    <a:pt x="800100" y="0"/>
                  </a:lnTo>
                  <a:lnTo>
                    <a:pt x="8001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110489" y="3300412"/>
            <a:ext cx="771525" cy="685800"/>
            <a:chOff x="0" y="0"/>
            <a:chExt cx="1028700" cy="91440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1028700" cy="914400"/>
            </a:xfrm>
            <a:custGeom>
              <a:avLst/>
              <a:gdLst/>
              <a:ahLst/>
              <a:cxnLst/>
              <a:rect r="r" b="b" t="t" l="l"/>
              <a:pathLst>
                <a:path h="914400" w="1028700">
                  <a:moveTo>
                    <a:pt x="0" y="0"/>
                  </a:moveTo>
                  <a:lnTo>
                    <a:pt x="1028700" y="0"/>
                  </a:lnTo>
                  <a:lnTo>
                    <a:pt x="10287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925" t="0" r="-925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777940" y="3300412"/>
            <a:ext cx="600075" cy="685800"/>
            <a:chOff x="0" y="0"/>
            <a:chExt cx="800100" cy="914400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800100" cy="914400"/>
            </a:xfrm>
            <a:custGeom>
              <a:avLst/>
              <a:gdLst/>
              <a:ahLst/>
              <a:cxnLst/>
              <a:rect r="r" b="b" t="t" l="l"/>
              <a:pathLst>
                <a:path h="914400" w="800100">
                  <a:moveTo>
                    <a:pt x="0" y="0"/>
                  </a:moveTo>
                  <a:lnTo>
                    <a:pt x="800100" y="0"/>
                  </a:lnTo>
                  <a:lnTo>
                    <a:pt x="8001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190" t="0" r="-1190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857250" y="809625"/>
            <a:ext cx="17402175" cy="976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true">
                <a:solidFill>
                  <a:srgbClr val="A3E635"/>
                </a:solidFill>
                <a:latin typeface="Poppins Bold"/>
                <a:ea typeface="Poppins Bold"/>
                <a:cs typeface="Poppins Bold"/>
                <a:sym typeface="Poppins Bold"/>
              </a:rPr>
              <a:t>Las 3 Formas Normales Básicas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7250" y="1952330"/>
            <a:ext cx="16573500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Tras diseñar y normalizar, obtenemos tablas robustas conectadas por llaves (PK / FK):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850106" y="2783386"/>
            <a:ext cx="16587788" cy="7249116"/>
            <a:chOff x="0" y="0"/>
            <a:chExt cx="22117050" cy="966548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117050" cy="9665462"/>
            </a:xfrm>
            <a:custGeom>
              <a:avLst/>
              <a:gdLst/>
              <a:ahLst/>
              <a:cxnLst/>
              <a:rect r="r" b="b" t="t" l="l"/>
              <a:pathLst>
                <a:path h="9665462" w="22117050">
                  <a:moveTo>
                    <a:pt x="0" y="0"/>
                  </a:moveTo>
                  <a:lnTo>
                    <a:pt x="22117050" y="0"/>
                  </a:lnTo>
                  <a:lnTo>
                    <a:pt x="22117050" y="9665462"/>
                  </a:lnTo>
                  <a:lnTo>
                    <a:pt x="0" y="9665462"/>
                  </a:lnTo>
                </a:path>
              </a:pathLst>
            </a:custGeom>
            <a:solidFill>
              <a:srgbClr val="334155"/>
            </a:solidFill>
            <a:ln w="14288" cap="sq">
              <a:solidFill>
                <a:srgbClr val="4A7EBB"/>
              </a:solidFill>
              <a:prstDash val="solid"/>
              <a:miter/>
            </a:ln>
          </p:spPr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857250" y="2790526"/>
          <a:ext cx="16535400" cy="7143750"/>
        </p:xfrm>
        <a:graphic>
          <a:graphicData uri="http://schemas.openxmlformats.org/drawingml/2006/table">
            <a:tbl>
              <a:tblPr/>
              <a:tblGrid>
                <a:gridCol w="3592174"/>
                <a:gridCol w="4002217"/>
                <a:gridCol w="4882220"/>
                <a:gridCol w="4058790"/>
              </a:tblGrid>
              <a:tr h="14287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70"/>
                        </a:lnSpc>
                        <a:defRPr/>
                      </a:pPr>
                      <a:r>
                        <a:rPr lang="en-US" sz="2475" b="true">
                          <a:solidFill>
                            <a:srgbClr val="A3E635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Entidad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70"/>
                        </a:lnSpc>
                        <a:defRPr/>
                      </a:pPr>
                      <a:r>
                        <a:rPr lang="en-US" sz="2475" b="true">
                          <a:solidFill>
                            <a:srgbClr val="A3E635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Llave Primaria (PK)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70"/>
                        </a:lnSpc>
                        <a:defRPr/>
                      </a:pPr>
                      <a:r>
                        <a:rPr lang="en-US" sz="2475" b="true">
                          <a:solidFill>
                            <a:srgbClr val="A3E635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Atributos Descriptivos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70"/>
                        </a:lnSpc>
                        <a:defRPr/>
                      </a:pPr>
                      <a:r>
                        <a:rPr lang="en-US" sz="2475" b="true">
                          <a:solidFill>
                            <a:srgbClr val="A3E635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Llave Foránea (FK)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14287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true">
                          <a:solidFill>
                            <a:srgbClr val="CBD5E1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CLIENTES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ID_Cliente (INT)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Nombre, Dirección, Teléfono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-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287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true">
                          <a:solidFill>
                            <a:srgbClr val="CBD5E1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PRODUCTOS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ID_Producto (INT)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Descripción, Precio, Stock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-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287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true">
                          <a:solidFill>
                            <a:srgbClr val="CBD5E1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FACTURAS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No_Factura (INT)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Fecha, Total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ID_Cliente (Ref: CLIENTES)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2875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 b="true">
                          <a:solidFill>
                            <a:srgbClr val="CBD5E1"/>
                          </a:solidFill>
                          <a:latin typeface="Inter Bold"/>
                          <a:ea typeface="Inter Bold"/>
                          <a:cs typeface="Inter Bold"/>
                          <a:sym typeface="Inter Bold"/>
                        </a:rPr>
                        <a:t>DETALLE_FACTURA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ID_Detalle (INT)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Cantidad, Subtotal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00"/>
                        </a:lnSpc>
                        <a:defRPr/>
                      </a:pPr>
                      <a:r>
                        <a:rPr lang="en-US" sz="2250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No_Factura, ID_Producto</a:t>
                      </a:r>
                      <a:endParaRPr lang="en-US" sz="1100"/>
                    </a:p>
                  </a:txBody>
                  <a:tcPr marL="63500" marR="63500" marT="63500" marB="6350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6" id="6"/>
          <p:cNvGrpSpPr/>
          <p:nvPr/>
        </p:nvGrpSpPr>
        <p:grpSpPr>
          <a:xfrm rot="0">
            <a:off x="857250" y="4474664"/>
            <a:ext cx="3600450" cy="14288"/>
            <a:chOff x="0" y="0"/>
            <a:chExt cx="4800600" cy="190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00600" cy="19050"/>
            </a:xfrm>
            <a:custGeom>
              <a:avLst/>
              <a:gdLst/>
              <a:ahLst/>
              <a:cxnLst/>
              <a:rect r="r" b="b" t="t" l="l"/>
              <a:pathLst>
                <a:path h="19050" w="4800600">
                  <a:moveTo>
                    <a:pt x="0" y="0"/>
                  </a:moveTo>
                  <a:lnTo>
                    <a:pt x="4800600" y="0"/>
                  </a:lnTo>
                  <a:lnTo>
                    <a:pt x="4800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475569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4457700" y="4474664"/>
            <a:ext cx="4011435" cy="14288"/>
            <a:chOff x="0" y="0"/>
            <a:chExt cx="5348580" cy="190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48605" cy="19050"/>
            </a:xfrm>
            <a:custGeom>
              <a:avLst/>
              <a:gdLst/>
              <a:ahLst/>
              <a:cxnLst/>
              <a:rect r="r" b="b" t="t" l="l"/>
              <a:pathLst>
                <a:path h="19050" w="5348605">
                  <a:moveTo>
                    <a:pt x="0" y="0"/>
                  </a:moveTo>
                  <a:lnTo>
                    <a:pt x="5348605" y="0"/>
                  </a:lnTo>
                  <a:lnTo>
                    <a:pt x="5348605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475569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469135" y="4474664"/>
            <a:ext cx="4893469" cy="14288"/>
            <a:chOff x="0" y="0"/>
            <a:chExt cx="6524625" cy="190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524625" cy="19050"/>
            </a:xfrm>
            <a:custGeom>
              <a:avLst/>
              <a:gdLst/>
              <a:ahLst/>
              <a:cxnLst/>
              <a:rect r="r" b="b" t="t" l="l"/>
              <a:pathLst>
                <a:path h="19050" w="6524625">
                  <a:moveTo>
                    <a:pt x="0" y="0"/>
                  </a:moveTo>
                  <a:lnTo>
                    <a:pt x="6524625" y="0"/>
                  </a:lnTo>
                  <a:lnTo>
                    <a:pt x="6524625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475569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362603" y="4474664"/>
            <a:ext cx="4068137" cy="14288"/>
            <a:chOff x="0" y="0"/>
            <a:chExt cx="5424183" cy="190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424170" cy="19050"/>
            </a:xfrm>
            <a:custGeom>
              <a:avLst/>
              <a:gdLst/>
              <a:ahLst/>
              <a:cxnLst/>
              <a:rect r="r" b="b" t="t" l="l"/>
              <a:pathLst>
                <a:path h="19050" w="5424170">
                  <a:moveTo>
                    <a:pt x="0" y="0"/>
                  </a:moveTo>
                  <a:lnTo>
                    <a:pt x="5424170" y="0"/>
                  </a:lnTo>
                  <a:lnTo>
                    <a:pt x="542417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475569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57250" y="5631952"/>
            <a:ext cx="3600450" cy="14288"/>
            <a:chOff x="0" y="0"/>
            <a:chExt cx="4800600" cy="190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800600" cy="19050"/>
            </a:xfrm>
            <a:custGeom>
              <a:avLst/>
              <a:gdLst/>
              <a:ahLst/>
              <a:cxnLst/>
              <a:rect r="r" b="b" t="t" l="l"/>
              <a:pathLst>
                <a:path h="19050" w="4800600">
                  <a:moveTo>
                    <a:pt x="0" y="0"/>
                  </a:moveTo>
                  <a:lnTo>
                    <a:pt x="4800600" y="0"/>
                  </a:lnTo>
                  <a:lnTo>
                    <a:pt x="4800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475569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4457700" y="5631952"/>
            <a:ext cx="4011435" cy="14288"/>
            <a:chOff x="0" y="0"/>
            <a:chExt cx="5348580" cy="190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348605" cy="19050"/>
            </a:xfrm>
            <a:custGeom>
              <a:avLst/>
              <a:gdLst/>
              <a:ahLst/>
              <a:cxnLst/>
              <a:rect r="r" b="b" t="t" l="l"/>
              <a:pathLst>
                <a:path h="19050" w="5348605">
                  <a:moveTo>
                    <a:pt x="0" y="0"/>
                  </a:moveTo>
                  <a:lnTo>
                    <a:pt x="5348605" y="0"/>
                  </a:lnTo>
                  <a:lnTo>
                    <a:pt x="5348605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475569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8469135" y="5631952"/>
            <a:ext cx="4893469" cy="14288"/>
            <a:chOff x="0" y="0"/>
            <a:chExt cx="6524625" cy="190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524625" cy="19050"/>
            </a:xfrm>
            <a:custGeom>
              <a:avLst/>
              <a:gdLst/>
              <a:ahLst/>
              <a:cxnLst/>
              <a:rect r="r" b="b" t="t" l="l"/>
              <a:pathLst>
                <a:path h="19050" w="6524625">
                  <a:moveTo>
                    <a:pt x="0" y="0"/>
                  </a:moveTo>
                  <a:lnTo>
                    <a:pt x="6524625" y="0"/>
                  </a:lnTo>
                  <a:lnTo>
                    <a:pt x="6524625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475569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3362603" y="5631952"/>
            <a:ext cx="4068137" cy="14288"/>
            <a:chOff x="0" y="0"/>
            <a:chExt cx="5424183" cy="190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24170" cy="19050"/>
            </a:xfrm>
            <a:custGeom>
              <a:avLst/>
              <a:gdLst/>
              <a:ahLst/>
              <a:cxnLst/>
              <a:rect r="r" b="b" t="t" l="l"/>
              <a:pathLst>
                <a:path h="19050" w="5424170">
                  <a:moveTo>
                    <a:pt x="0" y="0"/>
                  </a:moveTo>
                  <a:lnTo>
                    <a:pt x="5424170" y="0"/>
                  </a:lnTo>
                  <a:lnTo>
                    <a:pt x="542417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475569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57250" y="6789239"/>
            <a:ext cx="3600450" cy="14288"/>
            <a:chOff x="0" y="0"/>
            <a:chExt cx="4800600" cy="1905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800600" cy="19050"/>
            </a:xfrm>
            <a:custGeom>
              <a:avLst/>
              <a:gdLst/>
              <a:ahLst/>
              <a:cxnLst/>
              <a:rect r="r" b="b" t="t" l="l"/>
              <a:pathLst>
                <a:path h="19050" w="4800600">
                  <a:moveTo>
                    <a:pt x="0" y="0"/>
                  </a:moveTo>
                  <a:lnTo>
                    <a:pt x="4800600" y="0"/>
                  </a:lnTo>
                  <a:lnTo>
                    <a:pt x="4800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475569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4457700" y="6789239"/>
            <a:ext cx="4011435" cy="14288"/>
            <a:chOff x="0" y="0"/>
            <a:chExt cx="5348580" cy="190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348605" cy="19050"/>
            </a:xfrm>
            <a:custGeom>
              <a:avLst/>
              <a:gdLst/>
              <a:ahLst/>
              <a:cxnLst/>
              <a:rect r="r" b="b" t="t" l="l"/>
              <a:pathLst>
                <a:path h="19050" w="5348605">
                  <a:moveTo>
                    <a:pt x="0" y="0"/>
                  </a:moveTo>
                  <a:lnTo>
                    <a:pt x="5348605" y="0"/>
                  </a:lnTo>
                  <a:lnTo>
                    <a:pt x="5348605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475569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8469135" y="6789239"/>
            <a:ext cx="4893469" cy="14288"/>
            <a:chOff x="0" y="0"/>
            <a:chExt cx="6524625" cy="190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524625" cy="19050"/>
            </a:xfrm>
            <a:custGeom>
              <a:avLst/>
              <a:gdLst/>
              <a:ahLst/>
              <a:cxnLst/>
              <a:rect r="r" b="b" t="t" l="l"/>
              <a:pathLst>
                <a:path h="19050" w="6524625">
                  <a:moveTo>
                    <a:pt x="0" y="0"/>
                  </a:moveTo>
                  <a:lnTo>
                    <a:pt x="6524625" y="0"/>
                  </a:lnTo>
                  <a:lnTo>
                    <a:pt x="6524625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475569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3362603" y="6789239"/>
            <a:ext cx="4068137" cy="14288"/>
            <a:chOff x="0" y="0"/>
            <a:chExt cx="5424183" cy="1905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424170" cy="19050"/>
            </a:xfrm>
            <a:custGeom>
              <a:avLst/>
              <a:gdLst/>
              <a:ahLst/>
              <a:cxnLst/>
              <a:rect r="r" b="b" t="t" l="l"/>
              <a:pathLst>
                <a:path h="19050" w="5424170">
                  <a:moveTo>
                    <a:pt x="0" y="0"/>
                  </a:moveTo>
                  <a:lnTo>
                    <a:pt x="5424170" y="0"/>
                  </a:lnTo>
                  <a:lnTo>
                    <a:pt x="542417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475569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857250" y="8403727"/>
            <a:ext cx="3600450" cy="14288"/>
            <a:chOff x="0" y="0"/>
            <a:chExt cx="4800600" cy="1905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800600" cy="19050"/>
            </a:xfrm>
            <a:custGeom>
              <a:avLst/>
              <a:gdLst/>
              <a:ahLst/>
              <a:cxnLst/>
              <a:rect r="r" b="b" t="t" l="l"/>
              <a:pathLst>
                <a:path h="19050" w="4800600">
                  <a:moveTo>
                    <a:pt x="0" y="0"/>
                  </a:moveTo>
                  <a:lnTo>
                    <a:pt x="4800600" y="0"/>
                  </a:lnTo>
                  <a:lnTo>
                    <a:pt x="48006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475569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4457700" y="8403727"/>
            <a:ext cx="4011435" cy="14288"/>
            <a:chOff x="0" y="0"/>
            <a:chExt cx="5348580" cy="1905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348605" cy="19050"/>
            </a:xfrm>
            <a:custGeom>
              <a:avLst/>
              <a:gdLst/>
              <a:ahLst/>
              <a:cxnLst/>
              <a:rect r="r" b="b" t="t" l="l"/>
              <a:pathLst>
                <a:path h="19050" w="5348605">
                  <a:moveTo>
                    <a:pt x="0" y="0"/>
                  </a:moveTo>
                  <a:lnTo>
                    <a:pt x="5348605" y="0"/>
                  </a:lnTo>
                  <a:lnTo>
                    <a:pt x="5348605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475569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8469135" y="8403727"/>
            <a:ext cx="4893469" cy="14288"/>
            <a:chOff x="0" y="0"/>
            <a:chExt cx="6524625" cy="1905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524625" cy="19050"/>
            </a:xfrm>
            <a:custGeom>
              <a:avLst/>
              <a:gdLst/>
              <a:ahLst/>
              <a:cxnLst/>
              <a:rect r="r" b="b" t="t" l="l"/>
              <a:pathLst>
                <a:path h="19050" w="6524625">
                  <a:moveTo>
                    <a:pt x="0" y="0"/>
                  </a:moveTo>
                  <a:lnTo>
                    <a:pt x="6524625" y="0"/>
                  </a:lnTo>
                  <a:lnTo>
                    <a:pt x="6524625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475569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3362603" y="8403727"/>
            <a:ext cx="4068137" cy="14288"/>
            <a:chOff x="0" y="0"/>
            <a:chExt cx="5424183" cy="1905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424170" cy="19050"/>
            </a:xfrm>
            <a:custGeom>
              <a:avLst/>
              <a:gdLst/>
              <a:ahLst/>
              <a:cxnLst/>
              <a:rect r="r" b="b" t="t" l="l"/>
              <a:pathLst>
                <a:path h="19050" w="5424170">
                  <a:moveTo>
                    <a:pt x="0" y="0"/>
                  </a:moveTo>
                  <a:lnTo>
                    <a:pt x="5424170" y="0"/>
                  </a:lnTo>
                  <a:lnTo>
                    <a:pt x="542417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475569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857250" y="214017"/>
            <a:ext cx="17402175" cy="976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true">
                <a:solidFill>
                  <a:srgbClr val="A3E635"/>
                </a:solidFill>
                <a:latin typeface="Poppins Bold"/>
                <a:ea typeface="Poppins Bold"/>
                <a:cs typeface="Poppins Bold"/>
                <a:sym typeface="Poppins Bold"/>
              </a:rPr>
              <a:t>Ejemplo: Entidades Resultantes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72625" y="2893219"/>
            <a:ext cx="7858125" cy="6000750"/>
            <a:chOff x="0" y="0"/>
            <a:chExt cx="10477500" cy="8001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10477500" cy="8001000"/>
            </a:xfrm>
            <a:custGeom>
              <a:avLst/>
              <a:gdLst/>
              <a:ahLst/>
              <a:cxnLst/>
              <a:rect r="r" b="b" t="t" l="l"/>
              <a:pathLst>
                <a:path h="8001000" w="10477500">
                  <a:moveTo>
                    <a:pt x="0" y="0"/>
                  </a:moveTo>
                  <a:lnTo>
                    <a:pt x="10477500" y="0"/>
                  </a:lnTo>
                  <a:lnTo>
                    <a:pt x="10477500" y="8001000"/>
                  </a:lnTo>
                  <a:lnTo>
                    <a:pt x="0" y="800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19" r="0" b="-119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857250" y="2874169"/>
            <a:ext cx="8251031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Examen Corto No. 2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57250" y="3683794"/>
            <a:ext cx="7858125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Actividad a realizar durante el periodo de clase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57250" y="5703094"/>
            <a:ext cx="8251031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Enunciado del Proyecto 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7250" y="6512719"/>
            <a:ext cx="7858125" cy="1924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 publica el enunciado del Proyecto 1. Requiere la aplicación de diseño relacional, normalización y consultas básicas utilizando las herramientas de ofimática.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601200" y="2921794"/>
            <a:ext cx="7800975" cy="5943600"/>
            <a:chOff x="0" y="0"/>
            <a:chExt cx="10401300" cy="79248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10401300" cy="7924800"/>
            </a:xfrm>
            <a:custGeom>
              <a:avLst/>
              <a:gdLst/>
              <a:ahLst/>
              <a:cxnLst/>
              <a:rect r="r" b="b" t="t" l="l"/>
              <a:pathLst>
                <a:path h="7924800" w="10401300">
                  <a:moveTo>
                    <a:pt x="0" y="0"/>
                  </a:moveTo>
                  <a:lnTo>
                    <a:pt x="10401300" y="0"/>
                  </a:lnTo>
                  <a:lnTo>
                    <a:pt x="10401300" y="7924800"/>
                  </a:lnTo>
                  <a:lnTo>
                    <a:pt x="0" y="792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33" r="0" b="-232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57250" y="809625"/>
            <a:ext cx="17402175" cy="976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true">
                <a:solidFill>
                  <a:srgbClr val="A3E635"/>
                </a:solidFill>
                <a:latin typeface="Poppins Bold"/>
                <a:ea typeface="Poppins Bold"/>
                <a:cs typeface="Poppins Bold"/>
                <a:sym typeface="Poppins Bold"/>
              </a:rPr>
              <a:t>Actividades del Laboratorio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432822" y="3105150"/>
            <a:ext cx="8251031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Importante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432822" y="4019550"/>
            <a:ext cx="7858125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Recuerden participar en el Foro de la semana en la plataforma UEDI.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432822" y="5427454"/>
            <a:ext cx="7858125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Esta participación suma a las actividades de diagnóstico y aprendizaje continuo.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212166" y="981075"/>
            <a:ext cx="17402175" cy="976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4950" b="true">
                <a:solidFill>
                  <a:srgbClr val="A3E635"/>
                </a:solidFill>
                <a:latin typeface="Poppins Bold"/>
                <a:ea typeface="Poppins Bold"/>
                <a:cs typeface="Poppins Bold"/>
                <a:sym typeface="Poppins Bold"/>
              </a:rPr>
              <a:t>Actividad de Participación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432822" y="6951454"/>
            <a:ext cx="7858125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Resolución de dudas sobre la clase y sobre el Proyecto Fase 1.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7250" y="6702176"/>
            <a:ext cx="16573500" cy="1000125"/>
            <a:chOff x="0" y="0"/>
            <a:chExt cx="22098000" cy="13335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2098000" cy="1333500"/>
            </a:xfrm>
            <a:custGeom>
              <a:avLst/>
              <a:gdLst/>
              <a:ahLst/>
              <a:cxnLst/>
              <a:rect r="r" b="b" t="t" l="l"/>
              <a:pathLst>
                <a:path h="13335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1333500"/>
                  </a:lnTo>
                  <a:lnTo>
                    <a:pt x="0" y="1333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42912" y="2479924"/>
            <a:ext cx="17402175" cy="2176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960"/>
              </a:lnSpc>
            </a:pPr>
            <a:r>
              <a:rPr lang="en-US" sz="10800" b="true">
                <a:solidFill>
                  <a:srgbClr val="A3E635"/>
                </a:solidFill>
                <a:latin typeface="Poppins Bold"/>
                <a:ea typeface="Poppins Bold"/>
                <a:cs typeface="Poppins Bold"/>
                <a:sym typeface="Poppins Bold"/>
              </a:rPr>
              <a:t>¿Preguntas?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57250" y="4970712"/>
            <a:ext cx="16573500" cy="874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en-US" sz="36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Espero que hayas aprendido algo nuevo hoy.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5796448" y="1611840"/>
            <a:ext cx="4437097" cy="513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44"/>
              </a:lnSpc>
            </a:pPr>
            <a:r>
              <a:rPr lang="en-US" sz="303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Examen Corto 2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578994" y="1763840"/>
            <a:ext cx="2205428" cy="887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8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13:40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578994" y="2555681"/>
            <a:ext cx="2205428" cy="887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8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14.</a:t>
            </a:r>
            <a:r>
              <a:rPr lang="en-US" sz="5198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:00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104772" y="3347523"/>
            <a:ext cx="3154528" cy="887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8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20min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917293" y="2365613"/>
            <a:ext cx="4437097" cy="513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44"/>
              </a:lnSpc>
            </a:pPr>
            <a:r>
              <a:rPr lang="en-US" sz="303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917293" y="3325197"/>
            <a:ext cx="4437097" cy="513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44"/>
              </a:lnSpc>
            </a:pPr>
            <a:r>
              <a:rPr lang="en-US" sz="303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0" y="5313559"/>
            <a:ext cx="6170724" cy="421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8"/>
              </a:lnSpc>
            </a:pPr>
            <a:r>
              <a:rPr lang="en-US" sz="1998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Adler Mauricio Alegría Hernández - 202001705</a:t>
            </a:r>
          </a:p>
          <a:p>
            <a:pPr algn="ctr">
              <a:lnSpc>
                <a:spcPts val="2798"/>
              </a:lnSpc>
            </a:pPr>
            <a:r>
              <a:rPr lang="en-US" sz="1998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Lilian Esther Jimenez Gamez-202307514</a:t>
            </a:r>
          </a:p>
          <a:p>
            <a:pPr algn="ctr">
              <a:lnSpc>
                <a:spcPts val="2798"/>
              </a:lnSpc>
            </a:pPr>
            <a:r>
              <a:rPr lang="en-US" sz="1998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Carlos Stiven Castañeda Ramirez-201906785</a:t>
            </a:r>
          </a:p>
          <a:p>
            <a:pPr algn="ctr">
              <a:lnSpc>
                <a:spcPts val="2798"/>
              </a:lnSpc>
            </a:pPr>
            <a:r>
              <a:rPr lang="en-US" sz="1998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Joahan Aldahir Cano Coy - 202100133</a:t>
            </a:r>
          </a:p>
          <a:p>
            <a:pPr algn="ctr">
              <a:lnSpc>
                <a:spcPts val="2798"/>
              </a:lnSpc>
            </a:pPr>
            <a:r>
              <a:rPr lang="en-US" sz="1998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Daniel Fernando Juárez Andrino 202004436</a:t>
            </a:r>
          </a:p>
          <a:p>
            <a:pPr algn="ctr">
              <a:lnSpc>
                <a:spcPts val="2798"/>
              </a:lnSpc>
            </a:pPr>
            <a:r>
              <a:rPr lang="en-US" sz="1998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Angie Paola Herrera Vargas Machuca- 202102606</a:t>
            </a:r>
          </a:p>
          <a:p>
            <a:pPr algn="ctr">
              <a:lnSpc>
                <a:spcPts val="2798"/>
              </a:lnSpc>
            </a:pPr>
            <a:r>
              <a:rPr lang="en-US" sz="1998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José Emanuel Salazar Cano - 201602495</a:t>
            </a:r>
          </a:p>
          <a:p>
            <a:pPr algn="ctr">
              <a:lnSpc>
                <a:spcPts val="2798"/>
              </a:lnSpc>
            </a:pPr>
            <a:r>
              <a:rPr lang="en-US" sz="1998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Elias Abraham Gonzalez Solval 202307739</a:t>
            </a:r>
          </a:p>
          <a:p>
            <a:pPr algn="ctr">
              <a:lnSpc>
                <a:spcPts val="2798"/>
              </a:lnSpc>
            </a:pPr>
            <a:r>
              <a:rPr lang="en-US" sz="1998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Josseline Marisol Ramírez Calderón - 202100307</a:t>
            </a:r>
          </a:p>
          <a:p>
            <a:pPr algn="ctr">
              <a:lnSpc>
                <a:spcPts val="2798"/>
              </a:lnSpc>
            </a:pPr>
            <a:r>
              <a:rPr lang="en-US" sz="1998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Julio Alfredo Cruz Gonzalez - 201612281</a:t>
            </a:r>
          </a:p>
          <a:p>
            <a:pPr algn="ctr">
              <a:lnSpc>
                <a:spcPts val="2798"/>
              </a:lnSpc>
            </a:pPr>
            <a:r>
              <a:rPr lang="en-US" sz="1998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Santiago Benjamin Velásquez Chávez - 202502940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170724" y="5313559"/>
            <a:ext cx="6170724" cy="174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8"/>
              </a:lnSpc>
            </a:pPr>
            <a:r>
              <a:rPr lang="en-US" sz="1998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Moises Alejandro Orozco Cárcamo - 202203909</a:t>
            </a:r>
          </a:p>
          <a:p>
            <a:pPr algn="ctr">
              <a:lnSpc>
                <a:spcPts val="2798"/>
              </a:lnSpc>
            </a:pPr>
            <a:r>
              <a:rPr lang="en-US" sz="1998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Handery Isabel Cardona Almaraz - 202308426</a:t>
            </a:r>
          </a:p>
          <a:p>
            <a:pPr algn="ctr">
              <a:lnSpc>
                <a:spcPts val="2798"/>
              </a:lnSpc>
            </a:pPr>
            <a:r>
              <a:rPr lang="en-US" sz="1998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Luis Enrique Casiano Ruano 202300424</a:t>
            </a:r>
          </a:p>
          <a:p>
            <a:pPr algn="ctr">
              <a:lnSpc>
                <a:spcPts val="2798"/>
              </a:lnSpc>
            </a:pPr>
            <a:r>
              <a:rPr lang="en-US" sz="1998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Cristhian Garcia Tumax 202300529</a:t>
            </a:r>
          </a:p>
          <a:p>
            <a:pPr algn="ctr">
              <a:lnSpc>
                <a:spcPts val="2798"/>
              </a:lnSpc>
            </a:pPr>
            <a:r>
              <a:rPr lang="en-US" sz="1998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Diego Dionisio 202300481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DAHSjQC5hww</dc:identifier>
  <dcterms:modified xsi:type="dcterms:W3CDTF">2011-08-01T06:04:30Z</dcterms:modified>
  <cp:revision>1</cp:revision>
  <dc:title>Lab PDC1 Presentación 6 2S2026</dc:title>
</cp:coreProperties>
</file>