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Open Sans Bold" charset="1" panose="020B0806030504020204"/>
      <p:regular r:id="rId21"/>
    </p:embeddedFont>
    <p:embeddedFont>
      <p:font typeface="Open Sans" charset="1" panose="020B0606030504020204"/>
      <p:regular r:id="rId22"/>
    </p:embeddedFont>
    <p:embeddedFont>
      <p:font typeface="Montserrat Light" charset="1" panose="00000400000000000000"/>
      <p:regular r:id="rId23"/>
    </p:embeddedFont>
    <p:embeddedFont>
      <p:font typeface="Bungee" charset="1" panose="00000000000000000000"/>
      <p:regular r:id="rId24"/>
    </p:embeddedFont>
    <p:embeddedFont>
      <p:font typeface="Arimo" charset="1" panose="020B0604020202020204"/>
      <p:regular r:id="rId25"/>
    </p:embeddedFont>
    <p:embeddedFont>
      <p:font typeface="Montserrat Light Bold" charset="1" panose="00000800000000000000"/>
      <p:regular r:id="rId26"/>
    </p:embeddedFont>
    <p:embeddedFont>
      <p:font typeface="Telegraf Medium" charset="1" panose="00000600000000000000"/>
      <p:regular r:id="rId27"/>
    </p:embeddedFont>
    <p:embeddedFont>
      <p:font typeface="Telegraf Bold Bold" charset="1" panose="00000A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3.gif" Type="http://schemas.openxmlformats.org/officeDocument/2006/relationships/image"/><Relationship Id="rId4" Target="../media/image4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6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https://dtt-ecys.org/user/login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12.png" Type="http://schemas.openxmlformats.org/officeDocument/2006/relationships/image"/><Relationship Id="rId5" Target="https://www.redhat.com/es/topics/virtualization/what-is-a-hypervisor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13.png" Type="http://schemas.openxmlformats.org/officeDocument/2006/relationships/image"/><Relationship Id="rId5" Target="https://www.redhat.com/es/topics/virtualization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14.png" Type="http://schemas.openxmlformats.org/officeDocument/2006/relationships/image"/><Relationship Id="rId5" Target="https://www.redhat.com/es/topics/virtualization/what-is-a-virtual-machine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5.gif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gif" Type="http://schemas.openxmlformats.org/officeDocument/2006/relationships/image"/><Relationship Id="rId3" Target="../media/image4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" r="0" b="-8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69712" y="6520935"/>
            <a:ext cx="5748576" cy="88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5089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Auxiliar: Luis Vejo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52953" y="3981443"/>
            <a:ext cx="10982095" cy="2238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4"/>
              </a:lnSpc>
            </a:pPr>
            <a:r>
              <a:rPr lang="en-US" sz="4524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Laboratorio de Programacion de computadoras 1 Sección N</a:t>
            </a:r>
          </a:p>
          <a:p>
            <a:pPr algn="ctr">
              <a:lnSpc>
                <a:spcPts val="5214"/>
              </a:lnSpc>
            </a:pP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2379998" y="1922183"/>
          <a:ext cx="5415726" cy="1619250"/>
        </p:xfrm>
        <a:graphic>
          <a:graphicData uri="http://schemas.openxmlformats.org/drawingml/2006/table">
            <a:tbl>
              <a:tblPr/>
              <a:tblGrid>
                <a:gridCol w="2707863"/>
                <a:gridCol w="2707863"/>
              </a:tblGrid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Dia, Fecha: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Martes, 21/07/2026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Hora de inicio: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12:20 pm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541020" y="9485617"/>
            <a:ext cx="5307813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EFEFE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Empezamos a las 12:25pm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56419" y="352767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915859" y="1277240"/>
            <a:ext cx="14093462" cy="10287000"/>
            <a:chOff x="0" y="0"/>
            <a:chExt cx="3373780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3780" cy="2462566"/>
            </a:xfrm>
            <a:custGeom>
              <a:avLst/>
              <a:gdLst/>
              <a:ahLst/>
              <a:cxnLst/>
              <a:rect r="r" b="b" t="t" l="l"/>
              <a:pathLst>
                <a:path h="2462566" w="3373780">
                  <a:moveTo>
                    <a:pt x="3249320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49320" y="0"/>
                  </a:lnTo>
                  <a:cubicBezTo>
                    <a:pt x="3317900" y="0"/>
                    <a:pt x="3373780" y="55880"/>
                    <a:pt x="3373780" y="124460"/>
                  </a:cubicBezTo>
                  <a:lnTo>
                    <a:pt x="3373780" y="2338106"/>
                  </a:lnTo>
                  <a:cubicBezTo>
                    <a:pt x="3373780" y="2406686"/>
                    <a:pt x="3317900" y="2462566"/>
                    <a:pt x="3249320" y="24625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6938428" y="2257645"/>
            <a:ext cx="404832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Clase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23910" y="4466985"/>
            <a:ext cx="12280112" cy="1263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5600" i="true">
                <a:solidFill>
                  <a:srgbClr val="7843E6"/>
                </a:solidFill>
                <a:latin typeface="Bungee"/>
                <a:ea typeface="Bungee"/>
                <a:cs typeface="Bungee"/>
                <a:sym typeface="Bungee"/>
              </a:rPr>
              <a:t>LABORATORIO PROGRAMACIÓN DE COMPUTADORAS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22534" y="7648284"/>
            <a:ext cx="12280112" cy="121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3800" i="true">
                <a:solidFill>
                  <a:srgbClr val="7843E6"/>
                </a:solidFill>
                <a:latin typeface="Bungee"/>
                <a:ea typeface="Bungee"/>
                <a:cs typeface="Bungee"/>
                <a:sym typeface="Bungee"/>
              </a:rPr>
              <a:t>SECCIÓN N</a:t>
            </a:r>
          </a:p>
          <a:p>
            <a:pPr algn="ctr">
              <a:lnSpc>
                <a:spcPts val="2850"/>
              </a:lnSpc>
            </a:pPr>
          </a:p>
          <a:p>
            <a:pPr algn="ctr">
              <a:lnSpc>
                <a:spcPts val="2850"/>
              </a:lnSpc>
              <a:spcBef>
                <a:spcPct val="0"/>
              </a:spcBef>
            </a:pPr>
            <a:r>
              <a:rPr lang="en-US" sz="3800" i="true">
                <a:solidFill>
                  <a:srgbClr val="7843E6"/>
                </a:solidFill>
                <a:latin typeface="Bungee"/>
                <a:ea typeface="Bungee"/>
                <a:cs typeface="Bungee"/>
                <a:sym typeface="Bungee"/>
              </a:rPr>
              <a:t>CÓDIGO DEL CURSO 090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915859" y="1277240"/>
            <a:ext cx="14093462" cy="10287000"/>
            <a:chOff x="0" y="0"/>
            <a:chExt cx="3373780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3780" cy="2462566"/>
            </a:xfrm>
            <a:custGeom>
              <a:avLst/>
              <a:gdLst/>
              <a:ahLst/>
              <a:cxnLst/>
              <a:rect r="r" b="b" t="t" l="l"/>
              <a:pathLst>
                <a:path h="2462566" w="3373780">
                  <a:moveTo>
                    <a:pt x="3249320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49320" y="0"/>
                  </a:lnTo>
                  <a:cubicBezTo>
                    <a:pt x="3317900" y="0"/>
                    <a:pt x="3373780" y="55880"/>
                    <a:pt x="3373780" y="124460"/>
                  </a:cubicBezTo>
                  <a:lnTo>
                    <a:pt x="3373780" y="2338106"/>
                  </a:lnTo>
                  <a:cubicBezTo>
                    <a:pt x="3373780" y="2406686"/>
                    <a:pt x="3317900" y="2462566"/>
                    <a:pt x="3249320" y="24625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3789434" y="5366549"/>
            <a:ext cx="2859949" cy="2702652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>
            <a:off x="9931595" y="2998279"/>
            <a:ext cx="0" cy="5294070"/>
          </a:xfrm>
          <a:prstGeom prst="line">
            <a:avLst/>
          </a:prstGeom>
          <a:ln cap="flat" w="3810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>
            <a:off x="10108479" y="3754113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10108479" y="4856250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10108479" y="5830333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10108479" y="6727400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10108479" y="7731172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6642944" y="8292350"/>
            <a:ext cx="1440903" cy="1601004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3151882" y="3177988"/>
            <a:ext cx="4407681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AGENDA DE LA CLASE: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41994" y="3093851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Uso del dtt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41994" y="4246239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Uso de las máquinas virtuales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41994" y="5177636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Instalación y Configuración de VM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08479" y="6116083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Foro de la semana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41994" y="7051250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¿Dudas?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883845" y="1223884"/>
            <a:ext cx="14093462" cy="10287000"/>
            <a:chOff x="0" y="0"/>
            <a:chExt cx="3373780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3780" cy="2462566"/>
            </a:xfrm>
            <a:custGeom>
              <a:avLst/>
              <a:gdLst/>
              <a:ahLst/>
              <a:cxnLst/>
              <a:rect r="r" b="b" t="t" l="l"/>
              <a:pathLst>
                <a:path h="2462566" w="3373780">
                  <a:moveTo>
                    <a:pt x="3249320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49320" y="0"/>
                  </a:lnTo>
                  <a:cubicBezTo>
                    <a:pt x="3317900" y="0"/>
                    <a:pt x="3373780" y="55880"/>
                    <a:pt x="3373780" y="124460"/>
                  </a:cubicBezTo>
                  <a:lnTo>
                    <a:pt x="3373780" y="2338106"/>
                  </a:lnTo>
                  <a:cubicBezTo>
                    <a:pt x="3373780" y="2406686"/>
                    <a:pt x="3317900" y="2462566"/>
                    <a:pt x="3249320" y="24625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2289338" y="7228770"/>
            <a:ext cx="2487485" cy="2525366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6191430" y="8250234"/>
            <a:ext cx="1921205" cy="1805932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6726736" y="2383734"/>
            <a:ext cx="4407681" cy="1216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FORMATO DE ENTREGA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75741" y="4089597"/>
            <a:ext cx="4909670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TAREA: [PDC1]T#_#CARNET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36013" y="5221848"/>
            <a:ext cx="5389127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PROYECTO: [PDC1]P#_#CARNET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31407" y="6317857"/>
            <a:ext cx="6398337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PRACTICA: [PDC1]PRAC#_#CARNET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894516" y="1287911"/>
            <a:ext cx="14093462" cy="10287000"/>
            <a:chOff x="0" y="0"/>
            <a:chExt cx="3373780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3780" cy="2462566"/>
            </a:xfrm>
            <a:custGeom>
              <a:avLst/>
              <a:gdLst/>
              <a:ahLst/>
              <a:cxnLst/>
              <a:rect r="r" b="b" t="t" l="l"/>
              <a:pathLst>
                <a:path h="2462566" w="3373780">
                  <a:moveTo>
                    <a:pt x="3249320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49320" y="0"/>
                  </a:lnTo>
                  <a:cubicBezTo>
                    <a:pt x="3317900" y="0"/>
                    <a:pt x="3373780" y="55880"/>
                    <a:pt x="3373780" y="124460"/>
                  </a:cubicBezTo>
                  <a:lnTo>
                    <a:pt x="3373780" y="2338106"/>
                  </a:lnTo>
                  <a:cubicBezTo>
                    <a:pt x="3373780" y="2406686"/>
                    <a:pt x="3317900" y="2462566"/>
                    <a:pt x="3249320" y="24625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154167" y="7813758"/>
            <a:ext cx="2068017" cy="2099509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5841047" y="6840593"/>
            <a:ext cx="4814308" cy="2666305"/>
          </a:xfrm>
          <a:custGeom>
            <a:avLst/>
            <a:gdLst/>
            <a:ahLst/>
            <a:cxnLst/>
            <a:rect r="r" b="b" t="t" l="l"/>
            <a:pathLst>
              <a:path h="2666305" w="4814308">
                <a:moveTo>
                  <a:pt x="0" y="0"/>
                </a:moveTo>
                <a:lnTo>
                  <a:pt x="4814308" y="0"/>
                </a:lnTo>
                <a:lnTo>
                  <a:pt x="4814308" y="2666305"/>
                </a:lnTo>
                <a:lnTo>
                  <a:pt x="0" y="26663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4941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41047" y="3511178"/>
            <a:ext cx="4665996" cy="2709288"/>
          </a:xfrm>
          <a:custGeom>
            <a:avLst/>
            <a:gdLst/>
            <a:ahLst/>
            <a:cxnLst/>
            <a:rect r="r" b="b" t="t" l="l"/>
            <a:pathLst>
              <a:path h="2709288" w="4665996">
                <a:moveTo>
                  <a:pt x="0" y="0"/>
                </a:moveTo>
                <a:lnTo>
                  <a:pt x="4665996" y="0"/>
                </a:lnTo>
                <a:lnTo>
                  <a:pt x="4665996" y="2709287"/>
                </a:lnTo>
                <a:lnTo>
                  <a:pt x="0" y="2709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09052" y="4450420"/>
            <a:ext cx="3991418" cy="3540091"/>
          </a:xfrm>
          <a:custGeom>
            <a:avLst/>
            <a:gdLst/>
            <a:ahLst/>
            <a:cxnLst/>
            <a:rect r="r" b="b" t="t" l="l"/>
            <a:pathLst>
              <a:path h="3540091" w="3991418">
                <a:moveTo>
                  <a:pt x="0" y="0"/>
                </a:moveTo>
                <a:lnTo>
                  <a:pt x="3991418" y="0"/>
                </a:lnTo>
                <a:lnTo>
                  <a:pt x="3991418" y="3540091"/>
                </a:lnTo>
                <a:lnTo>
                  <a:pt x="0" y="35400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67129" y="2202324"/>
            <a:ext cx="10595156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USO DEL DTT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60716" y="3734227"/>
            <a:ext cx="2829527" cy="25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0"/>
              </a:lnSpc>
            </a:pPr>
            <a:r>
              <a:rPr lang="en-US" sz="1536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QR para ir al inicio de sesion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90587" y="3473078"/>
            <a:ext cx="2829527" cy="40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0"/>
              </a:lnSpc>
            </a:pPr>
            <a:r>
              <a:rPr lang="en-US" sz="2436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Iniciar sesión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90587" y="6802493"/>
            <a:ext cx="3085636" cy="40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0"/>
              </a:lnSpc>
            </a:pPr>
            <a:r>
              <a:rPr lang="en-US" sz="2436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Contraseña perdida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40818" y="8390561"/>
            <a:ext cx="3959652" cy="414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2"/>
              </a:lnSpc>
            </a:pPr>
            <a:r>
              <a:rPr lang="en-US" sz="2373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7" tooltip="https://dtt-ecys.org/user/login"/>
              </a:rPr>
              <a:t>https://dtt-ecys.org/user/login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93948" y="5423218"/>
            <a:ext cx="7500104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826432" y="1312757"/>
            <a:ext cx="14093462" cy="10287000"/>
            <a:chOff x="0" y="0"/>
            <a:chExt cx="3373780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3780" cy="2462566"/>
            </a:xfrm>
            <a:custGeom>
              <a:avLst/>
              <a:gdLst/>
              <a:ahLst/>
              <a:cxnLst/>
              <a:rect r="r" b="b" t="t" l="l"/>
              <a:pathLst>
                <a:path h="2462566" w="3373780">
                  <a:moveTo>
                    <a:pt x="3249320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49320" y="0"/>
                  </a:lnTo>
                  <a:cubicBezTo>
                    <a:pt x="3317900" y="0"/>
                    <a:pt x="3373780" y="55880"/>
                    <a:pt x="3373780" y="124460"/>
                  </a:cubicBezTo>
                  <a:lnTo>
                    <a:pt x="3373780" y="2338106"/>
                  </a:lnTo>
                  <a:cubicBezTo>
                    <a:pt x="3373780" y="2406686"/>
                    <a:pt x="3317900" y="2462566"/>
                    <a:pt x="3249320" y="24625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154167" y="7813758"/>
            <a:ext cx="2068017" cy="2099509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2764002" y="4678601"/>
            <a:ext cx="12047583" cy="4814513"/>
          </a:xfrm>
          <a:custGeom>
            <a:avLst/>
            <a:gdLst/>
            <a:ahLst/>
            <a:cxnLst/>
            <a:rect r="r" b="b" t="t" l="l"/>
            <a:pathLst>
              <a:path h="4814513" w="12047583">
                <a:moveTo>
                  <a:pt x="0" y="0"/>
                </a:moveTo>
                <a:lnTo>
                  <a:pt x="12047583" y="0"/>
                </a:lnTo>
                <a:lnTo>
                  <a:pt x="12047583" y="4814513"/>
                </a:lnTo>
                <a:lnTo>
                  <a:pt x="0" y="4814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77801" y="1828832"/>
            <a:ext cx="10595156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USO DEL DTT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11218" y="2800792"/>
            <a:ext cx="2829527" cy="40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0"/>
              </a:lnSpc>
            </a:pPr>
            <a:r>
              <a:rPr lang="en-US" sz="2436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Area de cursos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64002" y="4128170"/>
            <a:ext cx="11025012" cy="35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2036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Para visualizar si estan asignados al curso, pueden verificarlo de la siguiente manera: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826432" y="1312757"/>
            <a:ext cx="14093462" cy="10287000"/>
            <a:chOff x="0" y="0"/>
            <a:chExt cx="3373780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3780" cy="2462566"/>
            </a:xfrm>
            <a:custGeom>
              <a:avLst/>
              <a:gdLst/>
              <a:ahLst/>
              <a:cxnLst/>
              <a:rect r="r" b="b" t="t" l="l"/>
              <a:pathLst>
                <a:path h="2462566" w="3373780">
                  <a:moveTo>
                    <a:pt x="3249320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49320" y="0"/>
                  </a:lnTo>
                  <a:cubicBezTo>
                    <a:pt x="3317900" y="0"/>
                    <a:pt x="3373780" y="55880"/>
                    <a:pt x="3373780" y="124460"/>
                  </a:cubicBezTo>
                  <a:lnTo>
                    <a:pt x="3373780" y="2338106"/>
                  </a:lnTo>
                  <a:cubicBezTo>
                    <a:pt x="3373780" y="2406686"/>
                    <a:pt x="3317900" y="2462566"/>
                    <a:pt x="3249320" y="24625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154167" y="7813758"/>
            <a:ext cx="2068017" cy="2099509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2449410" y="3627162"/>
            <a:ext cx="8153152" cy="4602586"/>
          </a:xfrm>
          <a:custGeom>
            <a:avLst/>
            <a:gdLst/>
            <a:ahLst/>
            <a:cxnLst/>
            <a:rect r="r" b="b" t="t" l="l"/>
            <a:pathLst>
              <a:path h="4602586" w="8153152">
                <a:moveTo>
                  <a:pt x="0" y="0"/>
                </a:moveTo>
                <a:lnTo>
                  <a:pt x="8153152" y="0"/>
                </a:lnTo>
                <a:lnTo>
                  <a:pt x="8153152" y="4602586"/>
                </a:lnTo>
                <a:lnTo>
                  <a:pt x="0" y="4602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77801" y="1828832"/>
            <a:ext cx="10595156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Introducción a las Máquinas virtuales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41506" y="3869769"/>
            <a:ext cx="4558262" cy="302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</a:pPr>
            <a:r>
              <a:rPr lang="en-US" sz="15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 manera general, una máquina virtual (conocida habitualmente por su abreviatura en español MV o en ingles, VM) es un software que simula un sistema y que permite ejecutar programas como si fuera un ordenador real. Gracias a una máquina virtual se puede ejecutar el software en un entorno aislado, lo que permite que varias máquinas virtuales puedan llegar a ejecutarse simultáneamente en un solo equipo físico.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506296" y="1028700"/>
            <a:ext cx="14093462" cy="10287000"/>
            <a:chOff x="0" y="0"/>
            <a:chExt cx="3373780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3780" cy="2462566"/>
            </a:xfrm>
            <a:custGeom>
              <a:avLst/>
              <a:gdLst/>
              <a:ahLst/>
              <a:cxnLst/>
              <a:rect r="r" b="b" t="t" l="l"/>
              <a:pathLst>
                <a:path h="2462566" w="3373780">
                  <a:moveTo>
                    <a:pt x="3249320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49320" y="0"/>
                  </a:lnTo>
                  <a:cubicBezTo>
                    <a:pt x="3317900" y="0"/>
                    <a:pt x="3373780" y="55880"/>
                    <a:pt x="3373780" y="124460"/>
                  </a:cubicBezTo>
                  <a:lnTo>
                    <a:pt x="3373780" y="2338106"/>
                  </a:lnTo>
                  <a:cubicBezTo>
                    <a:pt x="3373780" y="2406686"/>
                    <a:pt x="3317900" y="2462566"/>
                    <a:pt x="3249320" y="24625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154167" y="7813758"/>
            <a:ext cx="2068017" cy="2099509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2545447" y="3246950"/>
            <a:ext cx="5928952" cy="3793101"/>
          </a:xfrm>
          <a:custGeom>
            <a:avLst/>
            <a:gdLst/>
            <a:ahLst/>
            <a:cxnLst/>
            <a:rect r="r" b="b" t="t" l="l"/>
            <a:pathLst>
              <a:path h="3793101" w="5928952">
                <a:moveTo>
                  <a:pt x="0" y="0"/>
                </a:moveTo>
                <a:lnTo>
                  <a:pt x="5928952" y="0"/>
                </a:lnTo>
                <a:lnTo>
                  <a:pt x="5928952" y="3793100"/>
                </a:lnTo>
                <a:lnTo>
                  <a:pt x="0" y="3793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5990800"/>
            <a:ext cx="5832879" cy="1293338"/>
            <a:chOff x="0" y="0"/>
            <a:chExt cx="1536231" cy="3406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36231" cy="340632"/>
            </a:xfrm>
            <a:custGeom>
              <a:avLst/>
              <a:gdLst/>
              <a:ahLst/>
              <a:cxnLst/>
              <a:rect r="r" b="b" t="t" l="l"/>
              <a:pathLst>
                <a:path h="340632" w="1536231">
                  <a:moveTo>
                    <a:pt x="78310" y="0"/>
                  </a:moveTo>
                  <a:lnTo>
                    <a:pt x="1457921" y="0"/>
                  </a:lnTo>
                  <a:cubicBezTo>
                    <a:pt x="1478690" y="0"/>
                    <a:pt x="1498609" y="8251"/>
                    <a:pt x="1513295" y="22936"/>
                  </a:cubicBezTo>
                  <a:cubicBezTo>
                    <a:pt x="1527981" y="37622"/>
                    <a:pt x="1536231" y="57541"/>
                    <a:pt x="1536231" y="78310"/>
                  </a:cubicBezTo>
                  <a:lnTo>
                    <a:pt x="1536231" y="262322"/>
                  </a:lnTo>
                  <a:cubicBezTo>
                    <a:pt x="1536231" y="305571"/>
                    <a:pt x="1501171" y="340632"/>
                    <a:pt x="1457921" y="340632"/>
                  </a:cubicBezTo>
                  <a:lnTo>
                    <a:pt x="78310" y="340632"/>
                  </a:lnTo>
                  <a:cubicBezTo>
                    <a:pt x="35061" y="340632"/>
                    <a:pt x="0" y="305571"/>
                    <a:pt x="0" y="262322"/>
                  </a:cubicBezTo>
                  <a:lnTo>
                    <a:pt x="0" y="78310"/>
                  </a:lnTo>
                  <a:cubicBezTo>
                    <a:pt x="0" y="35061"/>
                    <a:pt x="35061" y="0"/>
                    <a:pt x="78310" y="0"/>
                  </a:cubicBezTo>
                  <a:close/>
                </a:path>
              </a:pathLst>
            </a:custGeom>
            <a:ln w="28575" cap="rnd">
              <a:solidFill>
                <a:srgbClr val="FEE6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536231" cy="378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377801" y="1828832"/>
            <a:ext cx="10595156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¿Qué son las Máquinas Virtuales?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27338" y="3224273"/>
            <a:ext cx="5749541" cy="242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5"/>
              </a:lnSpc>
            </a:pPr>
            <a:r>
              <a:rPr lang="en-US" sz="171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Una máquina virtual (VM) es un entorno informático que funciona como un sistema aislado con su propia CPU, memoria, interfaz de red y almacenamiento, el cual se crea a partir de un conjunto de recursos de hardware. Mediante un sistema de software denominado </a:t>
            </a:r>
            <a:r>
              <a:rPr lang="en-US" b="true" sz="1718" u="sng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  <a:hlinkClick r:id="rId5" tooltip="https://www.redhat.com/es/topics/virtualization/what-is-a-hypervisor"/>
              </a:rPr>
              <a:t>hipervisor</a:t>
            </a:r>
            <a:r>
              <a:rPr lang="en-US" sz="171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se aíslan los recursos informáticos necesarios y se crean y gestionan las máquinas virtuales.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90159" y="6085019"/>
            <a:ext cx="5749541" cy="106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Ahorro de Costos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Permiten maximizar el uso de los recursos del hardware físico, lo que reduce la necesidad de comprar múltiples servidores físicos.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0" y="7627037"/>
            <a:ext cx="5832879" cy="1293338"/>
            <a:chOff x="0" y="0"/>
            <a:chExt cx="1536231" cy="3406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36231" cy="340632"/>
            </a:xfrm>
            <a:custGeom>
              <a:avLst/>
              <a:gdLst/>
              <a:ahLst/>
              <a:cxnLst/>
              <a:rect r="r" b="b" t="t" l="l"/>
              <a:pathLst>
                <a:path h="340632" w="1536231">
                  <a:moveTo>
                    <a:pt x="78310" y="0"/>
                  </a:moveTo>
                  <a:lnTo>
                    <a:pt x="1457921" y="0"/>
                  </a:lnTo>
                  <a:cubicBezTo>
                    <a:pt x="1478690" y="0"/>
                    <a:pt x="1498609" y="8251"/>
                    <a:pt x="1513295" y="22936"/>
                  </a:cubicBezTo>
                  <a:cubicBezTo>
                    <a:pt x="1527981" y="37622"/>
                    <a:pt x="1536231" y="57541"/>
                    <a:pt x="1536231" y="78310"/>
                  </a:cubicBezTo>
                  <a:lnTo>
                    <a:pt x="1536231" y="262322"/>
                  </a:lnTo>
                  <a:cubicBezTo>
                    <a:pt x="1536231" y="305571"/>
                    <a:pt x="1501171" y="340632"/>
                    <a:pt x="1457921" y="340632"/>
                  </a:cubicBezTo>
                  <a:lnTo>
                    <a:pt x="78310" y="340632"/>
                  </a:lnTo>
                  <a:cubicBezTo>
                    <a:pt x="35061" y="340632"/>
                    <a:pt x="0" y="305571"/>
                    <a:pt x="0" y="262322"/>
                  </a:cubicBezTo>
                  <a:lnTo>
                    <a:pt x="0" y="78310"/>
                  </a:lnTo>
                  <a:cubicBezTo>
                    <a:pt x="0" y="35061"/>
                    <a:pt x="35061" y="0"/>
                    <a:pt x="78310" y="0"/>
                  </a:cubicBezTo>
                  <a:close/>
                </a:path>
              </a:pathLst>
            </a:custGeom>
            <a:ln w="28575" cap="rnd">
              <a:solidFill>
                <a:srgbClr val="FEE6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536231" cy="378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545447" y="7627037"/>
            <a:ext cx="5928952" cy="1293338"/>
            <a:chOff x="0" y="0"/>
            <a:chExt cx="1561535" cy="3406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61535" cy="340632"/>
            </a:xfrm>
            <a:custGeom>
              <a:avLst/>
              <a:gdLst/>
              <a:ahLst/>
              <a:cxnLst/>
              <a:rect r="r" b="b" t="t" l="l"/>
              <a:pathLst>
                <a:path h="340632" w="1561535">
                  <a:moveTo>
                    <a:pt x="77041" y="0"/>
                  </a:moveTo>
                  <a:lnTo>
                    <a:pt x="1484494" y="0"/>
                  </a:lnTo>
                  <a:cubicBezTo>
                    <a:pt x="1527042" y="0"/>
                    <a:pt x="1561535" y="34492"/>
                    <a:pt x="1561535" y="77041"/>
                  </a:cubicBezTo>
                  <a:lnTo>
                    <a:pt x="1561535" y="263591"/>
                  </a:lnTo>
                  <a:cubicBezTo>
                    <a:pt x="1561535" y="306140"/>
                    <a:pt x="1527042" y="340632"/>
                    <a:pt x="1484494" y="340632"/>
                  </a:cubicBezTo>
                  <a:lnTo>
                    <a:pt x="77041" y="340632"/>
                  </a:lnTo>
                  <a:cubicBezTo>
                    <a:pt x="56609" y="340632"/>
                    <a:pt x="37013" y="332515"/>
                    <a:pt x="22565" y="318067"/>
                  </a:cubicBezTo>
                  <a:cubicBezTo>
                    <a:pt x="8117" y="303619"/>
                    <a:pt x="0" y="284024"/>
                    <a:pt x="0" y="263591"/>
                  </a:cubicBezTo>
                  <a:lnTo>
                    <a:pt x="0" y="77041"/>
                  </a:lnTo>
                  <a:cubicBezTo>
                    <a:pt x="0" y="34492"/>
                    <a:pt x="34492" y="0"/>
                    <a:pt x="77041" y="0"/>
                  </a:cubicBezTo>
                  <a:close/>
                </a:path>
              </a:pathLst>
            </a:custGeom>
            <a:ln w="28575" cap="rnd">
              <a:solidFill>
                <a:srgbClr val="FEE6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61535" cy="378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912987" y="7721257"/>
            <a:ext cx="5345188" cy="1333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Facilidad de Recuperación ante Desastres</a:t>
            </a:r>
          </a:p>
          <a:p>
            <a:pPr algn="just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Smplifican el proceso de respaldo y recuperación ante desastres. Se crean instancias de las máquinas virtuales para permitir una rápida restauración en caso de fallas.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518463" y="7721257"/>
            <a:ext cx="5749541" cy="106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Flexibilidad y Escalabilidad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Ofrecen la capacidad de ajustar rápidamente los recursos asignados (como CPU, memoria y almacenamiento) según las necesidades cambiantes.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97077"/>
            <a:ext cx="14669707" cy="10287000"/>
            <a:chOff x="0" y="0"/>
            <a:chExt cx="3511725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11726" cy="2462566"/>
            </a:xfrm>
            <a:custGeom>
              <a:avLst/>
              <a:gdLst/>
              <a:ahLst/>
              <a:cxnLst/>
              <a:rect r="r" b="b" t="t" l="l"/>
              <a:pathLst>
                <a:path h="2462566" w="3511726">
                  <a:moveTo>
                    <a:pt x="3387265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387265" y="0"/>
                  </a:lnTo>
                  <a:cubicBezTo>
                    <a:pt x="3455845" y="0"/>
                    <a:pt x="3511726" y="55880"/>
                    <a:pt x="3511726" y="124460"/>
                  </a:cubicBezTo>
                  <a:lnTo>
                    <a:pt x="3511726" y="2338106"/>
                  </a:lnTo>
                  <a:cubicBezTo>
                    <a:pt x="3511726" y="2406686"/>
                    <a:pt x="3455845" y="2462566"/>
                    <a:pt x="3387265" y="24625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463740" y="8128046"/>
            <a:ext cx="1758444" cy="1785222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2685994" y="2469302"/>
            <a:ext cx="13045133" cy="1890925"/>
            <a:chOff x="0" y="0"/>
            <a:chExt cx="3435755" cy="4980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35755" cy="498021"/>
            </a:xfrm>
            <a:custGeom>
              <a:avLst/>
              <a:gdLst/>
              <a:ahLst/>
              <a:cxnLst/>
              <a:rect r="r" b="b" t="t" l="l"/>
              <a:pathLst>
                <a:path h="498021" w="3435755">
                  <a:moveTo>
                    <a:pt x="35015" y="0"/>
                  </a:moveTo>
                  <a:lnTo>
                    <a:pt x="3400740" y="0"/>
                  </a:lnTo>
                  <a:cubicBezTo>
                    <a:pt x="3420078" y="0"/>
                    <a:pt x="3435755" y="15677"/>
                    <a:pt x="3435755" y="35015"/>
                  </a:cubicBezTo>
                  <a:lnTo>
                    <a:pt x="3435755" y="463007"/>
                  </a:lnTo>
                  <a:cubicBezTo>
                    <a:pt x="3435755" y="482345"/>
                    <a:pt x="3420078" y="498021"/>
                    <a:pt x="3400740" y="498021"/>
                  </a:cubicBezTo>
                  <a:lnTo>
                    <a:pt x="35015" y="498021"/>
                  </a:lnTo>
                  <a:cubicBezTo>
                    <a:pt x="15677" y="498021"/>
                    <a:pt x="0" y="482345"/>
                    <a:pt x="0" y="463007"/>
                  </a:cubicBezTo>
                  <a:lnTo>
                    <a:pt x="0" y="35015"/>
                  </a:lnTo>
                  <a:cubicBezTo>
                    <a:pt x="0" y="15677"/>
                    <a:pt x="15677" y="0"/>
                    <a:pt x="35015" y="0"/>
                  </a:cubicBezTo>
                  <a:close/>
                </a:path>
              </a:pathLst>
            </a:custGeom>
            <a:ln w="28575" cap="rnd">
              <a:solidFill>
                <a:srgbClr val="FEE6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35755" cy="536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138778" y="4912677"/>
            <a:ext cx="6312866" cy="4696192"/>
          </a:xfrm>
          <a:custGeom>
            <a:avLst/>
            <a:gdLst/>
            <a:ahLst/>
            <a:cxnLst/>
            <a:rect r="r" b="b" t="t" l="l"/>
            <a:pathLst>
              <a:path h="4696192" w="6312866">
                <a:moveTo>
                  <a:pt x="0" y="0"/>
                </a:moveTo>
                <a:lnTo>
                  <a:pt x="6312867" y="0"/>
                </a:lnTo>
                <a:lnTo>
                  <a:pt x="6312867" y="4696193"/>
                </a:lnTo>
                <a:lnTo>
                  <a:pt x="0" y="4696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25" t="0" r="-1048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44778" y="1637086"/>
            <a:ext cx="10595156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Virtualización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95819" y="2776082"/>
            <a:ext cx="12387031" cy="1508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5"/>
              </a:lnSpc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término </a:t>
            </a:r>
            <a:r>
              <a:rPr lang="en-US" sz="1718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5" tooltip="https://www.redhat.com/es/topics/virtualization"/>
              </a:rPr>
              <a:t>virtualización</a:t>
            </a: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hace referencia a la tecnología que utiliza los recursos que están tradicionalmente vinculados al hardware. Gracias a que distribuye las funciones de una máquina física entre varios usuarios o entornos, posibilita el uso de toda la capacidad de la máquina.</a:t>
            </a:r>
          </a:p>
          <a:p>
            <a:pPr algn="just">
              <a:lnSpc>
                <a:spcPts val="2405"/>
              </a:lnSpc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Estos son algunos de los tipos de virtualización:</a:t>
            </a:r>
          </a:p>
          <a:p>
            <a:pPr algn="just">
              <a:lnSpc>
                <a:spcPts val="2405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8931849" y="4750317"/>
            <a:ext cx="6895318" cy="5089375"/>
            <a:chOff x="0" y="0"/>
            <a:chExt cx="1816051" cy="13404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16051" cy="1340412"/>
            </a:xfrm>
            <a:custGeom>
              <a:avLst/>
              <a:gdLst/>
              <a:ahLst/>
              <a:cxnLst/>
              <a:rect r="r" b="b" t="t" l="l"/>
              <a:pathLst>
                <a:path h="1340412" w="1816051">
                  <a:moveTo>
                    <a:pt x="66244" y="0"/>
                  </a:moveTo>
                  <a:lnTo>
                    <a:pt x="1749807" y="0"/>
                  </a:lnTo>
                  <a:cubicBezTo>
                    <a:pt x="1767376" y="0"/>
                    <a:pt x="1784225" y="6979"/>
                    <a:pt x="1796648" y="19402"/>
                  </a:cubicBezTo>
                  <a:cubicBezTo>
                    <a:pt x="1809072" y="31826"/>
                    <a:pt x="1816051" y="48675"/>
                    <a:pt x="1816051" y="66244"/>
                  </a:cubicBezTo>
                  <a:lnTo>
                    <a:pt x="1816051" y="1274168"/>
                  </a:lnTo>
                  <a:cubicBezTo>
                    <a:pt x="1816051" y="1310753"/>
                    <a:pt x="1786393" y="1340412"/>
                    <a:pt x="1749807" y="1340412"/>
                  </a:cubicBezTo>
                  <a:lnTo>
                    <a:pt x="66244" y="1340412"/>
                  </a:lnTo>
                  <a:cubicBezTo>
                    <a:pt x="29658" y="1340412"/>
                    <a:pt x="0" y="1310753"/>
                    <a:pt x="0" y="1274168"/>
                  </a:cubicBezTo>
                  <a:lnTo>
                    <a:pt x="0" y="66244"/>
                  </a:lnTo>
                  <a:cubicBezTo>
                    <a:pt x="0" y="29658"/>
                    <a:pt x="29658" y="0"/>
                    <a:pt x="66244" y="0"/>
                  </a:cubicBezTo>
                  <a:close/>
                </a:path>
              </a:pathLst>
            </a:custGeom>
            <a:ln w="28575" cap="rnd">
              <a:solidFill>
                <a:srgbClr val="FEE6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816051" cy="1378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144000" y="4884102"/>
            <a:ext cx="6445561" cy="516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0948" indent="-185474" lvl="1">
              <a:lnSpc>
                <a:spcPts val="2405"/>
              </a:lnSpc>
              <a:buFont typeface="Arial"/>
              <a:buChar char="•"/>
            </a:pPr>
            <a:r>
              <a:rPr lang="en-US" b="true" sz="171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</a:t>
            </a:r>
            <a:r>
              <a:rPr lang="en-US" b="true" sz="1718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irtualización</a:t>
            </a:r>
            <a:r>
              <a:rPr lang="en-US" b="true" sz="171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los datos:</a:t>
            </a: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permite que las empresas consoliden las fuentes de datos en un único suministro dinámico.</a:t>
            </a:r>
          </a:p>
          <a:p>
            <a:pPr algn="just" marL="370948" indent="-185474" lvl="1">
              <a:lnSpc>
                <a:spcPts val="2405"/>
              </a:lnSpc>
              <a:buFont typeface="Arial"/>
              <a:buChar char="•"/>
            </a:pPr>
            <a:r>
              <a:rPr lang="en-US" b="true" sz="171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Virtualización de las computadoras de escritorio</a:t>
            </a: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permite implementar y controlar diversos entornos de escritorio simulados a través de un administrador central.</a:t>
            </a:r>
          </a:p>
          <a:p>
            <a:pPr algn="just" marL="370948" indent="-185474" lvl="1">
              <a:lnSpc>
                <a:spcPts val="2405"/>
              </a:lnSpc>
              <a:buFont typeface="Arial"/>
              <a:buChar char="•"/>
            </a:pPr>
            <a:r>
              <a:rPr lang="en-US" b="true" sz="171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Virtualización de los servidores</a:t>
            </a: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permite que los administradores creen particiones en los servidores para que cumplan funciones específicas.</a:t>
            </a:r>
          </a:p>
          <a:p>
            <a:pPr algn="just" marL="370948" indent="-185474" lvl="1">
              <a:lnSpc>
                <a:spcPts val="2405"/>
              </a:lnSpc>
              <a:buFont typeface="Arial"/>
              <a:buChar char="•"/>
            </a:pPr>
            <a:r>
              <a:rPr lang="en-US" b="true" sz="171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Virtualización de los sistemas operativos</a:t>
            </a: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permite ejecutar varios sistemas operativos en una misma computadora.</a:t>
            </a:r>
          </a:p>
          <a:p>
            <a:pPr algn="just" marL="370948" indent="-185474" lvl="1">
              <a:lnSpc>
                <a:spcPts val="2405"/>
              </a:lnSpc>
              <a:buFont typeface="Arial"/>
              <a:buChar char="•"/>
            </a:pPr>
            <a:r>
              <a:rPr lang="en-US" b="true" sz="171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Virtualización de las funciones de red</a:t>
            </a: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separa las funciones de la red (como los servicios de directorio, el uso compartido de archivos y la configuración de IP) para distribuirlas entre los entornos.</a:t>
            </a:r>
          </a:p>
          <a:p>
            <a:pPr algn="just">
              <a:lnSpc>
                <a:spcPts val="2405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97077"/>
            <a:ext cx="14669707" cy="10287000"/>
            <a:chOff x="0" y="0"/>
            <a:chExt cx="3511725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11726" cy="2462566"/>
            </a:xfrm>
            <a:custGeom>
              <a:avLst/>
              <a:gdLst/>
              <a:ahLst/>
              <a:cxnLst/>
              <a:rect r="r" b="b" t="t" l="l"/>
              <a:pathLst>
                <a:path h="2462566" w="3511726">
                  <a:moveTo>
                    <a:pt x="3387265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387265" y="0"/>
                  </a:lnTo>
                  <a:cubicBezTo>
                    <a:pt x="3455845" y="0"/>
                    <a:pt x="3511726" y="55880"/>
                    <a:pt x="3511726" y="124460"/>
                  </a:cubicBezTo>
                  <a:lnTo>
                    <a:pt x="3511726" y="2338106"/>
                  </a:lnTo>
                  <a:cubicBezTo>
                    <a:pt x="3511726" y="2406686"/>
                    <a:pt x="3455845" y="2462566"/>
                    <a:pt x="3387265" y="24625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463740" y="8128046"/>
            <a:ext cx="1758444" cy="1785222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2685994" y="2469302"/>
            <a:ext cx="13045133" cy="2499184"/>
            <a:chOff x="0" y="0"/>
            <a:chExt cx="3435755" cy="6582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35755" cy="658221"/>
            </a:xfrm>
            <a:custGeom>
              <a:avLst/>
              <a:gdLst/>
              <a:ahLst/>
              <a:cxnLst/>
              <a:rect r="r" b="b" t="t" l="l"/>
              <a:pathLst>
                <a:path h="658221" w="3435755">
                  <a:moveTo>
                    <a:pt x="35015" y="0"/>
                  </a:moveTo>
                  <a:lnTo>
                    <a:pt x="3400740" y="0"/>
                  </a:lnTo>
                  <a:cubicBezTo>
                    <a:pt x="3420078" y="0"/>
                    <a:pt x="3435755" y="15677"/>
                    <a:pt x="3435755" y="35015"/>
                  </a:cubicBezTo>
                  <a:lnTo>
                    <a:pt x="3435755" y="623206"/>
                  </a:lnTo>
                  <a:cubicBezTo>
                    <a:pt x="3435755" y="642545"/>
                    <a:pt x="3420078" y="658221"/>
                    <a:pt x="3400740" y="658221"/>
                  </a:cubicBezTo>
                  <a:lnTo>
                    <a:pt x="35015" y="658221"/>
                  </a:lnTo>
                  <a:cubicBezTo>
                    <a:pt x="15677" y="658221"/>
                    <a:pt x="0" y="642545"/>
                    <a:pt x="0" y="623206"/>
                  </a:cubicBezTo>
                  <a:lnTo>
                    <a:pt x="0" y="35015"/>
                  </a:lnTo>
                  <a:cubicBezTo>
                    <a:pt x="0" y="15677"/>
                    <a:pt x="15677" y="0"/>
                    <a:pt x="35015" y="0"/>
                  </a:cubicBezTo>
                  <a:close/>
                </a:path>
              </a:pathLst>
            </a:custGeom>
            <a:ln w="28575" cap="rnd">
              <a:solidFill>
                <a:srgbClr val="FEE6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35755" cy="696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559884" y="5384340"/>
            <a:ext cx="6541189" cy="4084507"/>
          </a:xfrm>
          <a:custGeom>
            <a:avLst/>
            <a:gdLst/>
            <a:ahLst/>
            <a:cxnLst/>
            <a:rect r="r" b="b" t="t" l="l"/>
            <a:pathLst>
              <a:path h="4084507" w="6541189">
                <a:moveTo>
                  <a:pt x="0" y="0"/>
                </a:moveTo>
                <a:lnTo>
                  <a:pt x="6541189" y="0"/>
                </a:lnTo>
                <a:lnTo>
                  <a:pt x="6541189" y="4084507"/>
                </a:lnTo>
                <a:lnTo>
                  <a:pt x="0" y="40845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62" t="0" r="-6162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44778" y="1637086"/>
            <a:ext cx="10595156" cy="1216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Los hipervisores</a:t>
            </a: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95819" y="2776082"/>
            <a:ext cx="12387031" cy="1813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5"/>
              </a:lnSpc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Los hipervisores, también conocidos como supervisores de máquinas virtuales (VMM), son sistemas de software que crean y ejecutan </a:t>
            </a:r>
            <a:r>
              <a:rPr lang="en-US" sz="1718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5" tooltip="https://www.redhat.com/es/topics/virtualization/what-is-a-virtual-machine"/>
              </a:rPr>
              <a:t>máquinas virtuales (VM)</a:t>
            </a: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Estos separan el sistema operativo y los recursos de las máquinas virtuales para poder crearlas y gestionarlas.</a:t>
            </a:r>
          </a:p>
          <a:p>
            <a:pPr algn="just">
              <a:lnSpc>
                <a:spcPts val="2405"/>
              </a:lnSpc>
            </a:pPr>
          </a:p>
          <a:p>
            <a:pPr algn="just">
              <a:lnSpc>
                <a:spcPts val="2405"/>
              </a:lnSpc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hipervisor trata a los recursos (la CPU, la memoria y el almacenamiento, entre otros) como un conjunto de elementos que puede redistribuirse con facilidad entre los guests actuales o las máquinas virtuales nuevas.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97077"/>
            <a:ext cx="14840446" cy="10287000"/>
            <a:chOff x="0" y="0"/>
            <a:chExt cx="3552598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52598" cy="2462566"/>
            </a:xfrm>
            <a:custGeom>
              <a:avLst/>
              <a:gdLst/>
              <a:ahLst/>
              <a:cxnLst/>
              <a:rect r="r" b="b" t="t" l="l"/>
              <a:pathLst>
                <a:path h="2462566" w="3552598">
                  <a:moveTo>
                    <a:pt x="3428138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28138" y="0"/>
                  </a:lnTo>
                  <a:cubicBezTo>
                    <a:pt x="3496718" y="0"/>
                    <a:pt x="3552598" y="55880"/>
                    <a:pt x="3552598" y="124460"/>
                  </a:cubicBezTo>
                  <a:lnTo>
                    <a:pt x="3552598" y="2338106"/>
                  </a:lnTo>
                  <a:cubicBezTo>
                    <a:pt x="3552598" y="2406686"/>
                    <a:pt x="3496718" y="2462566"/>
                    <a:pt x="3428138" y="24625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463740" y="8128046"/>
            <a:ext cx="1758444" cy="1785222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6879777" y="2569891"/>
            <a:ext cx="9096787" cy="7194514"/>
            <a:chOff x="0" y="0"/>
            <a:chExt cx="2395862" cy="18948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95862" cy="1894851"/>
            </a:xfrm>
            <a:custGeom>
              <a:avLst/>
              <a:gdLst/>
              <a:ahLst/>
              <a:cxnLst/>
              <a:rect r="r" b="b" t="t" l="l"/>
              <a:pathLst>
                <a:path h="1894851" w="2395862">
                  <a:moveTo>
                    <a:pt x="50213" y="0"/>
                  </a:moveTo>
                  <a:lnTo>
                    <a:pt x="2345649" y="0"/>
                  </a:lnTo>
                  <a:cubicBezTo>
                    <a:pt x="2358966" y="0"/>
                    <a:pt x="2371738" y="5290"/>
                    <a:pt x="2381155" y="14707"/>
                  </a:cubicBezTo>
                  <a:cubicBezTo>
                    <a:pt x="2390571" y="24124"/>
                    <a:pt x="2395862" y="36895"/>
                    <a:pt x="2395862" y="50213"/>
                  </a:cubicBezTo>
                  <a:lnTo>
                    <a:pt x="2395862" y="1844639"/>
                  </a:lnTo>
                  <a:cubicBezTo>
                    <a:pt x="2395862" y="1872370"/>
                    <a:pt x="2373381" y="1894851"/>
                    <a:pt x="2345649" y="1894851"/>
                  </a:cubicBezTo>
                  <a:lnTo>
                    <a:pt x="50213" y="1894851"/>
                  </a:lnTo>
                  <a:cubicBezTo>
                    <a:pt x="22481" y="1894851"/>
                    <a:pt x="0" y="1872370"/>
                    <a:pt x="0" y="1844639"/>
                  </a:cubicBezTo>
                  <a:lnTo>
                    <a:pt x="0" y="50213"/>
                  </a:lnTo>
                  <a:cubicBezTo>
                    <a:pt x="0" y="36895"/>
                    <a:pt x="5290" y="24124"/>
                    <a:pt x="14707" y="14707"/>
                  </a:cubicBezTo>
                  <a:cubicBezTo>
                    <a:pt x="24124" y="5290"/>
                    <a:pt x="36895" y="0"/>
                    <a:pt x="50213" y="0"/>
                  </a:cubicBezTo>
                  <a:close/>
                </a:path>
              </a:pathLst>
            </a:custGeom>
            <a:ln w="28575" cap="rnd">
              <a:solidFill>
                <a:srgbClr val="FEE6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95862" cy="1932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013836" y="3970164"/>
            <a:ext cx="4624454" cy="4628734"/>
          </a:xfrm>
          <a:custGeom>
            <a:avLst/>
            <a:gdLst/>
            <a:ahLst/>
            <a:cxnLst/>
            <a:rect r="r" b="b" t="t" l="l"/>
            <a:pathLst>
              <a:path h="4628734" w="4624454">
                <a:moveTo>
                  <a:pt x="0" y="0"/>
                </a:moveTo>
                <a:lnTo>
                  <a:pt x="4624455" y="0"/>
                </a:lnTo>
                <a:lnTo>
                  <a:pt x="4624455" y="4628733"/>
                </a:lnTo>
                <a:lnTo>
                  <a:pt x="0" y="46287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069" t="-1803" r="-15946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44778" y="1637086"/>
            <a:ext cx="10595156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Tipos de hipervisores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54096" y="2860784"/>
            <a:ext cx="8748150" cy="7052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5"/>
              </a:lnSpc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 la virtualización, pueden usarse dos tipos diferentes de hipervisores: de tipo 1 y de tipo 2.</a:t>
            </a:r>
          </a:p>
          <a:p>
            <a:pPr algn="just">
              <a:lnSpc>
                <a:spcPts val="2405"/>
              </a:lnSpc>
            </a:pPr>
          </a:p>
          <a:p>
            <a:pPr algn="just">
              <a:lnSpc>
                <a:spcPts val="2685"/>
              </a:lnSpc>
            </a:pPr>
            <a:r>
              <a:rPr lang="en-US" sz="191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Tipo 1</a:t>
            </a:r>
          </a:p>
          <a:p>
            <a:pPr algn="just">
              <a:lnSpc>
                <a:spcPts val="2405"/>
              </a:lnSpc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hipervisor de tipo 1, también conocido como hipervisor original o dedicado (bare metal), se ejecuta directamente en el hardware del host para gestionar los sistemas operativos guest. </a:t>
            </a:r>
          </a:p>
          <a:p>
            <a:pPr algn="just">
              <a:lnSpc>
                <a:spcPts val="2405"/>
              </a:lnSpc>
            </a:pPr>
          </a:p>
          <a:p>
            <a:pPr algn="just">
              <a:lnSpc>
                <a:spcPts val="2405"/>
              </a:lnSpc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Ocupa el lugar de un sistema operativo host y programa los recursos de la máquina virtual directamente en el hardware. </a:t>
            </a:r>
          </a:p>
          <a:p>
            <a:pPr algn="just">
              <a:lnSpc>
                <a:spcPts val="2405"/>
              </a:lnSpc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Este tipo de hipervisor suele usarse en los centros de datos empresariales o en otros entornos basados en servidores.</a:t>
            </a:r>
          </a:p>
          <a:p>
            <a:pPr algn="just">
              <a:lnSpc>
                <a:spcPts val="2405"/>
              </a:lnSpc>
            </a:pPr>
          </a:p>
          <a:p>
            <a:pPr algn="just">
              <a:lnSpc>
                <a:spcPts val="2685"/>
              </a:lnSpc>
            </a:pPr>
            <a:r>
              <a:rPr lang="en-US" sz="191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Tipo 2</a:t>
            </a:r>
          </a:p>
          <a:p>
            <a:pPr algn="just">
              <a:lnSpc>
                <a:spcPts val="2405"/>
              </a:lnSpc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 hipervisor de tipo 2, también conocido como hipervisor alojado, se ejecuta en un sistema operativo convencional como una capa de software o aplicación.</a:t>
            </a:r>
          </a:p>
          <a:p>
            <a:pPr algn="just">
              <a:lnSpc>
                <a:spcPts val="2405"/>
              </a:lnSpc>
            </a:pPr>
          </a:p>
          <a:p>
            <a:pPr algn="just">
              <a:lnSpc>
                <a:spcPts val="2405"/>
              </a:lnSpc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 funcionamiento consiste en extraer los sistemas operativos guest del host. Los recursos de la máquina virtual se programan en un sistema operativo host, que luego se ejecuta en el hardware. </a:t>
            </a:r>
          </a:p>
          <a:p>
            <a:pPr algn="just">
              <a:lnSpc>
                <a:spcPts val="2405"/>
              </a:lnSpc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Este tipo de hipervisor es ideal para los usuarios individuales que desean ejecutar varios sistemas operativos en una computadora personal. </a:t>
            </a:r>
          </a:p>
          <a:p>
            <a:pPr algn="just">
              <a:lnSpc>
                <a:spcPts val="2405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97077"/>
            <a:ext cx="14840446" cy="10287000"/>
            <a:chOff x="0" y="0"/>
            <a:chExt cx="3552598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52598" cy="2462566"/>
            </a:xfrm>
            <a:custGeom>
              <a:avLst/>
              <a:gdLst/>
              <a:ahLst/>
              <a:cxnLst/>
              <a:rect r="r" b="b" t="t" l="l"/>
              <a:pathLst>
                <a:path h="2462566" w="3552598">
                  <a:moveTo>
                    <a:pt x="3428138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28138" y="0"/>
                  </a:lnTo>
                  <a:cubicBezTo>
                    <a:pt x="3496718" y="0"/>
                    <a:pt x="3552598" y="55880"/>
                    <a:pt x="3552598" y="124460"/>
                  </a:cubicBezTo>
                  <a:lnTo>
                    <a:pt x="3552598" y="2338106"/>
                  </a:lnTo>
                  <a:cubicBezTo>
                    <a:pt x="3552598" y="2406686"/>
                    <a:pt x="3496718" y="2462566"/>
                    <a:pt x="3428138" y="24625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463740" y="8128046"/>
            <a:ext cx="1758444" cy="1785222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7808172" y="2804657"/>
            <a:ext cx="8168392" cy="6688409"/>
            <a:chOff x="0" y="0"/>
            <a:chExt cx="2151346" cy="17615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1346" cy="1761556"/>
            </a:xfrm>
            <a:custGeom>
              <a:avLst/>
              <a:gdLst/>
              <a:ahLst/>
              <a:cxnLst/>
              <a:rect r="r" b="b" t="t" l="l"/>
              <a:pathLst>
                <a:path h="1761556" w="2151346">
                  <a:moveTo>
                    <a:pt x="55920" y="0"/>
                  </a:moveTo>
                  <a:lnTo>
                    <a:pt x="2095426" y="0"/>
                  </a:lnTo>
                  <a:cubicBezTo>
                    <a:pt x="2110257" y="0"/>
                    <a:pt x="2124481" y="5892"/>
                    <a:pt x="2134968" y="16378"/>
                  </a:cubicBezTo>
                  <a:cubicBezTo>
                    <a:pt x="2145455" y="26865"/>
                    <a:pt x="2151346" y="41089"/>
                    <a:pt x="2151346" y="55920"/>
                  </a:cubicBezTo>
                  <a:lnTo>
                    <a:pt x="2151346" y="1705637"/>
                  </a:lnTo>
                  <a:cubicBezTo>
                    <a:pt x="2151346" y="1736520"/>
                    <a:pt x="2126310" y="1761556"/>
                    <a:pt x="2095426" y="1761556"/>
                  </a:cubicBezTo>
                  <a:lnTo>
                    <a:pt x="55920" y="1761556"/>
                  </a:lnTo>
                  <a:cubicBezTo>
                    <a:pt x="41089" y="1761556"/>
                    <a:pt x="26865" y="1755665"/>
                    <a:pt x="16378" y="1745178"/>
                  </a:cubicBezTo>
                  <a:cubicBezTo>
                    <a:pt x="5892" y="1734691"/>
                    <a:pt x="0" y="1720468"/>
                    <a:pt x="0" y="1705637"/>
                  </a:cubicBezTo>
                  <a:lnTo>
                    <a:pt x="0" y="55920"/>
                  </a:lnTo>
                  <a:cubicBezTo>
                    <a:pt x="0" y="41089"/>
                    <a:pt x="5892" y="26865"/>
                    <a:pt x="16378" y="16378"/>
                  </a:cubicBezTo>
                  <a:cubicBezTo>
                    <a:pt x="26865" y="5892"/>
                    <a:pt x="41089" y="0"/>
                    <a:pt x="55920" y="0"/>
                  </a:cubicBezTo>
                  <a:close/>
                </a:path>
              </a:pathLst>
            </a:custGeom>
            <a:ln w="28575" cap="rnd">
              <a:solidFill>
                <a:srgbClr val="FEE6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51346" cy="1799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956797" y="4113361"/>
            <a:ext cx="5486084" cy="4014684"/>
          </a:xfrm>
          <a:custGeom>
            <a:avLst/>
            <a:gdLst/>
            <a:ahLst/>
            <a:cxnLst/>
            <a:rect r="r" b="b" t="t" l="l"/>
            <a:pathLst>
              <a:path h="4014684" w="5486084">
                <a:moveTo>
                  <a:pt x="0" y="0"/>
                </a:moveTo>
                <a:lnTo>
                  <a:pt x="5486084" y="0"/>
                </a:lnTo>
                <a:lnTo>
                  <a:pt x="5486084" y="4014685"/>
                </a:lnTo>
                <a:lnTo>
                  <a:pt x="0" y="4014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54" t="0" r="-2149" b="-88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18270" y="1635940"/>
            <a:ext cx="10595156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Configuración y Administración de Máquinas virtuales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82491" y="3223605"/>
            <a:ext cx="7819755" cy="516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5"/>
              </a:lnSpc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configuración y la administración de máquinas virtules (VM) es un proceso que implica la creacion, la configuracion, la gestión y el mantenimiento de los entornos virtuales. Se utiliza un software de gestión de VM, como VMWARE, vSphere o Oracle VirtualBox, para realizar estas tareas.</a:t>
            </a:r>
          </a:p>
          <a:p>
            <a:pPr algn="just">
              <a:lnSpc>
                <a:spcPts val="2405"/>
              </a:lnSpc>
            </a:pPr>
          </a:p>
          <a:p>
            <a:pPr algn="just">
              <a:lnSpc>
                <a:spcPts val="2405"/>
              </a:lnSpc>
            </a:pPr>
            <a:r>
              <a:rPr lang="en-US" sz="171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CREACION:</a:t>
            </a:r>
          </a:p>
          <a:p>
            <a:pPr algn="just">
              <a:lnSpc>
                <a:spcPts val="2405"/>
              </a:lnSpc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Definir las especificaciones de la máquina virtual, como el tamaño del disco duro, la memoria y la red.</a:t>
            </a:r>
          </a:p>
          <a:p>
            <a:pPr algn="just">
              <a:lnSpc>
                <a:spcPts val="2405"/>
              </a:lnSpc>
            </a:pPr>
          </a:p>
          <a:p>
            <a:pPr algn="just">
              <a:lnSpc>
                <a:spcPts val="2405"/>
              </a:lnSpc>
            </a:pPr>
            <a:r>
              <a:rPr lang="en-US" sz="171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CONFIGURACIÓN:</a:t>
            </a:r>
          </a:p>
          <a:p>
            <a:pPr algn="just">
              <a:lnSpc>
                <a:spcPts val="2405"/>
              </a:lnSpc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Instalar el sistema operativo y las aplicaciones necesarias para la máquina virtual.</a:t>
            </a:r>
          </a:p>
          <a:p>
            <a:pPr algn="just">
              <a:lnSpc>
                <a:spcPts val="2405"/>
              </a:lnSpc>
            </a:pPr>
          </a:p>
          <a:p>
            <a:pPr algn="just">
              <a:lnSpc>
                <a:spcPts val="2405"/>
              </a:lnSpc>
            </a:pPr>
            <a:r>
              <a:rPr lang="en-US" sz="171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GESTIÓN:</a:t>
            </a:r>
          </a:p>
          <a:p>
            <a:pPr algn="just">
              <a:lnSpc>
                <a:spcPts val="2405"/>
              </a:lnSpc>
            </a:pPr>
            <a:r>
              <a:rPr lang="en-US" sz="171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Supervisar el rendimiento, realizar copias de seguridad, actualizar el software y controlar el acceso a la máquina virtual.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97077"/>
            <a:ext cx="14840446" cy="10287000"/>
            <a:chOff x="0" y="0"/>
            <a:chExt cx="3552598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52598" cy="2462566"/>
            </a:xfrm>
            <a:custGeom>
              <a:avLst/>
              <a:gdLst/>
              <a:ahLst/>
              <a:cxnLst/>
              <a:rect r="r" b="b" t="t" l="l"/>
              <a:pathLst>
                <a:path h="2462566" w="3552598">
                  <a:moveTo>
                    <a:pt x="3428138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28138" y="0"/>
                  </a:lnTo>
                  <a:cubicBezTo>
                    <a:pt x="3496718" y="0"/>
                    <a:pt x="3552598" y="55880"/>
                    <a:pt x="3552598" y="124460"/>
                  </a:cubicBezTo>
                  <a:lnTo>
                    <a:pt x="3552598" y="2338106"/>
                  </a:lnTo>
                  <a:cubicBezTo>
                    <a:pt x="3552598" y="2406686"/>
                    <a:pt x="3496718" y="2462566"/>
                    <a:pt x="3428138" y="24625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463740" y="8128046"/>
            <a:ext cx="1758444" cy="1785222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2173776" y="2804657"/>
            <a:ext cx="13802788" cy="6688409"/>
            <a:chOff x="0" y="0"/>
            <a:chExt cx="3635302" cy="17615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35302" cy="1761556"/>
            </a:xfrm>
            <a:custGeom>
              <a:avLst/>
              <a:gdLst/>
              <a:ahLst/>
              <a:cxnLst/>
              <a:rect r="r" b="b" t="t" l="l"/>
              <a:pathLst>
                <a:path h="1761556" w="3635302">
                  <a:moveTo>
                    <a:pt x="33093" y="0"/>
                  </a:moveTo>
                  <a:lnTo>
                    <a:pt x="3602209" y="0"/>
                  </a:lnTo>
                  <a:cubicBezTo>
                    <a:pt x="3610986" y="0"/>
                    <a:pt x="3619403" y="3487"/>
                    <a:pt x="3625609" y="9693"/>
                  </a:cubicBezTo>
                  <a:cubicBezTo>
                    <a:pt x="3631816" y="15899"/>
                    <a:pt x="3635302" y="24316"/>
                    <a:pt x="3635302" y="33093"/>
                  </a:cubicBezTo>
                  <a:lnTo>
                    <a:pt x="3635302" y="1728464"/>
                  </a:lnTo>
                  <a:cubicBezTo>
                    <a:pt x="3635302" y="1746740"/>
                    <a:pt x="3620486" y="1761556"/>
                    <a:pt x="3602209" y="1761556"/>
                  </a:cubicBezTo>
                  <a:lnTo>
                    <a:pt x="33093" y="1761556"/>
                  </a:lnTo>
                  <a:cubicBezTo>
                    <a:pt x="14816" y="1761556"/>
                    <a:pt x="0" y="1746740"/>
                    <a:pt x="0" y="1728464"/>
                  </a:cubicBezTo>
                  <a:lnTo>
                    <a:pt x="0" y="33093"/>
                  </a:lnTo>
                  <a:cubicBezTo>
                    <a:pt x="0" y="14816"/>
                    <a:pt x="14816" y="0"/>
                    <a:pt x="33093" y="0"/>
                  </a:cubicBezTo>
                  <a:close/>
                </a:path>
              </a:pathLst>
            </a:custGeom>
            <a:ln w="28575" cap="rnd">
              <a:solidFill>
                <a:srgbClr val="FEE6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635302" cy="1799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448692" y="6228073"/>
            <a:ext cx="2667406" cy="2667406"/>
          </a:xfrm>
          <a:custGeom>
            <a:avLst/>
            <a:gdLst/>
            <a:ahLst/>
            <a:cxnLst/>
            <a:rect r="r" b="b" t="t" l="l"/>
            <a:pathLst>
              <a:path h="2667406" w="2667406">
                <a:moveTo>
                  <a:pt x="0" y="0"/>
                </a:moveTo>
                <a:lnTo>
                  <a:pt x="2667406" y="0"/>
                </a:lnTo>
                <a:lnTo>
                  <a:pt x="2667406" y="2667406"/>
                </a:lnTo>
                <a:lnTo>
                  <a:pt x="0" y="2667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91016" y="1670246"/>
            <a:ext cx="10595156" cy="69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Recursos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18270" y="3591774"/>
            <a:ext cx="10595156" cy="97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VM WARE: https://www.vmware.com/products/desktop-hypervisor/workstation-and-fusion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18270" y="5086350"/>
            <a:ext cx="10595156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VIRTUAL BOX: https://www.virtualbox.org/wiki/Downloads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46422" y="6383427"/>
            <a:ext cx="10595156" cy="147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WINDOWS 10 ISO</a:t>
            </a:r>
          </a:p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https://www.microsoft.com/en-us/software-</a:t>
            </a:r>
          </a:p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download/windows10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97077"/>
            <a:ext cx="14840446" cy="10287000"/>
            <a:chOff x="0" y="0"/>
            <a:chExt cx="3552598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52598" cy="2462566"/>
            </a:xfrm>
            <a:custGeom>
              <a:avLst/>
              <a:gdLst/>
              <a:ahLst/>
              <a:cxnLst/>
              <a:rect r="r" b="b" t="t" l="l"/>
              <a:pathLst>
                <a:path h="2462566" w="3552598">
                  <a:moveTo>
                    <a:pt x="3428138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28138" y="0"/>
                  </a:lnTo>
                  <a:cubicBezTo>
                    <a:pt x="3496718" y="0"/>
                    <a:pt x="3552598" y="55880"/>
                    <a:pt x="3552598" y="124460"/>
                  </a:cubicBezTo>
                  <a:lnTo>
                    <a:pt x="3552598" y="2338106"/>
                  </a:lnTo>
                  <a:cubicBezTo>
                    <a:pt x="3552598" y="2406686"/>
                    <a:pt x="3496718" y="2462566"/>
                    <a:pt x="3428138" y="24625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463740" y="8128046"/>
            <a:ext cx="1758444" cy="1785222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2014454" y="2836671"/>
            <a:ext cx="13802788" cy="6688409"/>
            <a:chOff x="0" y="0"/>
            <a:chExt cx="3635302" cy="17615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35302" cy="1761556"/>
            </a:xfrm>
            <a:custGeom>
              <a:avLst/>
              <a:gdLst/>
              <a:ahLst/>
              <a:cxnLst/>
              <a:rect r="r" b="b" t="t" l="l"/>
              <a:pathLst>
                <a:path h="1761556" w="3635302">
                  <a:moveTo>
                    <a:pt x="33093" y="0"/>
                  </a:moveTo>
                  <a:lnTo>
                    <a:pt x="3602209" y="0"/>
                  </a:lnTo>
                  <a:cubicBezTo>
                    <a:pt x="3610986" y="0"/>
                    <a:pt x="3619403" y="3487"/>
                    <a:pt x="3625609" y="9693"/>
                  </a:cubicBezTo>
                  <a:cubicBezTo>
                    <a:pt x="3631816" y="15899"/>
                    <a:pt x="3635302" y="24316"/>
                    <a:pt x="3635302" y="33093"/>
                  </a:cubicBezTo>
                  <a:lnTo>
                    <a:pt x="3635302" y="1728464"/>
                  </a:lnTo>
                  <a:cubicBezTo>
                    <a:pt x="3635302" y="1746740"/>
                    <a:pt x="3620486" y="1761556"/>
                    <a:pt x="3602209" y="1761556"/>
                  </a:cubicBezTo>
                  <a:lnTo>
                    <a:pt x="33093" y="1761556"/>
                  </a:lnTo>
                  <a:cubicBezTo>
                    <a:pt x="14816" y="1761556"/>
                    <a:pt x="0" y="1746740"/>
                    <a:pt x="0" y="1728464"/>
                  </a:cubicBezTo>
                  <a:lnTo>
                    <a:pt x="0" y="33093"/>
                  </a:lnTo>
                  <a:cubicBezTo>
                    <a:pt x="0" y="14816"/>
                    <a:pt x="14816" y="0"/>
                    <a:pt x="33093" y="0"/>
                  </a:cubicBezTo>
                  <a:close/>
                </a:path>
              </a:pathLst>
            </a:custGeom>
            <a:ln w="28575" cap="rnd">
              <a:solidFill>
                <a:srgbClr val="FEE6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635302" cy="1799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477362" y="3465003"/>
            <a:ext cx="4663042" cy="4663042"/>
          </a:xfrm>
          <a:custGeom>
            <a:avLst/>
            <a:gdLst/>
            <a:ahLst/>
            <a:cxnLst/>
            <a:rect r="r" b="b" t="t" l="l"/>
            <a:pathLst>
              <a:path h="4663042" w="4663042">
                <a:moveTo>
                  <a:pt x="0" y="0"/>
                </a:moveTo>
                <a:lnTo>
                  <a:pt x="4663043" y="0"/>
                </a:lnTo>
                <a:lnTo>
                  <a:pt x="4663043" y="4663043"/>
                </a:lnTo>
                <a:lnTo>
                  <a:pt x="0" y="46630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91016" y="1670246"/>
            <a:ext cx="10595156" cy="69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Requisitos mínimos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17735" y="3885020"/>
            <a:ext cx="8241242" cy="4006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PC:</a:t>
            </a:r>
          </a:p>
          <a:p>
            <a:pPr algn="l" marL="431817" indent="-215908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Procesador: CPU de doble núcleo</a:t>
            </a:r>
          </a:p>
          <a:p>
            <a:pPr algn="l" marL="431817" indent="-215908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RAM: 4 GB</a:t>
            </a:r>
          </a:p>
          <a:p>
            <a:pPr algn="l" marL="431817" indent="-215908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Espacio de almacenamiento: Al menos 50 GB de espacio libre</a:t>
            </a:r>
          </a:p>
          <a:p>
            <a:pPr algn="l" marL="431817" indent="-215908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operativo: Windows, macOS, Linux o Solaris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VM:</a:t>
            </a:r>
          </a:p>
          <a:p>
            <a:pPr algn="l" marL="431817" indent="-215908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Procesador: 1 GHz o superior </a:t>
            </a:r>
          </a:p>
          <a:p>
            <a:pPr algn="l" marL="431817" indent="-215908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RAM: 2 GB para 64 bits o 1 GB para 32 bits</a:t>
            </a:r>
          </a:p>
          <a:p>
            <a:pPr algn="l" marL="431817" indent="-215908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Almacenamiento: 20 GB para 64 bits o 16 GB para 32 bits</a:t>
            </a:r>
          </a:p>
          <a:p>
            <a:pPr algn="l">
              <a:lnSpc>
                <a:spcPts val="392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8794" y="318795"/>
            <a:ext cx="13359197" cy="8596685"/>
            <a:chOff x="0" y="0"/>
            <a:chExt cx="7880975" cy="50714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80976" cy="5071433"/>
            </a:xfrm>
            <a:custGeom>
              <a:avLst/>
              <a:gdLst/>
              <a:ahLst/>
              <a:cxnLst/>
              <a:rect r="r" b="b" t="t" l="l"/>
              <a:pathLst>
                <a:path h="5071433" w="7880976">
                  <a:moveTo>
                    <a:pt x="7756516" y="5071433"/>
                  </a:moveTo>
                  <a:lnTo>
                    <a:pt x="124460" y="5071433"/>
                  </a:lnTo>
                  <a:cubicBezTo>
                    <a:pt x="55880" y="5071433"/>
                    <a:pt x="0" y="5015553"/>
                    <a:pt x="0" y="494697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756516" y="0"/>
                  </a:lnTo>
                  <a:cubicBezTo>
                    <a:pt x="7825095" y="0"/>
                    <a:pt x="7880976" y="55880"/>
                    <a:pt x="7880976" y="124460"/>
                  </a:cubicBezTo>
                  <a:lnTo>
                    <a:pt x="7880976" y="4946973"/>
                  </a:lnTo>
                  <a:cubicBezTo>
                    <a:pt x="7880976" y="5015553"/>
                    <a:pt x="7825095" y="5071433"/>
                    <a:pt x="7756516" y="5071433"/>
                  </a:cubicBezTo>
                  <a:close/>
                </a:path>
              </a:pathLst>
            </a:custGeom>
            <a:solidFill>
              <a:srgbClr val="FEE600"/>
            </a:solidFill>
          </p:spPr>
        </p:sp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3968892" y="2764717"/>
            <a:ext cx="6391097" cy="3706836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4074333" y="4618135"/>
            <a:ext cx="3681741" cy="4090823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359988" y="9548520"/>
            <a:ext cx="689931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pc="140">
                <a:solidFill>
                  <a:srgbClr val="191919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PROGRAMACION DE COMPUTADORAS 1 (090)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94120" y="802568"/>
            <a:ext cx="6053144" cy="132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0"/>
              </a:lnSpc>
            </a:pPr>
            <a:r>
              <a:rPr lang="en-US" sz="4225" b="true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¿Tienes alguna pregunta?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7454" y="447558"/>
            <a:ext cx="1446290" cy="581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38"/>
              </a:lnSpc>
            </a:pPr>
            <a:r>
              <a:rPr lang="en-US" b="true" sz="3938">
                <a:solidFill>
                  <a:srgbClr val="000000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PDC1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8060" y="7766953"/>
            <a:ext cx="804865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925" b="true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Espero, que hayas aprendido algo nuevo.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DAGn9UQKZqU</dc:identifier>
  <dcterms:modified xsi:type="dcterms:W3CDTF">2011-08-01T06:04:30Z</dcterms:modified>
  <cp:revision>1</cp:revision>
  <dc:title>Lab PDC1 Presentacion 2 2S2026</dc:title>
</cp:coreProperties>
</file>