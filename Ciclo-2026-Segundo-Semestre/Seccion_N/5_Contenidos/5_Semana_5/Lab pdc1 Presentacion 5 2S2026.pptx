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7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8" d="100"/>
          <a:sy n="88" d="100"/>
        </p:scale>
        <p:origin x="46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87" y="952500"/>
            <a:ext cx="1190625" cy="523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8700" y="2348188"/>
            <a:ext cx="1112139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0" i="0" u="none">
                <a:solidFill>
                  <a:srgbClr val="F8FAFC"/>
                </a:solidFill>
                <a:latin typeface="Poppins ExtraBold"/>
              </a:rPr>
              <a:t>Diseño de </a:t>
            </a:r>
            <a:r>
              <a:t>
</a:t>
            </a:r>
            <a:r>
              <a:rPr sz="4800" b="0" i="0" u="none">
                <a:solidFill>
                  <a:srgbClr val="A3E635"/>
                </a:solidFill>
                <a:latin typeface="Poppins ExtraBold"/>
              </a:rPr>
              <a:t>Bases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061817"/>
            <a:ext cx="105918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F8FAFC"/>
                </a:solidFill>
                <a:latin typeface="Inter SemiBold"/>
              </a:rPr>
              <a:t>Billy Chamale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013" y="4617987"/>
            <a:ext cx="105918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Laboratorio de Programación de Computadoras I, Sección 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5174158"/>
            <a:ext cx="105918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Día, Fecha: Martes, 18/08/2026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5730329"/>
            <a:ext cx="10591800" cy="7117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 dirty="0">
                <a:solidFill>
                  <a:srgbClr val="94A3B8"/>
                </a:solidFill>
                <a:latin typeface="Inter"/>
              </a:rPr>
              <a:t>Hora de </a:t>
            </a:r>
            <a:r>
              <a:rPr sz="1800" b="0" i="0" u="none" dirty="0" err="1">
                <a:solidFill>
                  <a:srgbClr val="94A3B8"/>
                </a:solidFill>
                <a:latin typeface="Inter"/>
              </a:rPr>
              <a:t>inicio</a:t>
            </a:r>
            <a:r>
              <a:rPr sz="1800" b="0" i="0" u="none" dirty="0">
                <a:solidFill>
                  <a:srgbClr val="94A3B8"/>
                </a:solidFill>
                <a:latin typeface="Inter"/>
              </a:rPr>
              <a:t>: 1</a:t>
            </a:r>
            <a:r>
              <a:rPr lang="en-US" sz="1800" b="0" i="0" u="none" dirty="0">
                <a:solidFill>
                  <a:srgbClr val="94A3B8"/>
                </a:solidFill>
                <a:latin typeface="Inter"/>
              </a:rPr>
              <a:t>2:20</a:t>
            </a:r>
          </a:p>
          <a:p>
            <a:pPr algn="l">
              <a:lnSpc>
                <a:spcPts val="2879"/>
              </a:lnSpc>
            </a:pPr>
            <a:endParaRPr sz="18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3204269"/>
            <a:ext cx="1143000" cy="5715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740830" y="3642419"/>
            <a:ext cx="2710338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Poppins"/>
              </a:rPr>
              <a:t>Clase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24150" y="5166419"/>
            <a:ext cx="6743700" cy="853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A3E635"/>
                </a:solidFill>
                <a:latin typeface="Inter"/>
              </a:rPr>
              <a:t>PRÁCTICA DE PROGRAMACIÓN DE COMPUTADORAS</a:t>
            </a:r>
            <a:r>
              <a:t>
</a:t>
            </a:r>
            <a:r>
              <a:rPr sz="2100" b="0" i="0" u="none">
                <a:solidFill>
                  <a:srgbClr val="A3E635"/>
                </a:solidFill>
                <a:latin typeface="Inter"/>
              </a:rPr>
              <a:t> SECCIÓN P - CÓDIGO 090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928812"/>
            <a:ext cx="5238750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6300" y="1928812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1. Foro de la Semana: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Discusión sobre modelos de datos.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2728912"/>
            <a:ext cx="4933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2. Proyecto 1: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Revisión del enunciado y lineamientos.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224212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3. Contenido: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Fundamentos de Diseño de Bases de Datos y Modelo 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4024312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4. Tarea 3: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Asignación y explicación de la práctica en Access.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47862"/>
            <a:ext cx="5200650" cy="396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81200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81300"/>
            <a:ext cx="1428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76600"/>
            <a:ext cx="1714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076700"/>
            <a:ext cx="19050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Agenda de la Clase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3434655"/>
            <a:ext cx="1143000" cy="5715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07568" y="1967805"/>
            <a:ext cx="3860482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 err="1">
                <a:solidFill>
                  <a:srgbClr val="F8FAFC"/>
                </a:solidFill>
                <a:latin typeface="Poppins"/>
              </a:rPr>
              <a:t>Contenido</a:t>
            </a:r>
            <a:endParaRPr sz="5400" b="1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24237" y="4607096"/>
            <a:ext cx="534352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A3E635"/>
                </a:solidFill>
                <a:latin typeface="Inter"/>
              </a:rPr>
              <a:t>Fundamentos y Diseño de Bases de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1675" y="1510754"/>
            <a:ext cx="8248650" cy="4160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sz="3900" b="0" i="0" u="none">
                <a:solidFill>
                  <a:srgbClr val="F8FAFC"/>
                </a:solidFill>
                <a:latin typeface="Poppins SemiBold"/>
              </a:rPr>
              <a:t>Una base de datos es una recopilación organizada de información o datos estructurados, almacenada electrónicamente en un sistema informático.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7462" y="6052095"/>
            <a:ext cx="7077075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94A3B8"/>
                </a:solidFill>
                <a:latin typeface="Inter"/>
              </a:rPr>
              <a:t>Permite acceder, gestionar y actualizar los datos fácilmente.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9675" y="1891754"/>
            <a:ext cx="4191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A3E635"/>
                </a:solidFill>
                <a:latin typeface="Poppins SemiBold"/>
              </a:rPr>
              <a:t>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63225" y="5861593"/>
            <a:ext cx="419100" cy="996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A3E635"/>
                </a:solidFill>
                <a:latin typeface="Poppins SemiBold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275" y="510629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300" b="1" i="0" u="none">
                <a:solidFill>
                  <a:srgbClr val="F8FAFC"/>
                </a:solidFill>
                <a:latin typeface="Poppins"/>
              </a:rPr>
              <a:t>¿Qué es una Base de Datos?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09787"/>
            <a:ext cx="5238750" cy="36385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09787"/>
            <a:ext cx="5238750" cy="3638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500312"/>
            <a:ext cx="468058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A3E635"/>
                </a:solidFill>
                <a:latin typeface="Poppins SemiBold"/>
              </a:rPr>
              <a:t>1. Bases de Datos Relacionales (SQL)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643312"/>
            <a:ext cx="44577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Almacenan datos en tablas estructuradas (filas y columnas) que se relacionan entre sí. Utilizan un esquema fijo. El diseño conceptual estándar se basa en el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Modelo Entidad-Relación (ER)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propuesto por Peter Chen.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2275" y="2500312"/>
            <a:ext cx="468058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A3E635"/>
                </a:solidFill>
                <a:latin typeface="Poppins SemiBold"/>
              </a:rPr>
              <a:t>2. Bases de Datos No Relacionales (NoSQL)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3643312"/>
            <a:ext cx="44577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Almacenan datos en formatos flexibles como documentos (JSON), grafos o clave-valor. Ideales para datos no estructurados o esquemas dinámicos, pero no utilizan diagramas ER clásicos para su modelado.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Tipos de Diseño de Bases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62125"/>
            <a:ext cx="3492549" cy="43338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762125"/>
            <a:ext cx="3492549" cy="4333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762125"/>
            <a:ext cx="3492549" cy="4333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943225"/>
            <a:ext cx="141017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Visualizar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686175"/>
            <a:ext cx="27114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Permite a los analistas y desarrolladores obtener una vista clara y lógica de cómo se estructurará la información en el sistema antes de programar.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0324" y="2943225"/>
            <a:ext cx="110013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Diseñar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0324" y="3686175"/>
            <a:ext cx="27114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Ayuda a identificar errores estructurales, planificar las tablas y definir correctamente la cardinalidad para mantener la integridad referencial.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8624" y="2943225"/>
            <a:ext cx="181022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Documentar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8624" y="3686175"/>
            <a:ext cx="27114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Funciona como el "plano arquitectónico" universal. Facilita la comunicación entre el equipo técnico y las partes interesadas del negocio.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200275"/>
            <a:ext cx="51435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0324" y="220027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624" y="2200275"/>
            <a:ext cx="40005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Propósito del Diagrama 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928812"/>
            <a:ext cx="5238750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19312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Desarrollado por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Peter Chen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en 1976, es el estándar conceptual para el diseño de bases de datos relacionales. Hoy en día, sus principios siguen vigentes, evolucionando a notaciones modernas.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300" y="3529012"/>
            <a:ext cx="4933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Entidades: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Objetos del mundo real (Ej. Cliente).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4024312"/>
            <a:ext cx="4933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Atributos: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Propiedades de la entidad (Ej. Nombre).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4519612"/>
            <a:ext cx="4933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Relaciones: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Cómo interactúan las entidades entre sí.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47862"/>
            <a:ext cx="5200650" cy="396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81400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76700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0"/>
            <a:ext cx="17145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El Modelo Entidad-Relación (ER)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14525"/>
            <a:ext cx="5381625" cy="40290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14525"/>
            <a:ext cx="5381625" cy="4029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095625"/>
            <a:ext cx="309038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¿Qué es una Entidad?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838575"/>
            <a:ext cx="46005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Es cualquier objeto, persona, lugar o evento del cual necesitamos almacenar información. Físicamente se convertirá en una tabla. </a:t>
            </a:r>
            <a:r>
              <a:t>
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Ejemplos: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Estudiante, Producto, Factura.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95625"/>
            <a:ext cx="297037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¿Qué es un Atributo?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838575"/>
            <a:ext cx="460057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Son los datos o características específicas que describen a la entidad. Serán las columnas de nuestra tabla.</a:t>
            </a:r>
            <a:r>
              <a:t>
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Ejemplos: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Carnet, Precio, Fecha de Emisión.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352675"/>
            <a:ext cx="40005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35267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Comprendiendo los Componentes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928812"/>
            <a:ext cx="5238750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19312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Las bases de datos relacionales obtienen su poder al conectar entidades mediante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relaciones lógicas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919412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Una relación describe el evento que asocia dos o más entidades. Por ejemplo: Un </a:t>
            </a:r>
            <a:r>
              <a:rPr sz="1500" b="0" i="1" u="none">
                <a:solidFill>
                  <a:srgbClr val="CBD5E1"/>
                </a:solidFill>
                <a:latin typeface="Inter"/>
              </a:rPr>
              <a:t>Estudiante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(Entidad)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"se inscribe en"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(Relación) un </a:t>
            </a:r>
            <a:r>
              <a:rPr sz="1500" b="0" i="1" u="none">
                <a:solidFill>
                  <a:srgbClr val="CBD5E1"/>
                </a:solidFill>
                <a:latin typeface="Inter"/>
              </a:rPr>
              <a:t>Curso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(Entidad).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24312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La forma en que se conectan numéricamente se define mediante la cardinalidad.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47862"/>
            <a:ext cx="5200650" cy="396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Relaciones entre Entidades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62100"/>
            <a:ext cx="3492549" cy="47339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562100"/>
            <a:ext cx="3492549" cy="4733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562100"/>
            <a:ext cx="3492549" cy="4733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743200"/>
            <a:ext cx="209026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Uno a Uno (1:1)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86150"/>
            <a:ext cx="27114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Un registro de la Entidad A se relaciona únicamente con un registro de la Entidad B.</a:t>
            </a:r>
            <a:r>
              <a:t>
</a:t>
            </a:r>
            <a:r>
              <a:rPr sz="1500" b="0" i="1" u="none">
                <a:solidFill>
                  <a:srgbClr val="CBD5E1"/>
                </a:solidFill>
                <a:latin typeface="Inter"/>
              </a:rPr>
              <a:t>Ej: Un "Ciudadano" tiene un único "DPI".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0324" y="2743200"/>
            <a:ext cx="2770346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F8FAFC"/>
                </a:solidFill>
                <a:latin typeface="Poppins SemiBold"/>
              </a:rPr>
              <a:t>Uno a Muchos (1:N)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0324" y="3486150"/>
            <a:ext cx="27114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Un registro de A puede relacionarse con múltiples de B, pero B solo con uno de A.</a:t>
            </a:r>
            <a:r>
              <a:t>
</a:t>
            </a:r>
            <a:r>
              <a:rPr sz="1500" b="0" i="1" u="none">
                <a:solidFill>
                  <a:srgbClr val="CBD5E1"/>
                </a:solidFill>
                <a:latin typeface="Inter"/>
              </a:rPr>
              <a:t>Ej: Un "Cliente" puede tener muchas "Facturas".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8624" y="2743200"/>
            <a:ext cx="2847074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Muchos a Muchos (M:N)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8624" y="3886200"/>
            <a:ext cx="27114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Múltiples registros de A se relacionan con múltiples de B. Requiere una tabla intermedia.</a:t>
            </a:r>
            <a:r>
              <a:t>
</a:t>
            </a:r>
            <a:r>
              <a:rPr sz="1500" b="0" i="1" u="none">
                <a:solidFill>
                  <a:srgbClr val="CBD5E1"/>
                </a:solidFill>
                <a:latin typeface="Inter"/>
              </a:rPr>
              <a:t>Ej: "Estudiantes" y "Cursos".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000250"/>
            <a:ext cx="2286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675" y="2000250"/>
            <a:ext cx="2286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0324" y="2000250"/>
            <a:ext cx="2286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8974" y="2000250"/>
            <a:ext cx="342900" cy="457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8624" y="2000250"/>
            <a:ext cx="40005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8724" y="2000250"/>
            <a:ext cx="3429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561975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Cardinalidad de las Relaciones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762000"/>
            <a:ext cx="5300662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8FAFC"/>
                </a:solidFill>
                <a:latin typeface="Poppins"/>
              </a:rPr>
              <a:t>Notación </a:t>
            </a:r>
            <a:r>
              <a:t>
</a:t>
            </a:r>
            <a:r>
              <a:rPr sz="3300" b="1" i="0" u="none">
                <a:solidFill>
                  <a:srgbClr val="A3E635"/>
                </a:solidFill>
                <a:latin typeface="Poppins"/>
              </a:rPr>
              <a:t>Pata de Gallo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941736"/>
            <a:ext cx="50482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La notación pata de gallo (Crow's Foot) es el estándar actual en la industria para diagramas de bases de datos relacionales.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175819"/>
            <a:ext cx="50482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diferencia del modelo original de Chen con rombos, utiliza líneas y símbolos simples en los extremos para representar la cardinalidad y obligatoriedad de forma limpia.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66887"/>
            <a:ext cx="5238750" cy="43243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6887"/>
            <a:ext cx="5238750" cy="4324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157412"/>
            <a:ext cx="468058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A3E635"/>
                </a:solidFill>
                <a:latin typeface="Poppins SemiBold"/>
              </a:rPr>
              <a:t>Llave Primaria (Primary Key - PK)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3300412"/>
            <a:ext cx="4457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Es un atributo o conjunto de atributos que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identifica de manera única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cada fila en una tabla. No puede contener valores nulos ni repetirse.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4900612"/>
            <a:ext cx="44577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CBD5E1"/>
                </a:solidFill>
                <a:latin typeface="Inter"/>
              </a:rPr>
              <a:t>Ejemplo: El número de carnet de un estudiante o el código de un producto.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2852737"/>
            <a:ext cx="46805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A3E635"/>
                </a:solidFill>
                <a:latin typeface="Poppins SemiBold"/>
              </a:rPr>
              <a:t>Llave </a:t>
            </a:r>
            <a:r>
              <a:rPr sz="2100" b="0" i="0" u="none" dirty="0" err="1">
                <a:solidFill>
                  <a:srgbClr val="A3E635"/>
                </a:solidFill>
                <a:latin typeface="Poppins SemiBold"/>
              </a:rPr>
              <a:t>Foránea</a:t>
            </a:r>
            <a:r>
              <a:rPr sz="2100" b="0" i="0" u="none" dirty="0">
                <a:solidFill>
                  <a:srgbClr val="A3E635"/>
                </a:solidFill>
                <a:latin typeface="Poppins SemiBold"/>
              </a:rPr>
              <a:t> (Foreign Key - FK)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3595687"/>
            <a:ext cx="44577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Es un campo en una tabla que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hace referencia a la Llave Primaria de otra tabla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. Es el mecanismo técnico que crea físicamente la relación entre entidades y asegura la integridad referencial.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Estableciendo Vínculos: Las Llaves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3434655"/>
            <a:ext cx="1143000" cy="57150"/>
          </a:xfrm>
          <a:prstGeom prst="rect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95662" y="3872805"/>
            <a:ext cx="54006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Poppins"/>
              </a:rPr>
              <a:t>Normalización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2400" y="5396805"/>
            <a:ext cx="426720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0" i="0" u="none">
                <a:solidFill>
                  <a:srgbClr val="A3E635"/>
                </a:solidFill>
                <a:latin typeface="Inter"/>
              </a:rPr>
              <a:t>Optimizando el diseño estructural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62125"/>
            <a:ext cx="3492549" cy="43338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762125"/>
            <a:ext cx="3492549" cy="4333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762125"/>
            <a:ext cx="3492549" cy="43338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943225"/>
            <a:ext cx="194024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1NF (Primera)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686175"/>
            <a:ext cx="27114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Elimina grupos repetitivos. Todos los atributos deben ser atómicos (indivisibles). Cada tabla debe tener una llave primaria y cada celda un solo valor.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0324" y="2943225"/>
            <a:ext cx="215026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2NF (Segunda)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0324" y="3686175"/>
            <a:ext cx="2711499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Cumple 1NF. Todos los atributos que no son clave deben depender completamente de la llave primaria entera (sin dependencias parciales).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18624" y="2943225"/>
            <a:ext cx="196024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3NF (Tercera)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8624" y="3686175"/>
            <a:ext cx="27114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Cumple 2NF. Los atributos no clave no pueden depender de otros atributos no clave (eliminación de dependencias transitivas).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200275"/>
            <a:ext cx="40005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0324" y="2200275"/>
            <a:ext cx="51435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624" y="2200275"/>
            <a:ext cx="40005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Las 3 Formas Normales Básicas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928812"/>
            <a:ext cx="5238750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119312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La normalización es el proceso de organizar los datos en una base de datos relacional para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reducir la redundancia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de datos y asegurar la dependencia lógica de los mismos.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529012"/>
            <a:ext cx="523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Objetivos principales: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4024312"/>
            <a:ext cx="4933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Minimizar el espacio de almacenamiento.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4519612"/>
            <a:ext cx="4933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Evitar anomalías de inserción, actualización o borrado.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5319712"/>
            <a:ext cx="4933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Simplificar el modelo de datos estructurado.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47862"/>
            <a:ext cx="5200650" cy="396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76700"/>
            <a:ext cx="952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572000"/>
            <a:ext cx="9525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72100"/>
            <a:ext cx="952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¿Qué es la Normalización?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1365051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Tras diseñar y normalizar, obtenemos tablas robustas conectadas por llaves (PK / FK):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1860351"/>
            <a:ext cx="11049000" cy="4823221"/>
          </a:xfrm>
          <a:prstGeom prst="roundRect">
            <a:avLst>
              <a:gd name="adj" fmla="val 0"/>
            </a:avLst>
          </a:prstGeom>
          <a:solidFill>
            <a:srgbClr val="33415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30351"/>
              </p:ext>
            </p:extLst>
          </p:nvPr>
        </p:nvGraphicFramePr>
        <p:xfrm>
          <a:off x="471055" y="1245991"/>
          <a:ext cx="11149445" cy="5437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8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87516">
                <a:tc>
                  <a:txBody>
                    <a:bodyPr/>
                    <a:lstStyle/>
                    <a:p>
                      <a:pPr algn="l"/>
                      <a:r>
                        <a:rPr sz="1650" b="1" i="0" u="none" dirty="0" err="1">
                          <a:solidFill>
                            <a:srgbClr val="A3E635"/>
                          </a:solidFill>
                          <a:latin typeface="Inter"/>
                        </a:rPr>
                        <a:t>Entidad</a:t>
                      </a:r>
                      <a:endParaRPr sz="1650" b="1" i="0" u="none" dirty="0">
                        <a:solidFill>
                          <a:srgbClr val="A3E63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A3E635"/>
                          </a:solidFill>
                          <a:latin typeface="Inter"/>
                        </a:rPr>
                        <a:t>Llave Primaria (PK)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A3E635"/>
                          </a:solidFill>
                          <a:latin typeface="Inter"/>
                        </a:rPr>
                        <a:t>Atributos Descriptivos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A3E635"/>
                          </a:solidFill>
                          <a:latin typeface="Inter"/>
                        </a:rPr>
                        <a:t>Llave Foránea (FK)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7516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chemeClr val="tx1"/>
                          </a:solidFill>
                          <a:latin typeface="Inter"/>
                        </a:rPr>
                        <a:t>CLIENTES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chemeClr val="tx1"/>
                          </a:solidFill>
                          <a:latin typeface="Inter"/>
                        </a:rPr>
                        <a:t>ID_Cliente (INT)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Nombre, </a:t>
                      </a:r>
                      <a:r>
                        <a:rPr sz="15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Dirección</a:t>
                      </a:r>
                      <a:r>
                        <a:rPr sz="15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, </a:t>
                      </a:r>
                      <a:r>
                        <a:rPr sz="15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Teléfono</a:t>
                      </a:r>
                      <a:endParaRPr sz="1500" b="0" i="0" u="none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7516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chemeClr val="tx1"/>
                          </a:solidFill>
                          <a:latin typeface="Inter"/>
                        </a:rPr>
                        <a:t>PRODUCTOS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chemeClr val="tx1"/>
                          </a:solidFill>
                          <a:latin typeface="Inter"/>
                        </a:rPr>
                        <a:t>ID_Producto (INT)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Descripción</a:t>
                      </a:r>
                      <a:r>
                        <a:rPr sz="15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, </a:t>
                      </a:r>
                      <a:r>
                        <a:rPr sz="15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Precio</a:t>
                      </a:r>
                      <a:r>
                        <a:rPr sz="15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, Stock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chemeClr val="tx1"/>
                          </a:solidFill>
                          <a:latin typeface="Inter"/>
                        </a:rPr>
                        <a:t>-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7516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chemeClr val="tx1"/>
                          </a:solidFill>
                          <a:latin typeface="Inter"/>
                        </a:rPr>
                        <a:t>FACTURAS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chemeClr val="tx1"/>
                          </a:solidFill>
                          <a:latin typeface="Inter"/>
                        </a:rPr>
                        <a:t>No_Factura (INT)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chemeClr val="tx1"/>
                          </a:solidFill>
                          <a:latin typeface="Inter"/>
                        </a:rPr>
                        <a:t>Fecha, 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chemeClr val="tx1"/>
                          </a:solidFill>
                          <a:latin typeface="Inter"/>
                        </a:rPr>
                        <a:t>ID_Cliente (Ref: CLIENTES)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7517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chemeClr val="tx1"/>
                          </a:solidFill>
                          <a:latin typeface="Inter"/>
                        </a:rPr>
                        <a:t>DETALLE_FACTURA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chemeClr val="tx1"/>
                          </a:solidFill>
                          <a:latin typeface="Inter"/>
                        </a:rPr>
                        <a:t>ID_Detalle (INT)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chemeClr val="tx1"/>
                          </a:solidFill>
                          <a:latin typeface="Inter"/>
                        </a:rPr>
                        <a:t>Cantidad, Subtotal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No_Factura</a:t>
                      </a:r>
                      <a:r>
                        <a:rPr sz="1500" b="0" i="0" u="none" dirty="0">
                          <a:solidFill>
                            <a:schemeClr val="tx1"/>
                          </a:solidFill>
                          <a:latin typeface="Inter"/>
                        </a:rPr>
                        <a:t>, </a:t>
                      </a:r>
                      <a:r>
                        <a:rPr sz="1500" b="0" i="0" u="none" dirty="0" err="1">
                          <a:solidFill>
                            <a:schemeClr val="tx1"/>
                          </a:solidFill>
                          <a:latin typeface="Inter"/>
                        </a:rPr>
                        <a:t>ID_Producto</a:t>
                      </a:r>
                      <a:endParaRPr sz="1500" b="0" i="0" u="none" dirty="0">
                        <a:solidFill>
                          <a:schemeClr val="tx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983110"/>
            <a:ext cx="24003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71800" y="2983110"/>
            <a:ext cx="2674292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46092" y="2983110"/>
            <a:ext cx="3262312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08405" y="2983110"/>
            <a:ext cx="2712094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754635"/>
            <a:ext cx="24003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71800" y="3754635"/>
            <a:ext cx="2674292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46092" y="3754635"/>
            <a:ext cx="3262312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08405" y="3754635"/>
            <a:ext cx="2712094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526160"/>
            <a:ext cx="24003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71800" y="4526160"/>
            <a:ext cx="2674292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46092" y="4526160"/>
            <a:ext cx="3262312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08405" y="4526160"/>
            <a:ext cx="2712094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602485"/>
            <a:ext cx="2400300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71800" y="5602485"/>
            <a:ext cx="2674292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46092" y="5602485"/>
            <a:ext cx="3262312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08405" y="5602485"/>
            <a:ext cx="2712094" cy="9525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" y="174426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Ejemplo: Entidades Resultantes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928812"/>
            <a:ext cx="5238750" cy="4000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28812"/>
            <a:ext cx="5500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Asignación de la Tarea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519362"/>
            <a:ext cx="5238750" cy="589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Creación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de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una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base de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datos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práctica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500" b="0" i="0" u="none" dirty="0" err="1">
                <a:solidFill>
                  <a:srgbClr val="CBD5E1"/>
                </a:solidFill>
                <a:latin typeface="Inter"/>
              </a:rPr>
              <a:t>utilizando</a:t>
            </a:r>
            <a:r>
              <a:rPr lang="en-US" sz="1500" b="0" i="0" u="none" dirty="0">
                <a:solidFill>
                  <a:srgbClr val="CBD5E1"/>
                </a:solidFill>
                <a:latin typeface="Inter"/>
              </a:rPr>
              <a:t> Draw.io</a:t>
            </a:r>
          </a:p>
          <a:p>
            <a:pPr algn="l">
              <a:lnSpc>
                <a:spcPts val="2400"/>
              </a:lnSpc>
            </a:pPr>
            <a:endParaRPr sz="15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3814762"/>
            <a:ext cx="5500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FAFC"/>
                </a:solidFill>
                <a:latin typeface="Poppins SemiBold"/>
              </a:rPr>
              <a:t>Enunciado del Proyecto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405312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Se publica el enunciado del Proyecto 1. Requiere la aplicación de diseño relacional, normalización y consultas básicas utilizando las herramientas de ofimática.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47862"/>
            <a:ext cx="5200650" cy="3962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Actividades del Laboratorio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21971" y="1853738"/>
            <a:ext cx="7921336" cy="36671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s-GT" sz="2000" dirty="0">
                <a:solidFill>
                  <a:schemeClr val="bg1"/>
                </a:solidFill>
              </a:rPr>
              <a:t>Se requiere diseñar una base de datos para un centro de alto rendimiento. El sistema debe registrar a los </a:t>
            </a:r>
            <a:r>
              <a:rPr lang="es-GT" sz="2000" b="1" dirty="0">
                <a:solidFill>
                  <a:schemeClr val="bg1"/>
                </a:solidFill>
              </a:rPr>
              <a:t>Atletas</a:t>
            </a:r>
            <a:r>
              <a:rPr lang="es-GT" sz="2000" dirty="0">
                <a:solidFill>
                  <a:schemeClr val="bg1"/>
                </a:solidFill>
              </a:rPr>
              <a:t> (identificados por un DPI, nombre, peso actual y su objetivo nutricional, como 'déficit calórico' o 'volumen'). Los atletas siguen </a:t>
            </a:r>
            <a:r>
              <a:rPr lang="es-GT" sz="2000" b="1" dirty="0">
                <a:solidFill>
                  <a:schemeClr val="bg1"/>
                </a:solidFill>
              </a:rPr>
              <a:t>Rutinas</a:t>
            </a:r>
            <a:r>
              <a:rPr lang="es-GT" sz="2000" dirty="0">
                <a:solidFill>
                  <a:schemeClr val="bg1"/>
                </a:solidFill>
              </a:rPr>
              <a:t> específicas (con un código de rutina, nombre y enfoque, por ejemplo, 'hipertrofia' o 'fuerza').</a:t>
            </a:r>
          </a:p>
          <a:p>
            <a:r>
              <a:rPr lang="es-GT" sz="2000" dirty="0">
                <a:solidFill>
                  <a:schemeClr val="bg1"/>
                </a:solidFill>
              </a:rPr>
              <a:t>Cada rutina está compuesta por múltiples </a:t>
            </a:r>
            <a:r>
              <a:rPr lang="es-GT" sz="2000" b="1" dirty="0">
                <a:solidFill>
                  <a:schemeClr val="bg1"/>
                </a:solidFill>
              </a:rPr>
              <a:t>Ejercicios</a:t>
            </a:r>
            <a:r>
              <a:rPr lang="es-GT" sz="2000" dirty="0">
                <a:solidFill>
                  <a:schemeClr val="bg1"/>
                </a:solidFill>
              </a:rPr>
              <a:t> (código de ejercicio, nombre, grupo muscular y mecánica del movimiento). Ten en cuenta que un mismo ejercicio puede formar parte de varias rutinas. Finalmente, se necesita llevar un </a:t>
            </a:r>
            <a:r>
              <a:rPr lang="es-GT" sz="2000" b="1" dirty="0">
                <a:solidFill>
                  <a:schemeClr val="bg1"/>
                </a:solidFill>
              </a:rPr>
              <a:t>Registro de Entrenamiento</a:t>
            </a:r>
            <a:r>
              <a:rPr lang="es-GT" sz="2000" dirty="0">
                <a:solidFill>
                  <a:schemeClr val="bg1"/>
                </a:solidFill>
              </a:rPr>
              <a:t> diario, donde se anote la fecha, el número de repeticiones y el peso levantado por un atleta en un ejercicio específico.</a:t>
            </a:r>
          </a:p>
          <a:p>
            <a:pPr algn="l">
              <a:lnSpc>
                <a:spcPts val="2400"/>
              </a:lnSpc>
            </a:pPr>
            <a:endParaRPr sz="15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 err="1">
                <a:solidFill>
                  <a:srgbClr val="A3E635"/>
                </a:solidFill>
                <a:latin typeface="Poppins"/>
              </a:rPr>
              <a:t>Ejemplo</a:t>
            </a:r>
            <a:endParaRPr sz="3300" b="1" i="0" u="none" dirty="0">
              <a:solidFill>
                <a:srgbClr val="A3E635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994C5-202C-C9DD-A3D1-DAA14B4B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F30D598-6C60-1A39-9E0C-27EF45B0F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19337"/>
            <a:ext cx="5238750" cy="32194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2EEDD6-D267-F37F-A187-0F0B17ED6818}"/>
              </a:ext>
            </a:extLst>
          </p:cNvPr>
          <p:cNvSpPr txBox="1"/>
          <p:nvPr/>
        </p:nvSpPr>
        <p:spPr>
          <a:xfrm>
            <a:off x="1162050" y="2909887"/>
            <a:ext cx="40576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000"/>
              </a:lnSpc>
              <a:defRPr/>
            </a:pPr>
            <a:r>
              <a:rPr sz="12000" b="0" i="0" u="none">
                <a:solidFill>
                  <a:srgbClr val="A3E635"/>
                </a:solidFill>
                <a:latin typeface="Poppins ExtraBold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BF5FD8-64D5-1123-8586-1F998DD47A8F}"/>
              </a:ext>
            </a:extLst>
          </p:cNvPr>
          <p:cNvSpPr txBox="1"/>
          <p:nvPr/>
        </p:nvSpPr>
        <p:spPr>
          <a:xfrm>
            <a:off x="1162050" y="4624387"/>
            <a:ext cx="4057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Inter SemiBold"/>
              </a:rPr>
              <a:t>Foro de la Semana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E554E-A93E-24CD-9B13-79DA4652F178}"/>
              </a:ext>
            </a:extLst>
          </p:cNvPr>
          <p:cNvSpPr txBox="1"/>
          <p:nvPr/>
        </p:nvSpPr>
        <p:spPr>
          <a:xfrm>
            <a:off x="6381750" y="2500312"/>
            <a:ext cx="5500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F8FAFC"/>
                </a:solidFill>
                <a:latin typeface="Poppins SemiBold"/>
              </a:rPr>
              <a:t>Importante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678D9A-B110-1E6D-C18D-943EA4EFA6C0}"/>
              </a:ext>
            </a:extLst>
          </p:cNvPr>
          <p:cNvSpPr txBox="1"/>
          <p:nvPr/>
        </p:nvSpPr>
        <p:spPr>
          <a:xfrm>
            <a:off x="6381750" y="3148012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Recuerden participar en el Foro de la semana en la plataforma UEDI. Deberán responder la pregunta detonante sobre la importancia del modelado de datos antes de la programación en Access.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73D57-EE64-65D3-7A23-8975C2FC53B2}"/>
              </a:ext>
            </a:extLst>
          </p:cNvPr>
          <p:cNvSpPr txBox="1"/>
          <p:nvPr/>
        </p:nvSpPr>
        <p:spPr>
          <a:xfrm>
            <a:off x="6381750" y="4557712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Esta participación suma a las actividades de diagnóstico y aprendizaje continuo.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66178-0ED5-B04E-4244-9B4EC269E4EE}"/>
              </a:ext>
            </a:extLst>
          </p:cNvPr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Actividad de Participación</a:t>
            </a:r>
          </a:p>
        </p:txBody>
      </p:sp>
    </p:spTree>
    <p:extLst>
      <p:ext uri="{BB962C8B-B14F-4D97-AF65-F5344CB8AC3E}">
        <p14:creationId xmlns:p14="http://schemas.microsoft.com/office/powerpoint/2010/main" val="3640359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619750"/>
            <a:ext cx="11049000" cy="666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874764"/>
            <a:ext cx="11601450" cy="1381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200" b="1" i="0" u="none">
                <a:solidFill>
                  <a:srgbClr val="A3E635"/>
                </a:solidFill>
                <a:latin typeface="Poppins"/>
              </a:rPr>
              <a:t>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560689"/>
            <a:ext cx="110490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CBD5E1"/>
                </a:solidFill>
                <a:latin typeface="Inter"/>
              </a:rPr>
              <a:t>Espero que hayas aprendido algo nuevo hoy.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1282451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2265312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050083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34854"/>
            <a:ext cx="1104900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4619625"/>
            <a:ext cx="11049000" cy="9828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2557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2557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0405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0405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8253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82532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610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610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55929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5929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30994"/>
            <a:ext cx="857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66875" y="1425326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https://png.pngtree.com/thumb_back/fw800/background/20260729/pngtree-abstract-digital-network-with-glowing-blue-connections-and-geometric-nodes-on-image_22103800.webp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1869132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pngtree.com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4736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66875" y="2408187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https://www.drawio.com/img/blog/entity-relation-shape-library-dialog.png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2653903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www.drawio.com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99507"/>
            <a:ext cx="857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666875" y="3192958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https://www.visualize-ai.com/wp-content/uploads/2026/03/external-entities-data-flow-diagram-kawaii-infographic.jpg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3438673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www.visualize-ai.com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84277"/>
            <a:ext cx="857250" cy="4762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666875" y="3977729"/>
            <a:ext cx="9953625" cy="198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https://cdn.prod.website-files.com/676a9690ef4ec151a69571ff/6a3dbb3f41c602eb295694c4_6a3dbab6b1a5189f6510a2b5_model-canvas-banner-images.png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4223444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www.owox.com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868167"/>
            <a:ext cx="857250" cy="4762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66875" y="4762500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https://www.stratascratch.com/_next/image?url=https%3A%2F%2Fcdn.sanity.io%2Fimages%2Foaglaatp%2Fproduction%2Fcdac6246df0eadc8144a45536c8e498caaab56a9-5009x1843.png&amp;w=3840&amp;q=75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5206305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www.stratascratch.com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851028"/>
            <a:ext cx="857250" cy="4762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66875" y="5745360"/>
            <a:ext cx="99536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https://static.vecteezy.com/system/resources/previews/078/587/451/non_2x/tech-enginners-collaborating-on-coding-project-discussing-about-programming-algorithm-for-new-cloud-computing-working-in-it-company-diverse-team-of-software-developers-running-database-system-code-photo.jpg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6189166"/>
            <a:ext cx="9953625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www.vecteezy.com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282326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A3E635"/>
                </a:solidFill>
                <a:latin typeface="Poppi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1485</Words>
  <Application>Microsoft Office PowerPoint</Application>
  <PresentationFormat>Widescreen</PresentationFormat>
  <Paragraphs>127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Inter</vt:lpstr>
      <vt:lpstr>Inter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Billy James</cp:lastModifiedBy>
  <cp:revision>3</cp:revision>
  <dcterms:created xsi:type="dcterms:W3CDTF">2013-01-27T09:14:16Z</dcterms:created>
  <dcterms:modified xsi:type="dcterms:W3CDTF">2026-08-18T23:11:34Z</dcterms:modified>
  <cp:category/>
</cp:coreProperties>
</file>