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34"/>
  </p:notesMasterIdLst>
  <p:sldIdLst>
    <p:sldId id="28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8" r:id="rId29"/>
    <p:sldId id="281" r:id="rId30"/>
    <p:sldId id="282" r:id="rId31"/>
    <p:sldId id="283" r:id="rId32"/>
    <p:sldId id="28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DDC73-0085-480B-AD06-8026BB37708C}" type="datetimeFigureOut">
              <a:rPr lang="es-GT" smtClean="0"/>
              <a:t>27/10/2026</a:t>
            </a:fld>
            <a:endParaRPr lang="es-G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G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8C12D-F6A1-4545-986E-BD30570C403F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04047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740324" name="Google Shape;51;gcb241b134e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23408" name="Google Shape;52;gcb241b134e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body" type="tx" userDrawn="1">
  <p:cSld name="Title and 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512995" name="Google Shape;17;p4"/>
          <p:cNvSpPr txBox="1">
            <a:spLocks noGrp="1"/>
          </p:cNvSpPr>
          <p:nvPr>
            <p:ph type="title"/>
          </p:nvPr>
        </p:nvSpPr>
        <p:spPr bwMode="auto"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6468425" name="Google Shape;18;p4"/>
          <p:cNvSpPr txBox="1">
            <a:spLocks noGrp="1"/>
          </p:cNvSpPr>
          <p:nvPr>
            <p:ph type="body" idx="1"/>
          </p:nvPr>
        </p:nvSpPr>
        <p:spPr bwMode="auto"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6127535" name="Google Shape;19;p4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es" smtClean="0"/>
              <a:pPr>
                <a:defRPr/>
              </a:pPr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958989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14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7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11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0.png"/><Relationship Id="rId7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2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20.png"/><Relationship Id="rId7" Type="http://schemas.openxmlformats.org/officeDocument/2006/relationships/image" Target="../media/image9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10" Type="http://schemas.openxmlformats.org/officeDocument/2006/relationships/image" Target="../media/image93.png"/><Relationship Id="rId4" Type="http://schemas.openxmlformats.org/officeDocument/2006/relationships/image" Target="../media/image88.png"/><Relationship Id="rId9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10" Type="http://schemas.openxmlformats.org/officeDocument/2006/relationships/image" Target="../media/image101.png"/><Relationship Id="rId4" Type="http://schemas.openxmlformats.org/officeDocument/2006/relationships/image" Target="../media/image97.png"/><Relationship Id="rId9" Type="http://schemas.openxmlformats.org/officeDocument/2006/relationships/image" Target="../media/image7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" b="-81"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951407" y="4347290"/>
            <a:ext cx="4289187" cy="57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4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93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Aux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35302" y="2654296"/>
            <a:ext cx="7321397" cy="10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422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16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Laboratorio de </a:t>
            </a:r>
            <a:r>
              <a:rPr kumimoji="0" lang="en-US" sz="3016" b="1" i="0" u="none" strike="noStrike" kern="1200" cap="none" spc="0" normalizeH="0" baseline="0" noProof="0" dirty="0" err="1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Programacion</a:t>
            </a:r>
            <a:r>
              <a:rPr kumimoji="0" lang="en-US" sz="3016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kumimoji="0" lang="en-US" sz="3016" b="1" i="0" u="none" strike="noStrike" kern="1200" cap="none" spc="0" normalizeH="0" baseline="0" noProof="0" dirty="0" err="1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computadoras</a:t>
            </a:r>
            <a:r>
              <a:rPr kumimoji="0" lang="en-US" sz="3016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 I, </a:t>
            </a:r>
            <a:r>
              <a:rPr kumimoji="0" lang="en-US" sz="3016" b="1" i="0" u="none" strike="noStrike" kern="1200" cap="none" spc="0" normalizeH="0" baseline="0" noProof="0" dirty="0" err="1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Sección</a:t>
            </a:r>
            <a:r>
              <a:rPr kumimoji="0" lang="en-US" sz="3016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 X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253332" y="1281455"/>
          <a:ext cx="3610484" cy="1079500"/>
        </p:xfrm>
        <a:graphic>
          <a:graphicData uri="http://schemas.openxmlformats.org/drawingml/2006/table">
            <a:tbl>
              <a:tblPr/>
              <a:tblGrid>
                <a:gridCol w="1805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5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Dia, Fecha: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Martes 21/07/2026</a:t>
                      </a:r>
                      <a:endParaRPr lang="en-US" sz="7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Hora de inicio: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12:20</a:t>
                      </a:r>
                      <a:endParaRPr lang="en-US" sz="7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52537"/>
            <a:ext cx="11049000" cy="4352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1824037"/>
            <a:ext cx="10321290" cy="1466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775"/>
              </a:lnSpc>
            </a:pPr>
            <a:r>
              <a:rPr sz="5250" b="1" i="0" u="none">
                <a:solidFill>
                  <a:srgbClr val="F8FAFC"/>
                </a:solidFill>
                <a:latin typeface="Outfit"/>
              </a:rPr>
              <a:t>Introducción a programación en </a:t>
            </a:r>
            <a:r>
              <a:t>
</a:t>
            </a:r>
            <a:r>
              <a:rPr sz="5250" b="1" i="0" u="none">
                <a:solidFill>
                  <a:srgbClr val="10B981"/>
                </a:solidFill>
                <a:latin typeface="Outfit"/>
              </a:rPr>
              <a:t>Visual Basic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3576637"/>
            <a:ext cx="98298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1" i="0" u="none">
                <a:solidFill>
                  <a:srgbClr val="F8FAFC"/>
                </a:solidFill>
                <a:latin typeface="Outfit"/>
              </a:rPr>
              <a:t>Billy Chamale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090987"/>
            <a:ext cx="98298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94A3B8"/>
                </a:solidFill>
                <a:latin typeface="Outfit"/>
              </a:rPr>
              <a:t>Laboratorio de Programación de Computadoras 1, Sección 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605337"/>
            <a:ext cx="9829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0B981"/>
                </a:solidFill>
                <a:latin typeface="Outfit"/>
              </a:rPr>
              <a:t>Unidad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71687"/>
            <a:ext cx="5286375" cy="3600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071687"/>
            <a:ext cx="5286375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462212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Gestión del Laboratorio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4650" y="2462212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Contenido Académico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0" y="2947987"/>
            <a:ext cx="4171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1. Hoja de Calificación: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Revisión de Rúbricas.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452812"/>
            <a:ext cx="4171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2. Foro de la Semana: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Dudas y Comunidad.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3957637"/>
            <a:ext cx="4171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3. Valores: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El Saber 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4462462"/>
            <a:ext cx="4171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4. Competencias: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Objetivos de la sesión.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8025" y="2947987"/>
            <a:ext cx="4171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5. Video de la Semana: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Intro a VBA.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8025" y="3452812"/>
            <a:ext cx="41719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6. Tema de Hoy: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Fundamentos de Programación.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4271962"/>
            <a:ext cx="4171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7. Ejemplo Práctico: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VBA en acción.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4776787"/>
            <a:ext cx="4171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8. Actividad: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Cuestionarios Formativos.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990850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495675"/>
            <a:ext cx="238125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4000500"/>
            <a:ext cx="21907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4505325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4650" y="2990850"/>
            <a:ext cx="219075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4650" y="3495675"/>
            <a:ext cx="238125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4650" y="4314825"/>
            <a:ext cx="219075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4650" y="4819650"/>
            <a:ext cx="219075" cy="2000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Agenda de la Clase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14525"/>
            <a:ext cx="3492549" cy="3914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14525"/>
            <a:ext cx="3492549" cy="3914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14525"/>
            <a:ext cx="3492549" cy="3914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952750"/>
            <a:ext cx="2947087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Responsabilidad y Honestidad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71900"/>
            <a:ext cx="2806749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Cumplir con tareas y tiempos. Realizar trabajos propios sin copiar, manteniendo la integridad académica.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2699" y="2952750"/>
            <a:ext cx="173021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Colaboración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2699" y="3438525"/>
            <a:ext cx="2806749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Trabajar en equipo, aportar ideas de forma constructiva y ayudar a otros compañeros en su aprendizaje.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0999" y="2952750"/>
            <a:ext cx="2947087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Disciplina y Creatividad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0999" y="3771900"/>
            <a:ext cx="2806749" cy="157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Usar herramientas correctamente y buscar soluciones originales y prácticas a problemas planteados.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305050"/>
            <a:ext cx="504825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699" y="2305050"/>
            <a:ext cx="504825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999" y="2305050"/>
            <a:ext cx="30480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Valores de la Semana (Saber ser)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66912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66912"/>
            <a:ext cx="52863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Al finalizar esta unidad, ustedes podrán: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2424112"/>
            <a:ext cx="4953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Crear soluciones digitales: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Utilizando programación visual para automatización.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243262"/>
            <a:ext cx="4953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Aplicar conceptos: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Desarrollar pensamiento lógico y computacional mediante código.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062412"/>
            <a:ext cx="4953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Diseñar macros: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Implementar funciones y ciclos condicionales en VBA.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976437"/>
            <a:ext cx="5267325" cy="3790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66975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86125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05275"/>
            <a:ext cx="17145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Competencias de la Sesión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433" y="2381250"/>
            <a:ext cx="5286375" cy="3438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72958" y="2771775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Rúbricas de Evaluación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2958" y="3257550"/>
            <a:ext cx="4505325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Cada actividad cuenta con una rúbrica específica detallada. Es su responsabilidad leerla antes de iniciar sus entregables para asegurar el nivel de desempeño.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2958" y="4657725"/>
            <a:ext cx="4505325" cy="62865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EF4444"/>
                </a:solidFill>
                <a:latin typeface="Outfit"/>
              </a:rPr>
              <a:t>Cero Tolerancia al Plagio: Las copias serán sancionadas con 0.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183" y="4729162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45973" y="600075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 dirty="0">
                <a:solidFill>
                  <a:srgbClr val="10B981"/>
                </a:solidFill>
                <a:latin typeface="Outfit ExtraBold"/>
              </a:rPr>
              <a:t>Hoja de </a:t>
            </a:r>
            <a:r>
              <a:rPr sz="3150" b="0" i="0" u="none" dirty="0" err="1">
                <a:solidFill>
                  <a:srgbClr val="10B981"/>
                </a:solidFill>
                <a:latin typeface="Outfit ExtraBold"/>
              </a:rPr>
              <a:t>Calificación</a:t>
            </a:r>
            <a:endParaRPr sz="3150" b="0" i="0" u="none" dirty="0">
              <a:solidFill>
                <a:srgbClr val="10B981"/>
              </a:solidFill>
              <a:latin typeface="Outfit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66912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66912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Participación y Comunidad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52687"/>
            <a:ext cx="52863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El foro de la Unidad 9 ya está habilitado en UEDI.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2909887"/>
            <a:ext cx="4953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Utilicen este espacio para debatir sobre la programación orientada a eventos.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729037"/>
            <a:ext cx="4953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CBD5E1"/>
                </a:solidFill>
                <a:latin typeface="Outfit"/>
              </a:rPr>
              <a:t>Si un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ciclo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se les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queda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infinito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o un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condicional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falla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,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este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es el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lugar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para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pedir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ayuda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976437"/>
            <a:ext cx="5267325" cy="3790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850" y="3738562"/>
            <a:ext cx="108585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52750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771900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Foro de la Semana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24100"/>
            <a:ext cx="11049000" cy="3095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25703" y="3819525"/>
            <a:ext cx="474059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Introducción a Macros y VBA en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05300"/>
            <a:ext cx="103632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Revisa el material audiovisual introductorio disponible en tu plataforma virtual antes de continuar con los ejercicios de esta sesión.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762250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Video de la Semana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81625" y="2609850"/>
            <a:ext cx="14287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85648" y="2933700"/>
            <a:ext cx="5620702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Outfit"/>
              </a:rPr>
              <a:t>El Mundo de </a:t>
            </a:r>
            <a:r>
              <a:rPr sz="5400" b="1" i="0" u="none">
                <a:solidFill>
                  <a:srgbClr val="10B981"/>
                </a:solidFill>
                <a:latin typeface="Outfit"/>
              </a:rPr>
              <a:t>VBA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5687" y="3990975"/>
            <a:ext cx="50006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Outfit"/>
              </a:rPr>
              <a:t>De Macros grabadas a Programación Real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66912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66912"/>
            <a:ext cx="5286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VBA (Visual Basic for Applications)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es el lenguaje de programación impulsado por eventos desarrollado por Microsoft para sus aplicaciones de Office.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052762"/>
            <a:ext cx="495300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Deriva de un lenguaje clásico llamado BASIC, por lo que su sintaxis es muy amigable y legible (se lee casi como inglés).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4186237"/>
            <a:ext cx="495300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Viene preinstalado y oculto dentro de Excel, Access, Word y PowerPoint. No requiere instalar software adicional.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976437"/>
            <a:ext cx="5267325" cy="3790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95625"/>
            <a:ext cx="23812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29100"/>
            <a:ext cx="238125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¿Qué es Visual Basic Application?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52650"/>
            <a:ext cx="5286375" cy="3438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152650"/>
            <a:ext cx="5286375" cy="3438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543175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La Grabadora de Macros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028950"/>
            <a:ext cx="450532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Traduce literalmente tus clics del mouse a código. Es útil para cosas rápidas, pero el código generado es "rígido".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114800"/>
            <a:ext cx="450532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CBD5E1"/>
                </a:solidFill>
                <a:latin typeface="Outfit"/>
              </a:rPr>
              <a:t>Si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grabas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borrar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la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celda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, la macro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siempre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borrará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esa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celda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exacta,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perdiendo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flexibilidad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ante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datos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dinámicos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543175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Programar en VBA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3028950"/>
            <a:ext cx="4505325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Te permite tomar el control absoluto. Al escribir tú el código, puedes agregar "inteligencia": ciclos, toma de decisiones (If/Else) y adaptabilidad completa.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4429125"/>
            <a:ext cx="45053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Tus automatizaciones se adaptan al contexto de los datos.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4662" y="4148137"/>
            <a:ext cx="40005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Grabadora de Macros vs. VBA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81212"/>
            <a:ext cx="3492549" cy="3581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081212"/>
            <a:ext cx="3492549" cy="3581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081212"/>
            <a:ext cx="3492549" cy="3581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119437"/>
            <a:ext cx="203025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Automatización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05212"/>
            <a:ext cx="2806749" cy="157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Tareas repetitivas (ej. limpiar reportes de 10,000 filas diarios) se reducen a un solo clic, eliminando el error humano.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2699" y="3119437"/>
            <a:ext cx="227028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Formularios (GUI)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2699" y="3605212"/>
            <a:ext cx="2806749" cy="157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Creación de interfaces gráficas (UserForms) para que los usuarios ingresen datos de forma segura sin desconfigurar la hoja.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0999" y="3119437"/>
            <a:ext cx="147018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Integración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0999" y="3605212"/>
            <a:ext cx="2806749" cy="157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Permite conectar Excel con Access, bases de datos SQL Server, o incluso enviar correos automatizados en Outlook.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471737"/>
            <a:ext cx="504825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699" y="2471737"/>
            <a:ext cx="40005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999" y="2471737"/>
            <a:ext cx="30480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¿Para qué usamos VBA?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66912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66912"/>
            <a:ext cx="5286375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Presionando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           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abrimos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el Editor de Visual Basic: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0" y="1976437"/>
            <a:ext cx="120015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4875" y="2738437"/>
            <a:ext cx="4953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Explorador de Proyectos: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El panel izquierdo donde viven tus Hojas y Módulos.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557587"/>
            <a:ext cx="4953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Ventana de Propiedades: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Donde configuras atributos estáticos (nombres, colores).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376737"/>
            <a:ext cx="4953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El Módulo: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El lienzo blanco donde escribiremos nuestro código estructurado.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1976437"/>
            <a:ext cx="5267325" cy="3790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81300"/>
            <a:ext cx="21907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60045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419600"/>
            <a:ext cx="142875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El Entorno de Desarrollo (IDE)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57462"/>
            <a:ext cx="5286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Una variable es un espacio reservado en la memoria RAM (una "caja") que usamos para guardar datos temporales mientras nuestro código se ejecuta.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643312"/>
            <a:ext cx="5286375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CBD5E1"/>
                </a:solidFill>
                <a:latin typeface="Outfit"/>
              </a:rPr>
              <a:t>Para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crearla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,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usamos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la palabra clave 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(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Dimensionar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414837"/>
            <a:ext cx="5286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Es importante asignar un tipo de dato que corresponda al valor que la variable va a almacenar.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116" y="3662362"/>
            <a:ext cx="51435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Variables: Declaración y Uso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F9674C1-6ACB-AC3F-AA37-8113307C6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717" y="2583391"/>
            <a:ext cx="4115374" cy="23720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34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85975"/>
            <a:ext cx="3492549" cy="3571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085975"/>
            <a:ext cx="3492549" cy="3571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085975"/>
            <a:ext cx="3492549" cy="3571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124200"/>
            <a:ext cx="136017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Numéricos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2699" y="3124200"/>
            <a:ext cx="183022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Texto y 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0999" y="3124200"/>
            <a:ext cx="103012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Objetos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476500"/>
            <a:ext cx="352425" cy="40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28725" y="3762375"/>
            <a:ext cx="666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Outfit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8275" y="3762375"/>
            <a:ext cx="2282874" cy="296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Enteros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8725" y="4124325"/>
            <a:ext cx="666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Outfit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8275" y="4124325"/>
            <a:ext cx="2282874" cy="296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Enteros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grandes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8725" y="4800600"/>
            <a:ext cx="666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Outfit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8275" y="4800600"/>
            <a:ext cx="2282874" cy="296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Decimales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699" y="2476500"/>
            <a:ext cx="352425" cy="4000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07024" y="3762375"/>
            <a:ext cx="666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Outfit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6574" y="3762375"/>
            <a:ext cx="2282874" cy="6169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Cadenas de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texto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7024" y="4438650"/>
            <a:ext cx="666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Outfit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6574" y="4438650"/>
            <a:ext cx="2282874" cy="296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True/False.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7024" y="4800600"/>
            <a:ext cx="666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Outfit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6574" y="4800600"/>
            <a:ext cx="2282874" cy="296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Fechas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/Tiempo.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999" y="2476500"/>
            <a:ext cx="400050" cy="4000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85324" y="3762375"/>
            <a:ext cx="666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Outfit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4874" y="3762375"/>
            <a:ext cx="2282874" cy="296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Ref. a hoja.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5324" y="4438650"/>
            <a:ext cx="666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Outfit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4874" y="4438650"/>
            <a:ext cx="2282874" cy="296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Rango/Celda.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8275" y="3771900"/>
            <a:ext cx="971550" cy="3048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8275" y="4133850"/>
            <a:ext cx="628650" cy="3048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8275" y="4810125"/>
            <a:ext cx="857250" cy="3048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6574" y="3771900"/>
            <a:ext cx="857250" cy="3048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16574" y="4448175"/>
            <a:ext cx="971550" cy="3048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16574" y="4810125"/>
            <a:ext cx="628650" cy="3048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94874" y="3771900"/>
            <a:ext cx="1200150" cy="3048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94874" y="4448175"/>
            <a:ext cx="742950" cy="304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Tipos de Datos en VBA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67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57462"/>
            <a:ext cx="5286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Por defecto, VBA permite usar variables sin haberlas declarado previamente. ¡Esto es un peligro gigante!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28987"/>
            <a:ext cx="5286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Si escribes sueldo y por error de tipeo escribes seldo, VBA creará dos variables distintas y tus cálculos matemáticos fallarán silenciosamente.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414837"/>
            <a:ext cx="5286375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10B981"/>
                </a:solidFill>
                <a:latin typeface="Outfit"/>
              </a:rPr>
              <a:t>Regla de Oro: </a:t>
            </a:r>
            <a:r>
              <a:rPr sz="1650" b="1" i="0" u="none" dirty="0" err="1">
                <a:solidFill>
                  <a:srgbClr val="10B981"/>
                </a:solidFill>
                <a:latin typeface="Outfit"/>
              </a:rPr>
              <a:t>Siempre</a:t>
            </a:r>
            <a:r>
              <a:rPr sz="1650" b="1" i="0" u="none" dirty="0">
                <a:solidFill>
                  <a:srgbClr val="10B981"/>
                </a:solidFill>
                <a:latin typeface="Outfit"/>
              </a:rPr>
              <a:t> </a:t>
            </a:r>
            <a:r>
              <a:rPr sz="1650" b="1" i="0" u="none" dirty="0" err="1">
                <a:solidFill>
                  <a:srgbClr val="10B981"/>
                </a:solidFill>
                <a:latin typeface="Outfit"/>
              </a:rPr>
              <a:t>escribir</a:t>
            </a:r>
            <a:r>
              <a:rPr lang="en-US" sz="1650" b="1" i="0" u="none" dirty="0">
                <a:solidFill>
                  <a:srgbClr val="10B981"/>
                </a:solidFill>
                <a:latin typeface="Outfit"/>
              </a:rPr>
              <a:t>                                             </a:t>
            </a:r>
            <a:r>
              <a:rPr sz="1650" b="1" i="0" u="none" dirty="0">
                <a:solidFill>
                  <a:srgbClr val="10B981"/>
                </a:solidFill>
                <a:latin typeface="Outfit"/>
              </a:rPr>
              <a:t> </a:t>
            </a:r>
            <a:r>
              <a:rPr sz="1650" b="1" i="0" u="none" dirty="0" err="1">
                <a:solidFill>
                  <a:srgbClr val="10B981"/>
                </a:solidFill>
                <a:latin typeface="Outfit"/>
              </a:rPr>
              <a:t>en</a:t>
            </a:r>
            <a:r>
              <a:rPr sz="1650" b="1" i="0" u="none" dirty="0">
                <a:solidFill>
                  <a:srgbClr val="10B981"/>
                </a:solidFill>
                <a:latin typeface="Outfit"/>
              </a:rPr>
              <a:t> la </a:t>
            </a:r>
            <a:r>
              <a:rPr sz="1650" b="1" i="0" u="none" dirty="0" err="1">
                <a:solidFill>
                  <a:srgbClr val="10B981"/>
                </a:solidFill>
                <a:latin typeface="Outfit"/>
              </a:rPr>
              <a:t>primera</a:t>
            </a:r>
            <a:r>
              <a:rPr sz="1650" b="1" i="0" u="none" dirty="0">
                <a:solidFill>
                  <a:srgbClr val="10B981"/>
                </a:solidFill>
                <a:latin typeface="Outfit"/>
              </a:rPr>
              <a:t> </a:t>
            </a:r>
            <a:r>
              <a:rPr sz="1650" b="1" i="0" u="none" dirty="0" err="1">
                <a:solidFill>
                  <a:srgbClr val="10B981"/>
                </a:solidFill>
                <a:latin typeface="Outfit"/>
              </a:rPr>
              <a:t>línea</a:t>
            </a:r>
            <a:r>
              <a:rPr sz="1650" b="1" i="0" u="none" dirty="0">
                <a:solidFill>
                  <a:srgbClr val="10B981"/>
                </a:solidFill>
                <a:latin typeface="Outfit"/>
              </a:rPr>
              <a:t>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87" y="4414837"/>
            <a:ext cx="188595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Buenas Prácticas: Option Explicit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732F0D6-2DAE-24CC-18C5-238E3CC2B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2128603"/>
            <a:ext cx="5001323" cy="33437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6937"/>
            <a:ext cx="5286375" cy="3409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166937"/>
            <a:ext cx="5286375" cy="3409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557462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Fundamento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043237"/>
            <a:ext cx="450532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Es la matemática binaria detrás de la toma de decisiones. Todo enunciado se evalúa para saber si es </a:t>
            </a:r>
            <a:r>
              <a:rPr sz="1650" b="1" i="0" u="none">
                <a:solidFill>
                  <a:srgbClr val="F8FAFC"/>
                </a:solidFill>
                <a:latin typeface="Outfit"/>
              </a:rPr>
              <a:t>Verdadero (True)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o </a:t>
            </a:r>
            <a:r>
              <a:rPr sz="1650" b="1" i="0" u="none">
                <a:solidFill>
                  <a:srgbClr val="F8FAFC"/>
                </a:solidFill>
                <a:latin typeface="Outfit"/>
              </a:rPr>
              <a:t>Falso (False)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129087"/>
            <a:ext cx="45053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1" u="none">
                <a:solidFill>
                  <a:srgbClr val="CBD5E1"/>
                </a:solidFill>
                <a:latin typeface="Outfit"/>
              </a:rPr>
              <a:t>Ejemplo: ¿La celda A1 está vacía?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557462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Operadores Lógicos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8025" y="3043237"/>
            <a:ext cx="4171950" cy="29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Todas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las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condiciones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deben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cumplirse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8025" y="3862387"/>
            <a:ext cx="4171950" cy="29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Basta con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que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una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se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cumpla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8025" y="4367212"/>
            <a:ext cx="4171950" cy="29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Invierte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la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realidad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(Verdadero a Falso).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8025" y="3052762"/>
            <a:ext cx="51435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8025" y="3871912"/>
            <a:ext cx="40005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8025" y="4376737"/>
            <a:ext cx="51435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650" y="3086100"/>
            <a:ext cx="17145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4650" y="3905250"/>
            <a:ext cx="1714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4650" y="4410075"/>
            <a:ext cx="219075" cy="2000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¿Cuál es la Lógica Booleana?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66912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66912"/>
            <a:ext cx="5286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Las estructuras de control rompen el flujo lineal (arriba hacia abajo) del programa.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738437"/>
            <a:ext cx="5286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Los Condicionales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le dan "inteligencia" al script, permitiéndole elegir qué bloque de código ejecutar basándose en los resultados de la lógica booleana.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824287"/>
            <a:ext cx="5286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Dependiendo de si una condición es verdadera (True) o falsa (False), el camino se bifurca.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976437"/>
            <a:ext cx="5267325" cy="3790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Condicionales (If/Else)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71750"/>
            <a:ext cx="52863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Permite evaluar una o varias condiciones secuenciales.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028950"/>
            <a:ext cx="4953000" cy="29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Inicia la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evaluación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principal.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533775"/>
            <a:ext cx="4953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Permite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agregar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condiciones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alternativas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si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la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primera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falló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352925"/>
            <a:ext cx="4953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El camino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por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defecto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si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absolutamente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nada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más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se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cumplió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3038475"/>
            <a:ext cx="40005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3543300"/>
            <a:ext cx="857250" cy="3048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4362450"/>
            <a:ext cx="628650" cy="3048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071812"/>
            <a:ext cx="17145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576637"/>
            <a:ext cx="171450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95787"/>
            <a:ext cx="171450" cy="2000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Estructura: IF...THEN...ELSE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709F7E9-5F26-64A6-60C6-469E25AD04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1638" y="2414884"/>
            <a:ext cx="4820323" cy="33151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786062"/>
            <a:ext cx="5286375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CBD5E1"/>
                </a:solidFill>
                <a:latin typeface="Outfit"/>
              </a:rPr>
              <a:t>El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bloque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1" i="0" u="none" dirty="0">
                <a:solidFill>
                  <a:srgbClr val="F8FAFC"/>
                </a:solidFill>
                <a:latin typeface="Outfit"/>
              </a:rPr>
              <a:t>Select Case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es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una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alternativa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mucho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más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limpia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utilizar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docenas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sentencias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    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anidadas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71912"/>
            <a:ext cx="5286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Es ideal cuando tienes </a:t>
            </a:r>
            <a:r>
              <a:rPr sz="1650" b="1" i="0" u="none">
                <a:solidFill>
                  <a:srgbClr val="F8FAFC"/>
                </a:solidFill>
                <a:latin typeface="Outfit"/>
              </a:rPr>
              <a:t>una sola variable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que puede tener múltiples opciones fijas (como estados, categorías o roles).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3136370"/>
            <a:ext cx="142875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Estructura: SELECT CASE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59DE09-9CDF-A2FA-65D7-F7E15D3EA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083" y="2195278"/>
            <a:ext cx="4839375" cy="33532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71700"/>
            <a:ext cx="5286375" cy="3400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171700"/>
            <a:ext cx="5286375" cy="3400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2025" y="2562225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Ciclo FOR...NEXT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048000"/>
            <a:ext cx="450532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Ejecuta el código un </a:t>
            </a:r>
            <a:r>
              <a:rPr sz="1650" b="1" i="0" u="none">
                <a:solidFill>
                  <a:srgbClr val="F8FAFC"/>
                </a:solidFill>
                <a:latin typeface="Outfit"/>
              </a:rPr>
              <a:t>número determinado de veces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. Ideal cuando sabes exactamente el inicio y el fin.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562225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DO WHILE...LOOP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3048000"/>
            <a:ext cx="450532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Ejecuta el código </a:t>
            </a:r>
            <a:r>
              <a:rPr sz="1650" b="1" i="0" u="none">
                <a:solidFill>
                  <a:srgbClr val="F8FAFC"/>
                </a:solidFill>
                <a:latin typeface="Outfit"/>
              </a:rPr>
              <a:t>mientras una condición sea verdadera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. Ideal para recorrer bases de datos sin límite fijo.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Estructuras: Bucles (Ciclos)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04CF3F2-DA63-90DA-7B48-87A5D44FA8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73" y="3871912"/>
            <a:ext cx="4134427" cy="151468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A4B9166-1C25-BF57-A75C-58BE402D4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9337" y="3933486"/>
            <a:ext cx="4210638" cy="16194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81212"/>
            <a:ext cx="5381625" cy="3581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081212"/>
            <a:ext cx="5381625" cy="3581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19437"/>
            <a:ext cx="23302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Los Métodos (Sub)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05212"/>
            <a:ext cx="4695825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CBD5E1"/>
                </a:solidFill>
                <a:latin typeface="Outfit"/>
              </a:rPr>
              <a:t>Los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Procedimientos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ejecutan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un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bloque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acciones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secuenciales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,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pero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1" i="0" u="none" dirty="0">
                <a:solidFill>
                  <a:srgbClr val="CBD5E1"/>
                </a:solidFill>
                <a:latin typeface="Outfit"/>
              </a:rPr>
              <a:t>no </a:t>
            </a:r>
            <a:r>
              <a:rPr sz="1650" b="1" i="0" u="none" dirty="0" err="1">
                <a:solidFill>
                  <a:srgbClr val="CBD5E1"/>
                </a:solidFill>
                <a:latin typeface="Outfit"/>
              </a:rPr>
              <a:t>devuelven</a:t>
            </a:r>
            <a:r>
              <a:rPr sz="1650" b="1" i="0" u="none" dirty="0">
                <a:solidFill>
                  <a:srgbClr val="CBD5E1"/>
                </a:solidFill>
                <a:latin typeface="Outfit"/>
              </a:rPr>
              <a:t> un valor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directo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 Son las macros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clásicas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que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puedes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asignar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a un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botón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o forma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gráfica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tu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hoja.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119437"/>
            <a:ext cx="31503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Las Funciones (Function)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605212"/>
            <a:ext cx="4695825" cy="157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Las Funciones procesan datos de entrada y </a:t>
            </a:r>
            <a:r>
              <a:rPr sz="1650" b="1" i="0" u="none">
                <a:solidFill>
                  <a:srgbClr val="CBD5E1"/>
                </a:solidFill>
                <a:latin typeface="Outfit"/>
              </a:rPr>
              <a:t>obligatoriamente devuelven un resultado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. Puedes utilizarlas dentro de tu código o invocarlas como fórmulas personalizadas dentro de las celdas de Excel.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71737"/>
            <a:ext cx="30480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2250" y="3614737"/>
            <a:ext cx="51435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471737"/>
            <a:ext cx="304800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Definición de Funciones y Métodos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66912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66912"/>
            <a:ext cx="5286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El ámbito define "dónde" vive tu variable y quién puede verla o usarla dentro del código.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2738437"/>
            <a:ext cx="4953000" cy="29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Vive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solo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dentro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del Sub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donde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se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creó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557587"/>
            <a:ext cx="4953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          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Declarada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arriba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 Todos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los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Subs de ese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módulo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pueden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usarla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376737"/>
            <a:ext cx="4953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        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Puede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ser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llamada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desde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cualquier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parte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, hoja o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formulario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del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proyecto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976437"/>
            <a:ext cx="5267325" cy="3790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2747962"/>
            <a:ext cx="142875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3567112"/>
            <a:ext cx="200025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" y="4386262"/>
            <a:ext cx="188595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781300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600450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419600"/>
            <a:ext cx="19050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Ámbitos (Scope) de las variables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81625" y="2609850"/>
            <a:ext cx="14287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5650" y="2933700"/>
            <a:ext cx="5600700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Outfit"/>
              </a:rPr>
              <a:t>Ejemplo </a:t>
            </a:r>
            <a:r>
              <a:rPr sz="5400" b="1" i="0" u="none">
                <a:solidFill>
                  <a:srgbClr val="10B981"/>
                </a:solidFill>
                <a:latin typeface="Outfit"/>
              </a:rPr>
              <a:t>Práctico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4312" y="3990975"/>
            <a:ext cx="4143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Outfit"/>
              </a:rPr>
              <a:t>Integrando For, If y Celdas de Excel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57462"/>
            <a:ext cx="5286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En este ejemplo vamos a automatizar una tarea contable básica.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28987"/>
            <a:ext cx="5286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El código recorrerá las ventas en la columna B (desde la fila 2 hasta la 100).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100512"/>
            <a:ext cx="5286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Si la venta supera los 1,000, automáticamente escribirá "Bono Aplica" en la columna C y pintará el fondo de verde.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Recorrer y Procesar Datos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A92D0F2-F06D-9F17-B5FC-649D20A6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598" y="1647825"/>
            <a:ext cx="5029902" cy="400105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81625" y="2609850"/>
            <a:ext cx="14287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10514" y="2933700"/>
            <a:ext cx="7770971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Outfit"/>
              </a:rPr>
              <a:t>Actividad de la </a:t>
            </a:r>
            <a:r>
              <a:rPr sz="5400" b="1" i="0" u="none">
                <a:solidFill>
                  <a:srgbClr val="10B981"/>
                </a:solidFill>
                <a:latin typeface="Outfit"/>
              </a:rPr>
              <a:t>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38562" y="3990975"/>
            <a:ext cx="47148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Outfit"/>
              </a:rPr>
              <a:t>Demostrando el conocimiento adquirido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599592" name="Google Shape;54;p13"/>
          <p:cNvPicPr/>
          <p:nvPr/>
        </p:nvPicPr>
        <p:blipFill rotWithShape="1">
          <a:blip r:embed="rId3">
            <a:alphaModFix amt="62000"/>
          </a:blip>
          <a:stretch/>
        </p:blipFill>
        <p:spPr bwMode="auto"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687050" name="Google Shape;55;p13"/>
          <p:cNvGraphicFramePr>
            <a:graphicFrameLocks/>
          </p:cNvGraphicFramePr>
          <p:nvPr/>
        </p:nvGraphicFramePr>
        <p:xfrm>
          <a:off x="11267" y="1004833"/>
          <a:ext cx="6973166" cy="2042040"/>
        </p:xfrm>
        <a:graphic>
          <a:graphicData uri="http://schemas.openxmlformats.org/drawingml/2006/table">
            <a:tbl>
              <a:tblPr/>
              <a:tblGrid>
                <a:gridCol w="3688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2400"/>
                        <a:t>Asignacion DTT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24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7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24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04884106" name="Google Shape;56;p13"/>
          <p:cNvSpPr txBox="1"/>
          <p:nvPr/>
        </p:nvSpPr>
        <p:spPr bwMode="auto">
          <a:xfrm>
            <a:off x="0" y="2854601"/>
            <a:ext cx="120252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Participantes: llenar las siguientes cajas de texto (tomar información del chat del meet)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0400390" name="Google Shape;57;p13"/>
          <p:cNvSpPr txBox="1"/>
          <p:nvPr/>
        </p:nvSpPr>
        <p:spPr bwMode="auto">
          <a:xfrm>
            <a:off x="11267" y="3303865"/>
            <a:ext cx="4111600" cy="4308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e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66235659" name="Google Shape;58;p13"/>
          <p:cNvGraphicFramePr>
            <a:graphicFrameLocks/>
          </p:cNvGraphicFramePr>
          <p:nvPr/>
        </p:nvGraphicFramePr>
        <p:xfrm>
          <a:off x="7104267" y="1293367"/>
          <a:ext cx="4920767" cy="1828680"/>
        </p:xfrm>
        <a:graphic>
          <a:graphicData uri="http://schemas.openxmlformats.org/drawingml/2006/table">
            <a:tbl>
              <a:tblPr/>
              <a:tblGrid>
                <a:gridCol w="2024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2400"/>
                        <a:t>17:29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2400"/>
                        <a:t>17:34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700" b="1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2400"/>
                        <a:t>5 min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1797057" name="Google Shape;59;p13"/>
          <p:cNvSpPr txBox="1"/>
          <p:nvPr/>
        </p:nvSpPr>
        <p:spPr bwMode="auto">
          <a:xfrm>
            <a:off x="4174400" y="3303865"/>
            <a:ext cx="4111600" cy="4308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e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5171085" name="Google Shape;60;p13"/>
          <p:cNvSpPr txBox="1"/>
          <p:nvPr/>
        </p:nvSpPr>
        <p:spPr bwMode="auto">
          <a:xfrm>
            <a:off x="8337533" y="3303865"/>
            <a:ext cx="3843200" cy="4308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e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5737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857375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Manos a la Obra (Práctica)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43150"/>
            <a:ext cx="5286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Para comprobar que asimilaron las competencias de hoy, deberán escribir código real en su Excel: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114675"/>
            <a:ext cx="4953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F8FAFC"/>
                </a:solidFill>
                <a:latin typeface="Outfit"/>
              </a:rPr>
              <a:t>1. </a:t>
            </a:r>
            <a:r>
              <a:rPr sz="1650" b="1" i="0" u="none" dirty="0" err="1">
                <a:solidFill>
                  <a:srgbClr val="F8FAFC"/>
                </a:solidFill>
                <a:latin typeface="Outfit"/>
              </a:rPr>
              <a:t>Ciclos</a:t>
            </a:r>
            <a:r>
              <a:rPr sz="1650" b="1" i="0" u="none" dirty="0">
                <a:solidFill>
                  <a:srgbClr val="F8FAFC"/>
                </a:solidFill>
                <a:latin typeface="Outfit"/>
              </a:rPr>
              <a:t>: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Creen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una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rutina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usando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un 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o 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p     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para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recorrer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una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lista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números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933825"/>
            <a:ext cx="4953000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F8FAFC"/>
                </a:solidFill>
                <a:latin typeface="Outfit"/>
              </a:rPr>
              <a:t>2. </a:t>
            </a:r>
            <a:r>
              <a:rPr sz="1650" b="1" i="0" u="none" dirty="0" err="1">
                <a:solidFill>
                  <a:srgbClr val="F8FAFC"/>
                </a:solidFill>
                <a:latin typeface="Outfit"/>
              </a:rPr>
              <a:t>Condiciones</a:t>
            </a:r>
            <a:r>
              <a:rPr sz="1650" b="1" i="0" u="none" dirty="0">
                <a:solidFill>
                  <a:srgbClr val="F8FAFC"/>
                </a:solidFill>
                <a:latin typeface="Outfit"/>
              </a:rPr>
              <a:t>: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Usen un </a:t>
            </a:r>
            <a:r>
              <a:rPr lang="es-GT" sz="1650" b="0" i="0" u="none" dirty="0">
                <a:solidFill>
                  <a:srgbClr val="CBD5E1"/>
                </a:solidFill>
                <a:latin typeface="Outfit"/>
              </a:rPr>
              <a:t>B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loque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 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dentro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su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ciclo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752975"/>
            <a:ext cx="495300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3. Lógica: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Si el número es </a:t>
            </a:r>
            <a:r>
              <a:rPr sz="1650" b="1" i="0" u="none">
                <a:solidFill>
                  <a:srgbClr val="F8FAFC"/>
                </a:solidFill>
                <a:latin typeface="Outfit"/>
              </a:rPr>
              <a:t>&lt; 20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, escriban "Menor a 20". Si es </a:t>
            </a:r>
            <a:r>
              <a:rPr sz="1650" b="1" i="0" u="none">
                <a:solidFill>
                  <a:srgbClr val="F8FAFC"/>
                </a:solidFill>
                <a:latin typeface="Outfit"/>
              </a:rPr>
              <a:t>&lt; 40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, escriban "Menor a 40". Si no, "Mayor a 40".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866900"/>
            <a:ext cx="5267325" cy="3790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925" y="3124200"/>
            <a:ext cx="131445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3438525"/>
            <a:ext cx="108585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7150" y="3943350"/>
            <a:ext cx="142875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157537"/>
            <a:ext cx="21907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976687"/>
            <a:ext cx="1714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795837"/>
            <a:ext cx="142875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Reto de Código: Estructuras y Ciclos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5552" y="2271712"/>
            <a:ext cx="7160895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F8FAFC"/>
                </a:solidFill>
                <a:latin typeface="Outfit"/>
              </a:rPr>
              <a:t>¿Dudas sobre </a:t>
            </a:r>
            <a:r>
              <a:rPr sz="6000" b="1" i="0" u="none">
                <a:solidFill>
                  <a:srgbClr val="10B981"/>
                </a:solidFill>
                <a:latin typeface="Outfit"/>
              </a:rPr>
              <a:t>VBA</a:t>
            </a:r>
            <a:r>
              <a:rPr sz="6000" b="1" i="0" u="none">
                <a:solidFill>
                  <a:srgbClr val="F8FAFC"/>
                </a:solidFill>
                <a:latin typeface="Outfit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62300" y="3424237"/>
            <a:ext cx="5867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Outfit"/>
              </a:rPr>
              <a:t>Empiecen a pensar cómo aplicarlo a su proyecto final.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00" y="4319587"/>
            <a:ext cx="3429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Outfit"/>
              </a:rPr>
              <a:t>Laboratorio PDC 1 | USAC | Sección 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4425" y="1562100"/>
            <a:ext cx="99631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4425" y="2333625"/>
            <a:ext cx="99631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4425" y="3105150"/>
            <a:ext cx="99631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14425" y="3876675"/>
            <a:ext cx="99631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14425" y="4648200"/>
            <a:ext cx="99631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4425" y="2324100"/>
            <a:ext cx="9963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14425" y="2324100"/>
            <a:ext cx="9963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14425" y="3095625"/>
            <a:ext cx="9963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14425" y="3095625"/>
            <a:ext cx="9963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14425" y="3867150"/>
            <a:ext cx="9963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14425" y="3867150"/>
            <a:ext cx="9963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14425" y="4638675"/>
            <a:ext cx="9963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14425" y="4638675"/>
            <a:ext cx="9963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4425" y="5410200"/>
            <a:ext cx="9963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4425" y="5410200"/>
            <a:ext cx="9963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170497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09800" y="1712118"/>
            <a:ext cx="8867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Outfit"/>
              </a:rPr>
              <a:t>https://fyi.extension.wisc.edu/programdevelopment/files/2024/06/PDF-New1.png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9800" y="1945481"/>
            <a:ext cx="8867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Outfi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Outfit"/>
              </a:rPr>
              <a:t>fyi.extension.wisc.edu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25" y="247650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09800" y="2483643"/>
            <a:ext cx="8867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Outfit"/>
              </a:rPr>
              <a:t>https://decentered.co.uk/wp-content/uploads/2026/06/Community-Media-Exchange-001-2026-06-02.jpg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09800" y="2717006"/>
            <a:ext cx="8867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Outfi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Outfit"/>
              </a:rPr>
              <a:t>decentered.co.uk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425" y="3248025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09800" y="3255168"/>
            <a:ext cx="8867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Outfit"/>
              </a:rPr>
              <a:t>https://cdn.educba.com/academy/wp-content/uploads/2019/11/Programming-in-Excel.png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9800" y="3488531"/>
            <a:ext cx="8867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Outfi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Outfit"/>
              </a:rPr>
              <a:t>www.educba.com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425" y="4019550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209800" y="4026693"/>
            <a:ext cx="8867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Outfit"/>
              </a:rPr>
              <a:t>https://developer.playcanvas.com/assets/images/code-editor-3acffb83201b1a32ce559155b4482070.png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9800" y="4260056"/>
            <a:ext cx="8867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Outfi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Outfit"/>
              </a:rPr>
              <a:t>developer.playcanvas.com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425" y="4791075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209800" y="4798218"/>
            <a:ext cx="8867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Outfit"/>
              </a:rPr>
              <a:t>https://media.geeksforgeeks.org/wp-content/uploads/20260313173001834574/flowchart_of_if_else_in_c.png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09800" y="5031581"/>
            <a:ext cx="8867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Outfi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Outfit"/>
              </a:rPr>
              <a:t>www.geeksforgeeks.org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425" y="5562600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209800" y="5569743"/>
            <a:ext cx="8867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Outfit"/>
              </a:rPr>
              <a:t>https://images.squarespace-cdn.com/content/v1/528c45f9e4b06be250a9fe30/1592072194557-R27TSNY4315L8C3POEMN/Expanding+Target+Audiences.png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09800" y="5803106"/>
            <a:ext cx="8867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Outfi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Outfit"/>
              </a:rPr>
              <a:t>brianbalfour.com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Image Sources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33787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3548062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Outfit"/>
              </a:rPr>
              <a:t>https://images.unsplash.com/photo-1780253240775-901a90864401?fm=jpg&amp;q=60&amp;w=3000&amp;auto=format&amp;fit=crop&amp;ixlib=rb-4.1.0&amp;ixid=M3wxMjA3fDB8MHxwaG90by1yZWxhdGVkfDE3fHx8ZW58MHx8fHx8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3967162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Outfi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Outfit"/>
              </a:rPr>
              <a:t>unsplash.com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0B981"/>
                </a:solidFill>
                <a:latin typeface="Outfit Extra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1740</Words>
  <Application>Microsoft Office PowerPoint</Application>
  <PresentationFormat>Widescreen</PresentationFormat>
  <Paragraphs>210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Open Sans</vt:lpstr>
      <vt:lpstr>Open Sans Bold</vt:lpstr>
      <vt:lpstr>Outfit</vt:lpstr>
      <vt:lpstr>Outfit ExtraBold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Billy</dc:creator>
  <cp:keywords/>
  <dc:description>generated using python-pptx</dc:description>
  <cp:lastModifiedBy>Billy James</cp:lastModifiedBy>
  <cp:revision>4</cp:revision>
  <dcterms:created xsi:type="dcterms:W3CDTF">2013-01-27T09:14:16Z</dcterms:created>
  <dcterms:modified xsi:type="dcterms:W3CDTF">2026-10-28T01:21:31Z</dcterms:modified>
  <cp:category/>
</cp:coreProperties>
</file>