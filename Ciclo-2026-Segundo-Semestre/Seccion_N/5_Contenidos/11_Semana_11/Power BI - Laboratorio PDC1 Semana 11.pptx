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  <p:sldMasterId id="2147483660" r:id="rId2"/>
  </p:sldMasterIdLst>
  <p:notesMasterIdLst>
    <p:notesMasterId r:id="rId41"/>
  </p:notesMasterIdLst>
  <p:sldIdLst>
    <p:sldId id="292" r:id="rId3"/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3" r:id="rId38"/>
    <p:sldId id="290" r:id="rId39"/>
    <p:sldId id="291" r:id="rId40"/>
  </p:sldIdLst>
  <p:sldSz cx="12192000" cy="6858000"/>
  <p:notesSz cx="6858000" cy="9144000"/>
  <p:embeddedFontLst>
    <p:embeddedFont>
      <p:font typeface="Inter"/>
      <p:bold r:id="rId42"/>
    </p:embeddedFont>
    <p:embeddedFont>
      <p:font typeface="Open Sans" panose="020B0606030504020204" pitchFamily="34" charset="0"/>
      <p:regular r:id="rId43"/>
      <p:bold r:id="rId44"/>
    </p:embeddedFont>
    <p:embeddedFont>
      <p:font typeface="Open Sans Bold" panose="020B0806030504020204" pitchFamily="34" charset="0"/>
      <p:bold r:id="rId45"/>
    </p:embeddedFont>
    <p:embeddedFont>
      <p:font typeface="Space Grotesk"/>
      <p:bold r:id="rId46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2" d="100"/>
          <a:sy n="92" d="100"/>
        </p:scale>
        <p:origin x="307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font" Target="fonts/font1.fntdata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font" Target="fonts/font4.fntdata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font" Target="fonts/font3.fnt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font" Target="fonts/font2.fntdata"/><Relationship Id="rId48" Type="http://schemas.openxmlformats.org/officeDocument/2006/relationships/viewProps" Target="viewProps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font" Target="fonts/font5.fntdata"/><Relationship Id="rId20" Type="http://schemas.openxmlformats.org/officeDocument/2006/relationships/slide" Target="slides/slide18.xml"/><Relationship Id="rId41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G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3C81F96-6E88-4C53-A673-881B8C398B34}" type="datetimeFigureOut">
              <a:rPr lang="es-GT" smtClean="0"/>
              <a:t>27/10/2026</a:t>
            </a:fld>
            <a:endParaRPr lang="es-G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G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G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G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932261-294A-40F5-A7DE-C8C2EB453528}" type="slidenum">
              <a:rPr lang="es-GT" smtClean="0"/>
              <a:t>‹#›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34828324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69740324" name="Google Shape;51;gcb241b134e_0_0:notes"/>
          <p:cNvSpPr>
            <a:spLocks noGrp="1" noRot="1" noChangeAspec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523408" name="Google Shape;52;gcb241b134e_0_0:notes"/>
          <p:cNvSpPr txBox="1"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matchingName="Title and body" type="tx" userDrawn="1">
  <p:cSld name="Title and bod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34512995" name="Google Shape;17;p4"/>
          <p:cNvSpPr txBox="1">
            <a:spLocks noGrp="1"/>
          </p:cNvSpPr>
          <p:nvPr>
            <p:ph type="title"/>
          </p:nvPr>
        </p:nvSpPr>
        <p:spPr bwMode="auto"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706468425" name="Google Shape;18;p4"/>
          <p:cNvSpPr txBox="1">
            <a:spLocks noGrp="1"/>
          </p:cNvSpPr>
          <p:nvPr>
            <p:ph type="body" idx="1"/>
          </p:nvPr>
        </p:nvSpPr>
        <p:spPr bwMode="auto">
          <a:xfrm>
            <a:off x="415600" y="1536633"/>
            <a:ext cx="113608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57189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170" lvl="1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746127535" name="Google Shape;19;p4"/>
          <p:cNvSpPr txBox="1">
            <a:spLocks noGrp="1"/>
          </p:cNvSpPr>
          <p:nvPr>
            <p:ph type="sldNum" idx="12"/>
          </p:nvPr>
        </p:nvSpPr>
        <p:spPr bwMode="auto"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>
              <a:defRPr/>
            </a:pPr>
            <a:fld id="{00000000-1234-1234-1234-123412341234}" type="slidenum">
              <a:rPr lang="es" smtClean="0"/>
              <a:pPr>
                <a:defRPr/>
              </a:pPr>
              <a:t>‹#›</a:t>
            </a:fld>
            <a:endParaRPr lang="es"/>
          </a:p>
        </p:txBody>
      </p:sp>
    </p:spTree>
    <p:extLst>
      <p:ext uri="{BB962C8B-B14F-4D97-AF65-F5344CB8AC3E}">
        <p14:creationId xmlns:p14="http://schemas.microsoft.com/office/powerpoint/2010/main" val="199879811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58595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2" r:id="rId12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04800" y="183092"/>
            <a:ext cx="5486400" cy="762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4800" y="1066800"/>
            <a:ext cx="5486400" cy="301730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04800" y="4237567"/>
            <a:ext cx="14224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082800" y="4237567"/>
            <a:ext cx="19304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368800" y="4237567"/>
            <a:ext cx="14224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6339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txStyles>
    <p:titleStyle>
      <a:lvl1pPr algn="ctr" defTabSz="609630" rtl="0" eaLnBrk="1" latinLnBrk="0" hangingPunct="1">
        <a:spcBef>
          <a:spcPct val="0"/>
        </a:spcBef>
        <a:buNone/>
        <a:defRPr sz="293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11" indent="-228611" algn="l" defTabSz="609630" rtl="0" eaLnBrk="1" latinLnBrk="0" hangingPunct="1">
        <a:spcBef>
          <a:spcPct val="20000"/>
        </a:spcBef>
        <a:buFont typeface="Arial" pitchFamily="34" charset="0"/>
        <a:buChar char="•"/>
        <a:defRPr sz="2133" kern="1200">
          <a:solidFill>
            <a:schemeClr val="tx1"/>
          </a:solidFill>
          <a:latin typeface="+mn-lt"/>
          <a:ea typeface="+mn-ea"/>
          <a:cs typeface="+mn-cs"/>
        </a:defRPr>
      </a:lvl1pPr>
      <a:lvl2pPr marL="495325" indent="-190510" algn="l" defTabSz="609630" rtl="0" eaLnBrk="1" latinLnBrk="0" hangingPunct="1">
        <a:spcBef>
          <a:spcPct val="20000"/>
        </a:spcBef>
        <a:buFont typeface="Arial" pitchFamily="34" charset="0"/>
        <a:buChar char="–"/>
        <a:defRPr sz="1867" kern="1200">
          <a:solidFill>
            <a:schemeClr val="tx1"/>
          </a:solidFill>
          <a:latin typeface="+mn-lt"/>
          <a:ea typeface="+mn-ea"/>
          <a:cs typeface="+mn-cs"/>
        </a:defRPr>
      </a:lvl2pPr>
      <a:lvl3pPr marL="762038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66853" indent="-152408" algn="l" defTabSz="609630" rtl="0" eaLnBrk="1" latinLnBrk="0" hangingPunct="1">
        <a:spcBef>
          <a:spcPct val="20000"/>
        </a:spcBef>
        <a:buFont typeface="Arial" pitchFamily="34" charset="0"/>
        <a:buChar char="–"/>
        <a:defRPr sz="1333" kern="1200">
          <a:solidFill>
            <a:schemeClr val="tx1"/>
          </a:solidFill>
          <a:latin typeface="+mn-lt"/>
          <a:ea typeface="+mn-ea"/>
          <a:cs typeface="+mn-cs"/>
        </a:defRPr>
      </a:lvl4pPr>
      <a:lvl5pPr marL="1371669" indent="-152408" algn="l" defTabSz="609630" rtl="0" eaLnBrk="1" latinLnBrk="0" hangingPunct="1">
        <a:spcBef>
          <a:spcPct val="20000"/>
        </a:spcBef>
        <a:buFont typeface="Arial" pitchFamily="34" charset="0"/>
        <a:buChar char="»"/>
        <a:defRPr sz="1333" kern="1200">
          <a:solidFill>
            <a:schemeClr val="tx1"/>
          </a:solidFill>
          <a:latin typeface="+mn-lt"/>
          <a:ea typeface="+mn-ea"/>
          <a:cs typeface="+mn-cs"/>
        </a:defRPr>
      </a:lvl5pPr>
      <a:lvl6pPr marL="1676484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sz="1333" kern="1200">
          <a:solidFill>
            <a:schemeClr val="tx1"/>
          </a:solidFill>
          <a:latin typeface="+mn-lt"/>
          <a:ea typeface="+mn-ea"/>
          <a:cs typeface="+mn-cs"/>
        </a:defRPr>
      </a:lvl6pPr>
      <a:lvl7pPr marL="1981299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sz="1333" kern="1200">
          <a:solidFill>
            <a:schemeClr val="tx1"/>
          </a:solidFill>
          <a:latin typeface="+mn-lt"/>
          <a:ea typeface="+mn-ea"/>
          <a:cs typeface="+mn-cs"/>
        </a:defRPr>
      </a:lvl7pPr>
      <a:lvl8pPr marL="2286114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sz="1333" kern="1200">
          <a:solidFill>
            <a:schemeClr val="tx1"/>
          </a:solidFill>
          <a:latin typeface="+mn-lt"/>
          <a:ea typeface="+mn-ea"/>
          <a:cs typeface="+mn-cs"/>
        </a:defRPr>
      </a:lvl8pPr>
      <a:lvl9pPr marL="2590930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sz="133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1pPr>
      <a:lvl2pPr marL="304815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609630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46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219261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524076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91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2133707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2438522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8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19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81" b="-81"/>
            </a:stretch>
          </a:blipFill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GT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3951407" y="4347290"/>
            <a:ext cx="4289187" cy="5740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ctr" defTabSz="609630" rtl="0" eaLnBrk="1" fontAlgn="auto" latinLnBrk="0" hangingPunct="1">
              <a:lnSpc>
                <a:spcPts val="47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393" b="1" i="0" u="none" strike="noStrike" kern="1200" cap="none" spc="0" normalizeH="0" baseline="0" noProof="0" dirty="0">
                <a:ln>
                  <a:noFill/>
                </a:ln>
                <a:solidFill>
                  <a:srgbClr val="FEFEFE"/>
                </a:solidFill>
                <a:effectLst/>
                <a:uLnTx/>
                <a:uFillTx/>
                <a:latin typeface="Open Sans Bold"/>
                <a:ea typeface="Open Sans Bold"/>
                <a:cs typeface="Open Sans Bold"/>
                <a:sym typeface="Open Sans Bold"/>
              </a:rPr>
              <a:t>Aux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2435302" y="2654296"/>
            <a:ext cx="7321397" cy="10424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ctr" defTabSz="609630" rtl="0" eaLnBrk="1" fontAlgn="auto" latinLnBrk="0" hangingPunct="1">
              <a:lnSpc>
                <a:spcPts val="4223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16" b="1" i="0" u="none" strike="noStrike" kern="1200" cap="none" spc="0" normalizeH="0" baseline="0" noProof="0" dirty="0">
                <a:ln>
                  <a:noFill/>
                </a:ln>
                <a:solidFill>
                  <a:srgbClr val="FEFEFE"/>
                </a:solidFill>
                <a:effectLst/>
                <a:uLnTx/>
                <a:uFillTx/>
                <a:latin typeface="Open Sans Bold"/>
                <a:ea typeface="Open Sans Bold"/>
                <a:cs typeface="Open Sans Bold"/>
                <a:sym typeface="Open Sans Bold"/>
              </a:rPr>
              <a:t>Laboratorio de </a:t>
            </a:r>
            <a:r>
              <a:rPr kumimoji="0" lang="en-US" sz="3016" b="1" i="0" u="none" strike="noStrike" kern="1200" cap="none" spc="0" normalizeH="0" baseline="0" noProof="0" dirty="0" err="1">
                <a:ln>
                  <a:noFill/>
                </a:ln>
                <a:solidFill>
                  <a:srgbClr val="FEFEFE"/>
                </a:solidFill>
                <a:effectLst/>
                <a:uLnTx/>
                <a:uFillTx/>
                <a:latin typeface="Open Sans Bold"/>
                <a:ea typeface="Open Sans Bold"/>
                <a:cs typeface="Open Sans Bold"/>
                <a:sym typeface="Open Sans Bold"/>
              </a:rPr>
              <a:t>Programacion</a:t>
            </a:r>
            <a:r>
              <a:rPr kumimoji="0" lang="en-US" sz="3016" b="1" i="0" u="none" strike="noStrike" kern="1200" cap="none" spc="0" normalizeH="0" baseline="0" noProof="0" dirty="0">
                <a:ln>
                  <a:noFill/>
                </a:ln>
                <a:solidFill>
                  <a:srgbClr val="FEFEFE"/>
                </a:solidFill>
                <a:effectLst/>
                <a:uLnTx/>
                <a:uFillTx/>
                <a:latin typeface="Open Sans Bold"/>
                <a:ea typeface="Open Sans Bold"/>
                <a:cs typeface="Open Sans Bold"/>
                <a:sym typeface="Open Sans Bold"/>
              </a:rPr>
              <a:t> de </a:t>
            </a:r>
            <a:r>
              <a:rPr kumimoji="0" lang="en-US" sz="3016" b="1" i="0" u="none" strike="noStrike" kern="1200" cap="none" spc="0" normalizeH="0" baseline="0" noProof="0" dirty="0" err="1">
                <a:ln>
                  <a:noFill/>
                </a:ln>
                <a:solidFill>
                  <a:srgbClr val="FEFEFE"/>
                </a:solidFill>
                <a:effectLst/>
                <a:uLnTx/>
                <a:uFillTx/>
                <a:latin typeface="Open Sans Bold"/>
                <a:ea typeface="Open Sans Bold"/>
                <a:cs typeface="Open Sans Bold"/>
                <a:sym typeface="Open Sans Bold"/>
              </a:rPr>
              <a:t>computadoras</a:t>
            </a:r>
            <a:r>
              <a:rPr kumimoji="0" lang="en-US" sz="3016" b="1" i="0" u="none" strike="noStrike" kern="1200" cap="none" spc="0" normalizeH="0" baseline="0" noProof="0" dirty="0">
                <a:ln>
                  <a:noFill/>
                </a:ln>
                <a:solidFill>
                  <a:srgbClr val="FEFEFE"/>
                </a:solidFill>
                <a:effectLst/>
                <a:uLnTx/>
                <a:uFillTx/>
                <a:latin typeface="Open Sans Bold"/>
                <a:ea typeface="Open Sans Bold"/>
                <a:cs typeface="Open Sans Bold"/>
                <a:sym typeface="Open Sans Bold"/>
              </a:rPr>
              <a:t> I, </a:t>
            </a:r>
            <a:r>
              <a:rPr kumimoji="0" lang="en-US" sz="3016" b="1" i="0" u="none" strike="noStrike" kern="1200" cap="none" spc="0" normalizeH="0" baseline="0" noProof="0" dirty="0" err="1">
                <a:ln>
                  <a:noFill/>
                </a:ln>
                <a:solidFill>
                  <a:srgbClr val="FEFEFE"/>
                </a:solidFill>
                <a:effectLst/>
                <a:uLnTx/>
                <a:uFillTx/>
                <a:latin typeface="Open Sans Bold"/>
                <a:ea typeface="Open Sans Bold"/>
                <a:cs typeface="Open Sans Bold"/>
                <a:sym typeface="Open Sans Bold"/>
              </a:rPr>
              <a:t>Sección</a:t>
            </a:r>
            <a:r>
              <a:rPr kumimoji="0" lang="en-US" sz="3016" b="1" i="0" u="none" strike="noStrike" kern="1200" cap="none" spc="0" normalizeH="0" baseline="0" noProof="0" dirty="0">
                <a:ln>
                  <a:noFill/>
                </a:ln>
                <a:solidFill>
                  <a:srgbClr val="FEFEFE"/>
                </a:solidFill>
                <a:effectLst/>
                <a:uLnTx/>
                <a:uFillTx/>
                <a:latin typeface="Open Sans Bold"/>
                <a:ea typeface="Open Sans Bold"/>
                <a:cs typeface="Open Sans Bold"/>
                <a:sym typeface="Open Sans Bold"/>
              </a:rPr>
              <a:t> X</a:t>
            </a:r>
          </a:p>
        </p:txBody>
      </p:sp>
      <p:graphicFrame>
        <p:nvGraphicFramePr>
          <p:cNvPr id="5" name="Table 5"/>
          <p:cNvGraphicFramePr>
            <a:graphicFrameLocks noGrp="1"/>
          </p:cNvGraphicFramePr>
          <p:nvPr/>
        </p:nvGraphicFramePr>
        <p:xfrm>
          <a:off x="8253332" y="1281455"/>
          <a:ext cx="3610484" cy="1079500"/>
        </p:xfrm>
        <a:graphic>
          <a:graphicData uri="http://schemas.openxmlformats.org/drawingml/2006/table">
            <a:tbl>
              <a:tblPr/>
              <a:tblGrid>
                <a:gridCol w="180524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0524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39750"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Dia, Fecha: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Martes 21/07/2026</a:t>
                      </a:r>
                      <a:endParaRPr lang="en-US" sz="700" dirty="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9750"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Hora de inicio: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12:20</a:t>
                      </a:r>
                      <a:endParaRPr lang="en-US" sz="700" dirty="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17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791200" y="4491930"/>
            <a:ext cx="609600" cy="381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958703" y="2327969"/>
            <a:ext cx="6274593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50" b="0" i="0" u="none">
                <a:solidFill>
                  <a:srgbClr val="D97706"/>
                </a:solidFill>
                <a:latin typeface="Space Grotesk"/>
              </a:rPr>
              <a:t>LABORATORIO PROGRAMACIÓN DE COMPUTADORAS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5306" y="2775644"/>
            <a:ext cx="11101387" cy="7542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5940"/>
              </a:lnSpc>
            </a:pPr>
            <a:r>
              <a:rPr sz="5400" b="1" i="0" u="none">
                <a:solidFill>
                  <a:srgbClr val="FAFAF9"/>
                </a:solidFill>
                <a:latin typeface="Space Grotesk"/>
              </a:rPr>
              <a:t>Herramientas de Power BI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917156" y="3834705"/>
            <a:ext cx="4357687" cy="2762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800" b="0" i="0" u="none">
                <a:solidFill>
                  <a:srgbClr val="A3A3A3"/>
                </a:solidFill>
                <a:latin typeface="Inter"/>
              </a:rPr>
              <a:t>Análisis visual de datos masivos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" y="3586162"/>
            <a:ext cx="457200" cy="381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09600" y="2852737"/>
            <a:ext cx="7200900" cy="581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600" b="1" i="0" u="none">
                <a:solidFill>
                  <a:srgbClr val="171717"/>
                </a:solidFill>
                <a:latin typeface="Space Grotesk"/>
              </a:rPr>
              <a:t>Agenda de la Clase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0" y="1714500"/>
            <a:ext cx="6096000" cy="29527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800" b="1" i="0" u="none">
                <a:solidFill>
                  <a:srgbClr val="D97706"/>
                </a:solidFill>
                <a:latin typeface="Inter"/>
              </a:rPr>
              <a:t>1.</a:t>
            </a:r>
            <a:r>
              <a:rPr sz="1800" b="0" i="0" u="none">
                <a:solidFill>
                  <a:srgbClr val="374151"/>
                </a:solidFill>
                <a:latin typeface="Inter"/>
              </a:rPr>
              <a:t> Preguntas del proyecto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0" y="2162175"/>
            <a:ext cx="6096000" cy="29527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800" b="1" i="0" u="none">
                <a:solidFill>
                  <a:srgbClr val="D97706"/>
                </a:solidFill>
                <a:latin typeface="Inter"/>
              </a:rPr>
              <a:t>2.</a:t>
            </a:r>
            <a:r>
              <a:rPr sz="1800" b="0" i="0" u="none">
                <a:solidFill>
                  <a:srgbClr val="374151"/>
                </a:solidFill>
                <a:latin typeface="Inter"/>
              </a:rPr>
              <a:t> Hoja de calificación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0" y="2609850"/>
            <a:ext cx="6096000" cy="29527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800" b="1" i="0" u="none">
                <a:solidFill>
                  <a:srgbClr val="D97706"/>
                </a:solidFill>
                <a:latin typeface="Inter"/>
              </a:rPr>
              <a:t>3.</a:t>
            </a:r>
            <a:r>
              <a:rPr sz="1800" b="0" i="0" u="none">
                <a:solidFill>
                  <a:srgbClr val="374151"/>
                </a:solidFill>
                <a:latin typeface="Inter"/>
              </a:rPr>
              <a:t> Foro de la semana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0" y="3057525"/>
            <a:ext cx="6096000" cy="29527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800" b="1" i="0" u="none">
                <a:solidFill>
                  <a:srgbClr val="D97706"/>
                </a:solidFill>
                <a:latin typeface="Inter"/>
              </a:rPr>
              <a:t>4.</a:t>
            </a:r>
            <a:r>
              <a:rPr sz="1800" b="0" i="0" u="none">
                <a:solidFill>
                  <a:srgbClr val="374151"/>
                </a:solidFill>
                <a:latin typeface="Inter"/>
              </a:rPr>
              <a:t> Desarrollo del tema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0" y="3505200"/>
            <a:ext cx="6096000" cy="29527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800" b="1" i="0" u="none">
                <a:solidFill>
                  <a:srgbClr val="D97706"/>
                </a:solidFill>
                <a:latin typeface="Inter"/>
              </a:rPr>
              <a:t>5.</a:t>
            </a:r>
            <a:r>
              <a:rPr sz="1800" b="0" i="0" u="none">
                <a:solidFill>
                  <a:srgbClr val="374151"/>
                </a:solidFill>
                <a:latin typeface="Inter"/>
              </a:rPr>
              <a:t> Video de la semana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0" y="3952875"/>
            <a:ext cx="6096000" cy="29527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800" b="1" i="0" u="none">
                <a:solidFill>
                  <a:srgbClr val="D97706"/>
                </a:solidFill>
                <a:latin typeface="Inter"/>
              </a:rPr>
              <a:t>6.</a:t>
            </a:r>
            <a:r>
              <a:rPr sz="1800" b="0" i="0" u="none">
                <a:solidFill>
                  <a:srgbClr val="374151"/>
                </a:solidFill>
                <a:latin typeface="Inter"/>
              </a:rPr>
              <a:t> Ejemplo práctico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0" y="4400550"/>
            <a:ext cx="6096000" cy="29527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800" b="1" i="0" u="none">
                <a:solidFill>
                  <a:srgbClr val="D97706"/>
                </a:solidFill>
                <a:latin typeface="Inter"/>
              </a:rPr>
              <a:t>7.</a:t>
            </a:r>
            <a:r>
              <a:rPr sz="1800" b="0" i="0" u="none">
                <a:solidFill>
                  <a:srgbClr val="374151"/>
                </a:solidFill>
                <a:latin typeface="Inter"/>
              </a:rPr>
              <a:t> Actividad corta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0" y="4848225"/>
            <a:ext cx="6096000" cy="29527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800" b="1" i="0" u="none">
                <a:solidFill>
                  <a:srgbClr val="D97706"/>
                </a:solidFill>
                <a:latin typeface="Inter"/>
              </a:rPr>
              <a:t>8.</a:t>
            </a:r>
            <a:r>
              <a:rPr sz="1800" b="0" i="0" u="none">
                <a:solidFill>
                  <a:srgbClr val="374151"/>
                </a:solidFill>
                <a:latin typeface="Inter"/>
              </a:rPr>
              <a:t> ¿Dudas?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345906" y="2814637"/>
            <a:ext cx="1500187" cy="2952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800" b="0" i="0" u="none">
                <a:solidFill>
                  <a:srgbClr val="D97706"/>
                </a:solidFill>
                <a:latin typeface="Space Grotesk"/>
              </a:rPr>
              <a:t>Sección 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51682" y="3262312"/>
            <a:ext cx="9088635" cy="7810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4800" b="1" i="0" u="none">
                <a:solidFill>
                  <a:srgbClr val="171717"/>
                </a:solidFill>
                <a:latin typeface="Space Grotesk"/>
              </a:rPr>
              <a:t>Preguntas del Proyecto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0250" y="2128837"/>
            <a:ext cx="571500" cy="762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070621" y="3271837"/>
            <a:ext cx="6050756" cy="581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3600" b="1" i="0" u="none">
                <a:solidFill>
                  <a:srgbClr val="171717"/>
                </a:solidFill>
                <a:latin typeface="Space Grotesk"/>
              </a:rPr>
              <a:t>Resolución de Dudas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33500" y="4081462"/>
            <a:ext cx="9525000" cy="647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100" b="0" i="0" u="none">
                <a:solidFill>
                  <a:srgbClr val="4B5563"/>
                </a:solidFill>
                <a:latin typeface="Inter"/>
              </a:rPr>
              <a:t>Espacio dedicado a resolver impedimentos técnicos y consultas sobre la lógica del Proyecto 2.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328046" y="2814637"/>
            <a:ext cx="1535906" cy="2952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800" b="0" i="0" u="none">
                <a:solidFill>
                  <a:srgbClr val="D97706"/>
                </a:solidFill>
                <a:latin typeface="Space Grotesk"/>
              </a:rPr>
              <a:t>Sección 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301775" y="3262312"/>
            <a:ext cx="7588448" cy="7810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4800" b="1" i="0" u="none">
                <a:solidFill>
                  <a:srgbClr val="171717"/>
                </a:solidFill>
                <a:latin typeface="Space Grotesk"/>
              </a:rPr>
              <a:t>Hoja de Calificación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" y="2709862"/>
            <a:ext cx="4449663" cy="1905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59263" y="2709862"/>
            <a:ext cx="2460873" cy="1905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520136" y="2709862"/>
            <a:ext cx="4062263" cy="1905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09600" y="3286125"/>
            <a:ext cx="4449663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059263" y="3286125"/>
            <a:ext cx="2460873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520136" y="3286125"/>
            <a:ext cx="4062263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09600" y="3848100"/>
            <a:ext cx="4449663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059263" y="3848100"/>
            <a:ext cx="2460873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520136" y="3848100"/>
            <a:ext cx="4062263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09600" y="4410075"/>
            <a:ext cx="4449663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059263" y="4410075"/>
            <a:ext cx="2460873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520136" y="4410075"/>
            <a:ext cx="4062263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09600" y="4972050"/>
            <a:ext cx="4449663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059263" y="4972050"/>
            <a:ext cx="2460873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520136" y="4972050"/>
            <a:ext cx="4062263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09600" y="5534025"/>
            <a:ext cx="4449663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059263" y="5534025"/>
            <a:ext cx="2460873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7520136" y="5534025"/>
            <a:ext cx="4062263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20" name="Table 1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43034421"/>
              </p:ext>
            </p:extLst>
          </p:nvPr>
        </p:nvGraphicFramePr>
        <p:xfrm>
          <a:off x="609600" y="2147887"/>
          <a:ext cx="10972797" cy="3400425"/>
        </p:xfrm>
        <a:graphic>
          <a:graphicData uri="http://schemas.openxmlformats.org/drawingml/2006/table">
            <a:tbl>
              <a:tblPr/>
              <a:tblGrid>
                <a:gridCol w="44496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6087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622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6737">
                <a:tc>
                  <a:txBody>
                    <a:bodyPr/>
                    <a:lstStyle/>
                    <a:p>
                      <a:pPr algn="l"/>
                      <a:r>
                        <a:rPr sz="1650" b="1" i="0" u="none">
                          <a:solidFill>
                            <a:srgbClr val="1F2937"/>
                          </a:solidFill>
                          <a:latin typeface="Space Grotesk"/>
                        </a:rPr>
                        <a:t>Actividad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1" i="0" u="none">
                          <a:solidFill>
                            <a:srgbClr val="1F2937"/>
                          </a:solidFill>
                          <a:latin typeface="Space Grotesk"/>
                        </a:rPr>
                        <a:t>Cantidad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1" i="0" u="none" dirty="0" err="1">
                          <a:solidFill>
                            <a:srgbClr val="1F2937"/>
                          </a:solidFill>
                          <a:latin typeface="Space Grotesk"/>
                        </a:rPr>
                        <a:t>Ponderación</a:t>
                      </a:r>
                      <a:r>
                        <a:rPr sz="1650" b="1" i="0" u="none" dirty="0">
                          <a:solidFill>
                            <a:srgbClr val="1F2937"/>
                          </a:solidFill>
                          <a:latin typeface="Space Grotesk"/>
                        </a:rPr>
                        <a:t> Total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737">
                <a:tc>
                  <a:txBody>
                    <a:bodyPr/>
                    <a:lstStyle/>
                    <a:p>
                      <a:pPr algn="l"/>
                      <a:r>
                        <a:rPr sz="1650" b="0" i="0" u="none">
                          <a:solidFill>
                            <a:srgbClr val="374151"/>
                          </a:solidFill>
                          <a:latin typeface="Inter"/>
                        </a:rPr>
                        <a:t>Proyectos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0" i="0" u="none">
                          <a:solidFill>
                            <a:srgbClr val="374151"/>
                          </a:solidFill>
                          <a:latin typeface="Inter"/>
                        </a:rPr>
                        <a:t>2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1" i="0" u="none" dirty="0">
                          <a:solidFill>
                            <a:srgbClr val="D97706"/>
                          </a:solidFill>
                          <a:latin typeface="Inter"/>
                        </a:rPr>
                        <a:t>70 pts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737">
                <a:tc>
                  <a:txBody>
                    <a:bodyPr/>
                    <a:lstStyle/>
                    <a:p>
                      <a:pPr algn="l"/>
                      <a:r>
                        <a:rPr sz="1650" b="0" i="0" u="none">
                          <a:solidFill>
                            <a:srgbClr val="374151"/>
                          </a:solidFill>
                          <a:latin typeface="Inter"/>
                        </a:rPr>
                        <a:t>Prácticas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50" b="0" i="0" u="none" dirty="0">
                          <a:solidFill>
                            <a:srgbClr val="374151"/>
                          </a:solidFill>
                          <a:latin typeface="Inter"/>
                        </a:rPr>
                        <a:t>1</a:t>
                      </a:r>
                      <a:endParaRPr sz="1650" b="0" i="0" u="none" dirty="0">
                        <a:solidFill>
                          <a:srgbClr val="374151"/>
                        </a:solidFill>
                        <a:latin typeface="Inter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0" i="0" u="none">
                          <a:solidFill>
                            <a:srgbClr val="374151"/>
                          </a:solidFill>
                          <a:latin typeface="Inter"/>
                        </a:rPr>
                        <a:t>10 pts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737">
                <a:tc>
                  <a:txBody>
                    <a:bodyPr/>
                    <a:lstStyle/>
                    <a:p>
                      <a:pPr algn="l"/>
                      <a:r>
                        <a:rPr sz="1650" b="0" i="0" u="none">
                          <a:solidFill>
                            <a:srgbClr val="374151"/>
                          </a:solidFill>
                          <a:latin typeface="Inter"/>
                        </a:rPr>
                        <a:t>Tareas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0" i="0" u="none">
                          <a:solidFill>
                            <a:srgbClr val="374151"/>
                          </a:solidFill>
                          <a:latin typeface="Inter"/>
                        </a:rPr>
                        <a:t>5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0" i="0" u="none">
                          <a:solidFill>
                            <a:srgbClr val="374151"/>
                          </a:solidFill>
                          <a:latin typeface="Inter"/>
                        </a:rPr>
                        <a:t>5 pts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737">
                <a:tc>
                  <a:txBody>
                    <a:bodyPr/>
                    <a:lstStyle/>
                    <a:p>
                      <a:pPr algn="l"/>
                      <a:r>
                        <a:rPr sz="1650" b="0" i="0" u="none">
                          <a:solidFill>
                            <a:srgbClr val="374151"/>
                          </a:solidFill>
                          <a:latin typeface="Inter"/>
                        </a:rPr>
                        <a:t>Actividades en Clase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0" i="0" u="none">
                          <a:solidFill>
                            <a:srgbClr val="374151"/>
                          </a:solidFill>
                          <a:latin typeface="Inter"/>
                        </a:rPr>
                        <a:t>5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0" i="0" u="none">
                          <a:solidFill>
                            <a:srgbClr val="374151"/>
                          </a:solidFill>
                          <a:latin typeface="Inter"/>
                        </a:rPr>
                        <a:t>5 pts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740">
                <a:tc>
                  <a:txBody>
                    <a:bodyPr/>
                    <a:lstStyle/>
                    <a:p>
                      <a:pPr algn="l"/>
                      <a:r>
                        <a:rPr sz="1650" b="0" i="0" u="none" dirty="0">
                          <a:solidFill>
                            <a:srgbClr val="374151"/>
                          </a:solidFill>
                          <a:latin typeface="Inter"/>
                        </a:rPr>
                        <a:t>Examen Final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0" i="0" u="none">
                          <a:solidFill>
                            <a:srgbClr val="374151"/>
                          </a:solidFill>
                          <a:latin typeface="Inter"/>
                        </a:rPr>
                        <a:t>1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0" i="0" u="none" dirty="0">
                          <a:solidFill>
                            <a:srgbClr val="374151"/>
                          </a:solidFill>
                          <a:latin typeface="Inter"/>
                        </a:rPr>
                        <a:t>10 pts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1" name="TextBox 20"/>
          <p:cNvSpPr txBox="1"/>
          <p:nvPr/>
        </p:nvSpPr>
        <p:spPr>
          <a:xfrm>
            <a:off x="609600" y="609600"/>
            <a:ext cx="1158240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171717"/>
                </a:solidFill>
                <a:latin typeface="Space Grotesk"/>
              </a:rPr>
              <a:t>Distribución de Puntos (100 pts)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322093" y="2814637"/>
            <a:ext cx="1547812" cy="2952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800" b="0" i="0" u="none">
                <a:solidFill>
                  <a:srgbClr val="D97706"/>
                </a:solidFill>
                <a:latin typeface="Space Grotesk"/>
              </a:rPr>
              <a:t>Sección 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95562" y="3262312"/>
            <a:ext cx="7000875" cy="7810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4800" b="1" i="0" u="none">
                <a:solidFill>
                  <a:srgbClr val="171717"/>
                </a:solidFill>
                <a:latin typeface="Space Grotesk"/>
              </a:rPr>
              <a:t>Foro de la Semana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5400" y="2780407"/>
            <a:ext cx="409575" cy="4572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09600" y="609600"/>
            <a:ext cx="1158240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171717"/>
                </a:solidFill>
                <a:latin typeface="Space Grotesk"/>
              </a:rPr>
              <a:t>Tema de Discusión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95400" y="3466207"/>
            <a:ext cx="10261282" cy="109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sz="3600" b="1" i="0" u="none">
                <a:solidFill>
                  <a:srgbClr val="171717"/>
                </a:solidFill>
                <a:latin typeface="Space Grotesk"/>
              </a:rPr>
              <a:t>Impacto del análisis visual en la toma de decisiones corporativas.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95400" y="4791967"/>
            <a:ext cx="4488656" cy="2762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64748B"/>
                </a:solidFill>
                <a:latin typeface="Inter"/>
              </a:rPr>
              <a:t>Participación obligatoria en UEDI.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976562"/>
            <a:ext cx="2581275" cy="2295525"/>
          </a:xfrm>
          <a:prstGeom prst="roundRect">
            <a:avLst>
              <a:gd name="adj" fmla="val 4979"/>
            </a:avLst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3419475" y="2976562"/>
            <a:ext cx="2568624" cy="2295525"/>
          </a:xfrm>
          <a:prstGeom prst="roundRect">
            <a:avLst>
              <a:gd name="adj" fmla="val 4979"/>
            </a:avLst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216699" y="2976562"/>
            <a:ext cx="2568624" cy="2295525"/>
          </a:xfrm>
          <a:prstGeom prst="roundRect">
            <a:avLst>
              <a:gd name="adj" fmla="val 4979"/>
            </a:avLst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9013924" y="3076575"/>
            <a:ext cx="2568624" cy="2095500"/>
          </a:xfrm>
          <a:prstGeom prst="roundRect">
            <a:avLst>
              <a:gd name="adj" fmla="val 5454"/>
            </a:avLst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1637" y="3357562"/>
            <a:ext cx="457200" cy="4572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75112" y="3357562"/>
            <a:ext cx="457200" cy="4572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15187" y="3357562"/>
            <a:ext cx="571500" cy="4572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26712" y="3457575"/>
            <a:ext cx="342900" cy="4572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9600" y="609600"/>
            <a:ext cx="1158240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D97706"/>
                </a:solidFill>
                <a:latin typeface="Space Grotesk"/>
              </a:rPr>
              <a:t>DESARROLLO HUMANO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904875"/>
            <a:ext cx="11582400" cy="485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000" b="1" i="0" u="none">
                <a:solidFill>
                  <a:srgbClr val="171717"/>
                </a:solidFill>
                <a:latin typeface="Space Grotesk"/>
              </a:rPr>
              <a:t>Valores de la Semana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6338" y="4043362"/>
            <a:ext cx="2387798" cy="2952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800" b="1" i="0" u="none">
                <a:solidFill>
                  <a:srgbClr val="000000"/>
                </a:solidFill>
                <a:latin typeface="Space Grotesk"/>
              </a:rPr>
              <a:t>Responsabilidad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3190" y="4491037"/>
            <a:ext cx="2274093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0" i="0" u="none">
                <a:solidFill>
                  <a:srgbClr val="4B5563"/>
                </a:solidFill>
                <a:latin typeface="Inter"/>
              </a:rPr>
              <a:t>Cumplimiento estricto de tiempos.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18189" y="4043362"/>
            <a:ext cx="2371194" cy="2952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800" b="1" i="0" u="none">
                <a:solidFill>
                  <a:srgbClr val="000000"/>
                </a:solidFill>
                <a:latin typeface="Space Grotesk"/>
              </a:rPr>
              <a:t>Honestidad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74646" y="4491037"/>
            <a:ext cx="225828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0" i="0" u="none">
                <a:solidFill>
                  <a:srgbClr val="4B5563"/>
                </a:solidFill>
                <a:latin typeface="Inter"/>
              </a:rPr>
              <a:t>Trabajos propios sin plagio.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15414" y="4043362"/>
            <a:ext cx="2371194" cy="2952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800" b="1" i="0" u="none">
                <a:solidFill>
                  <a:srgbClr val="000000"/>
                </a:solidFill>
                <a:latin typeface="Space Grotesk"/>
              </a:rPr>
              <a:t>Colaboración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71871" y="4491037"/>
            <a:ext cx="225828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0" i="0" u="none">
                <a:solidFill>
                  <a:srgbClr val="4B5563"/>
                </a:solidFill>
                <a:latin typeface="Inter"/>
              </a:rPr>
              <a:t>Sinergia en trabajo grupal.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12639" y="4143375"/>
            <a:ext cx="2371194" cy="2952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800" b="1" i="0" u="none">
                <a:solidFill>
                  <a:srgbClr val="000000"/>
                </a:solidFill>
                <a:latin typeface="Space Grotesk"/>
              </a:rPr>
              <a:t>Creatividad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69096" y="4591050"/>
            <a:ext cx="225828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50" b="0" i="0" u="none">
                <a:solidFill>
                  <a:srgbClr val="4B5563"/>
                </a:solidFill>
                <a:latin typeface="Inter"/>
              </a:rPr>
              <a:t>Soluciones originales.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322093" y="2424112"/>
            <a:ext cx="1547812" cy="2952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800" b="0" i="0" u="none">
                <a:solidFill>
                  <a:srgbClr val="D97706"/>
                </a:solidFill>
                <a:latin typeface="Space Grotesk"/>
              </a:rPr>
              <a:t>Sección 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39267" y="2871787"/>
            <a:ext cx="7713464" cy="14773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4800" b="1" i="0" u="none" dirty="0">
                <a:solidFill>
                  <a:srgbClr val="171717"/>
                </a:solidFill>
                <a:latin typeface="Space Grotesk"/>
              </a:rPr>
              <a:t>Desarrollo del Tema:</a:t>
            </a:r>
            <a:r>
              <a:rPr dirty="0"/>
              <a:t>
</a:t>
            </a:r>
            <a:r>
              <a:rPr sz="4800" b="1" i="0" u="none" dirty="0">
                <a:solidFill>
                  <a:srgbClr val="171717"/>
                </a:solidFill>
                <a:latin typeface="Space Grotesk"/>
              </a:rPr>
              <a:t> Power BI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" y="3996630"/>
            <a:ext cx="457200" cy="381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09600" y="2594669"/>
            <a:ext cx="5860732" cy="1173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4620"/>
              </a:lnSpc>
            </a:pPr>
            <a:r>
              <a:rPr sz="4200" b="1" i="0" u="none">
                <a:solidFill>
                  <a:srgbClr val="171717"/>
                </a:solidFill>
                <a:latin typeface="Space Grotesk"/>
              </a:rPr>
              <a:t>¿Qué es</a:t>
            </a:r>
            <a:r>
              <a:t>
</a:t>
            </a:r>
            <a:r>
              <a:rPr sz="4200" b="1" i="0" u="none">
                <a:solidFill>
                  <a:srgbClr val="171717"/>
                </a:solidFill>
                <a:latin typeface="Space Grotesk"/>
              </a:rPr>
              <a:t> Power BI?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0" y="1943397"/>
            <a:ext cx="5581650" cy="7465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sz="2100" b="0" i="0" u="none">
                <a:solidFill>
                  <a:srgbClr val="374151"/>
                </a:solidFill>
                <a:latin typeface="Inter"/>
              </a:rPr>
              <a:t>Servicio de análisis empresarial de Microsoft.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91250" y="2996624"/>
            <a:ext cx="133350" cy="3619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4B5563"/>
                </a:solidFill>
                <a:latin typeface="Inter"/>
              </a:rPr>
              <a:t>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24600" y="2994719"/>
            <a:ext cx="5867400" cy="365670"/>
          </a:xfrm>
          <a:prstGeom prst="rect">
            <a:avLst/>
          </a:prstGeom>
          <a:noFill/>
        </p:spPr>
        <p:txBody>
          <a:bodyPr wrap="none" lIns="13335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1800" b="1" i="0" u="none">
                <a:solidFill>
                  <a:srgbClr val="4B5563"/>
                </a:solidFill>
                <a:latin typeface="Inter"/>
              </a:rPr>
              <a:t>Conexión masiva:</a:t>
            </a:r>
            <a:r>
              <a:rPr sz="1800" b="0" i="0" u="none">
                <a:solidFill>
                  <a:srgbClr val="4B5563"/>
                </a:solidFill>
                <a:latin typeface="Inter"/>
              </a:rPr>
              <a:t> Múltiples orígenes de datos.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91250" y="3476595"/>
            <a:ext cx="133350" cy="3619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4B5563"/>
                </a:solidFill>
                <a:latin typeface="Inter"/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4600" y="3474690"/>
            <a:ext cx="5867400" cy="365670"/>
          </a:xfrm>
          <a:prstGeom prst="rect">
            <a:avLst/>
          </a:prstGeom>
          <a:noFill/>
        </p:spPr>
        <p:txBody>
          <a:bodyPr wrap="none" lIns="13335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1800" b="1" i="0" u="none">
                <a:solidFill>
                  <a:srgbClr val="4B5563"/>
                </a:solidFill>
                <a:latin typeface="Inter"/>
              </a:rPr>
              <a:t>Modelado:</a:t>
            </a:r>
            <a:r>
              <a:rPr sz="1800" b="0" i="0" u="none">
                <a:solidFill>
                  <a:srgbClr val="4B5563"/>
                </a:solidFill>
                <a:latin typeface="Inter"/>
              </a:rPr>
              <a:t> Relaciones interactivas.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91250" y="3956565"/>
            <a:ext cx="133350" cy="3619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4B5563"/>
                </a:solidFill>
                <a:latin typeface="Inter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4600" y="3954660"/>
            <a:ext cx="5867400" cy="365670"/>
          </a:xfrm>
          <a:prstGeom prst="rect">
            <a:avLst/>
          </a:prstGeom>
          <a:noFill/>
        </p:spPr>
        <p:txBody>
          <a:bodyPr wrap="none" lIns="13335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1800" b="1" i="0" u="none">
                <a:solidFill>
                  <a:srgbClr val="4B5563"/>
                </a:solidFill>
                <a:latin typeface="Inter"/>
              </a:rPr>
              <a:t>Visualización:</a:t>
            </a:r>
            <a:r>
              <a:rPr sz="1800" b="0" i="0" u="none">
                <a:solidFill>
                  <a:srgbClr val="4B5563"/>
                </a:solidFill>
                <a:latin typeface="Inter"/>
              </a:rPr>
              <a:t> Dashboards dinámicos.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91250" y="4436536"/>
            <a:ext cx="133350" cy="3619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4B5563"/>
                </a:solidFill>
                <a:latin typeface="Inter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24600" y="4434631"/>
            <a:ext cx="5867400" cy="365670"/>
          </a:xfrm>
          <a:prstGeom prst="rect">
            <a:avLst/>
          </a:prstGeom>
          <a:noFill/>
        </p:spPr>
        <p:txBody>
          <a:bodyPr wrap="none" lIns="13335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1800" b="1" i="0" u="none">
                <a:solidFill>
                  <a:srgbClr val="4B5563"/>
                </a:solidFill>
                <a:latin typeface="Inter"/>
              </a:rPr>
              <a:t>Distribución:</a:t>
            </a:r>
            <a:r>
              <a:rPr sz="1800" b="0" i="0" u="none">
                <a:solidFill>
                  <a:srgbClr val="4B5563"/>
                </a:solidFill>
                <a:latin typeface="Inter"/>
              </a:rPr>
              <a:t> Reportes compartidos.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647950"/>
            <a:ext cx="3454449" cy="2552700"/>
          </a:xfrm>
          <a:prstGeom prst="roundRect">
            <a:avLst>
              <a:gd name="adj" fmla="val 4477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368849" y="2647950"/>
            <a:ext cx="3454449" cy="2552700"/>
          </a:xfrm>
          <a:prstGeom prst="roundRect">
            <a:avLst>
              <a:gd name="adj" fmla="val 4477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128099" y="2647950"/>
            <a:ext cx="3454449" cy="2552700"/>
          </a:xfrm>
          <a:prstGeom prst="roundRect">
            <a:avLst>
              <a:gd name="adj" fmla="val 4477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0" y="3105150"/>
            <a:ext cx="514350" cy="4572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6049" y="3105150"/>
            <a:ext cx="571500" cy="4572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85299" y="3105150"/>
            <a:ext cx="342900" cy="4572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9600" y="609600"/>
            <a:ext cx="1158240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171717"/>
                </a:solidFill>
                <a:latin typeface="Space Grotesk"/>
              </a:rPr>
              <a:t>El Ecosistema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6800" y="3790950"/>
            <a:ext cx="3333815" cy="3429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000000"/>
                </a:solidFill>
                <a:latin typeface="Space Grotesk"/>
              </a:rPr>
              <a:t>Desktop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6800" y="4286250"/>
            <a:ext cx="2635299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4B5563"/>
                </a:solidFill>
                <a:latin typeface="Inter"/>
              </a:rPr>
              <a:t>Herramienta local de desarrollo y modelado.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26049" y="3790950"/>
            <a:ext cx="3333815" cy="3429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000000"/>
                </a:solidFill>
                <a:latin typeface="Space Grotesk"/>
              </a:rPr>
              <a:t>Service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26049" y="4286250"/>
            <a:ext cx="2635299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4B5563"/>
                </a:solidFill>
                <a:latin typeface="Inter"/>
              </a:rPr>
              <a:t>Plataforma SaaS para publicación.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85299" y="3790950"/>
            <a:ext cx="3333815" cy="3429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000000"/>
                </a:solidFill>
                <a:latin typeface="Space Grotesk"/>
              </a:rPr>
              <a:t>Mobile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85299" y="4286250"/>
            <a:ext cx="2635299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4B5563"/>
                </a:solidFill>
                <a:latin typeface="Inter"/>
              </a:rPr>
              <a:t>App para consumo de métricas.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181100" y="2057400"/>
            <a:ext cx="9829800" cy="1905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09600" y="609600"/>
            <a:ext cx="1158240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171717"/>
                </a:solidFill>
                <a:latin typeface="Space Grotesk"/>
              </a:rPr>
              <a:t>Guía de Instalación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133600" y="1752600"/>
            <a:ext cx="609600" cy="609600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791200" y="1752600"/>
            <a:ext cx="609600" cy="6096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9448800" y="1752600"/>
            <a:ext cx="609600" cy="60960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990725" y="1752600"/>
            <a:ext cx="895350" cy="609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1" i="0" u="none">
                <a:solidFill>
                  <a:srgbClr val="FFFFFF"/>
                </a:solidFill>
                <a:latin typeface="Inter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38312" y="2590800"/>
            <a:ext cx="1400175" cy="2952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800" b="1" i="0" u="none">
                <a:solidFill>
                  <a:srgbClr val="000000"/>
                </a:solidFill>
                <a:latin typeface="Space Grotesk"/>
              </a:rPr>
              <a:t>Descarga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47775" y="3000375"/>
            <a:ext cx="238125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0" i="0" u="none">
                <a:solidFill>
                  <a:srgbClr val="64748B"/>
                </a:solidFill>
                <a:latin typeface="Inter"/>
              </a:rPr>
              <a:t>Microsoft Store o web oficial.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48325" y="1752600"/>
            <a:ext cx="895350" cy="609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1" i="0" u="none">
                <a:solidFill>
                  <a:srgbClr val="FFFFFF"/>
                </a:solidFill>
                <a:latin typeface="Inter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85911" y="2590800"/>
            <a:ext cx="1420177" cy="2952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800" b="1" i="0" u="none">
                <a:solidFill>
                  <a:srgbClr val="000000"/>
                </a:solidFill>
                <a:latin typeface="Space Grotesk"/>
              </a:rPr>
              <a:t>Ejecución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11328" y="3000375"/>
            <a:ext cx="2369343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50" b="0" i="0" u="none">
                <a:solidFill>
                  <a:srgbClr val="64748B"/>
                </a:solidFill>
                <a:latin typeface="Inter"/>
              </a:rPr>
              <a:t>Instalador paso a paso.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05925" y="1752600"/>
            <a:ext cx="895350" cy="609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1" i="0" u="none">
                <a:solidFill>
                  <a:srgbClr val="F8FAFC"/>
                </a:solidFill>
                <a:latin typeface="Inter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22221" y="2590800"/>
            <a:ext cx="2062757" cy="2952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800" b="1" i="0" u="none">
                <a:solidFill>
                  <a:srgbClr val="000000"/>
                </a:solidFill>
                <a:latin typeface="Space Grotesk"/>
              </a:rPr>
              <a:t>Autenticación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62975" y="3000375"/>
            <a:ext cx="238125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0" i="0" u="none">
                <a:solidFill>
                  <a:srgbClr val="64748B"/>
                </a:solidFill>
                <a:latin typeface="Inter"/>
              </a:rPr>
              <a:t>Inicio con cuenta institucional.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2905125" y="1981200"/>
            <a:ext cx="6381750" cy="762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2905125" y="2971800"/>
            <a:ext cx="6381750" cy="762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2905125" y="3962400"/>
            <a:ext cx="6381750" cy="762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2905125" y="4953000"/>
            <a:ext cx="6381750" cy="762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905125" y="1981200"/>
            <a:ext cx="38100" cy="762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905125" y="2971800"/>
            <a:ext cx="38100" cy="7620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905125" y="3962400"/>
            <a:ext cx="38100" cy="762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2905125" y="4953000"/>
            <a:ext cx="38100" cy="7620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1825" y="2209800"/>
            <a:ext cx="457200" cy="3048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71825" y="3200400"/>
            <a:ext cx="457200" cy="3048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1825" y="4191000"/>
            <a:ext cx="457200" cy="3048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71825" y="5181600"/>
            <a:ext cx="457200" cy="3048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09600" y="609600"/>
            <a:ext cx="1158240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171717"/>
                </a:solidFill>
                <a:latin typeface="Space Grotesk"/>
              </a:rPr>
              <a:t>Requisitos del Sistema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57625" y="2214562"/>
            <a:ext cx="6825853" cy="2952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00000"/>
                </a:solidFill>
                <a:latin typeface="Space Grotesk"/>
              </a:rPr>
              <a:t>Windows 10 / Windows Server 2012 R2 superior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57625" y="3205162"/>
            <a:ext cx="5988248" cy="2952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00000"/>
                </a:solidFill>
                <a:latin typeface="Space Grotesk"/>
              </a:rPr>
              <a:t>Mínimo 2 GB de RAM (4 GB recomendado)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57625" y="4195762"/>
            <a:ext cx="5138142" cy="2952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00000"/>
                </a:solidFill>
                <a:latin typeface="Space Grotesk"/>
              </a:rPr>
              <a:t>.NET 4.6 (instala automáticamente)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57625" y="5186362"/>
            <a:ext cx="5563195" cy="2952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00000"/>
                </a:solidFill>
                <a:latin typeface="Space Grotesk"/>
              </a:rPr>
              <a:t>Navegador compatible (Edge, Chrome)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4267200" cy="685800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7200" y="0"/>
            <a:ext cx="79248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09600" y="609600"/>
            <a:ext cx="400050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171717"/>
                </a:solidFill>
                <a:latin typeface="Space Grotesk"/>
              </a:rPr>
              <a:t>Interfaz Principal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3425" y="1219200"/>
            <a:ext cx="104775" cy="3048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4B5563"/>
                </a:solidFill>
                <a:latin typeface="Inter"/>
              </a:rPr>
              <a:t>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8200" y="1219200"/>
            <a:ext cx="2914650" cy="609600"/>
          </a:xfrm>
          <a:prstGeom prst="rect">
            <a:avLst/>
          </a:prstGeom>
          <a:noFill/>
        </p:spPr>
        <p:txBody>
          <a:bodyPr wrap="square" lIns="104775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4B5563"/>
                </a:solidFill>
                <a:latin typeface="Inter"/>
              </a:rPr>
              <a:t>Cinta de opciones:</a:t>
            </a:r>
            <a:r>
              <a:rPr sz="1500" b="0" i="0" u="none">
                <a:solidFill>
                  <a:srgbClr val="4B5563"/>
                </a:solidFill>
                <a:latin typeface="Inter"/>
              </a:rPr>
              <a:t> Tareas comunes.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3425" y="1943100"/>
            <a:ext cx="104775" cy="3048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4B5563"/>
                </a:solidFill>
                <a:latin typeface="Inter"/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8200" y="1943100"/>
            <a:ext cx="3524250" cy="304800"/>
          </a:xfrm>
          <a:prstGeom prst="rect">
            <a:avLst/>
          </a:prstGeom>
          <a:noFill/>
        </p:spPr>
        <p:txBody>
          <a:bodyPr wrap="none" lIns="104775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4B5563"/>
                </a:solidFill>
                <a:latin typeface="Inter"/>
              </a:rPr>
              <a:t>Lienzo:</a:t>
            </a:r>
            <a:r>
              <a:rPr sz="1500" b="0" i="0" u="none">
                <a:solidFill>
                  <a:srgbClr val="4B5563"/>
                </a:solidFill>
                <a:latin typeface="Inter"/>
              </a:rPr>
              <a:t> Área de visualización.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3425" y="2362200"/>
            <a:ext cx="104775" cy="3048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4B5563"/>
                </a:solidFill>
                <a:latin typeface="Inter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2362200"/>
            <a:ext cx="2914650" cy="609600"/>
          </a:xfrm>
          <a:prstGeom prst="rect">
            <a:avLst/>
          </a:prstGeom>
          <a:noFill/>
        </p:spPr>
        <p:txBody>
          <a:bodyPr wrap="square" lIns="104775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4B5563"/>
                </a:solidFill>
                <a:latin typeface="Inter"/>
              </a:rPr>
              <a:t>Panel Filtros:</a:t>
            </a:r>
            <a:r>
              <a:rPr sz="1500" b="0" i="0" u="none">
                <a:solidFill>
                  <a:srgbClr val="4B5563"/>
                </a:solidFill>
                <a:latin typeface="Inter"/>
              </a:rPr>
              <a:t> Segmentación global.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3425" y="3086100"/>
            <a:ext cx="104775" cy="3048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4B5563"/>
                </a:solidFill>
                <a:latin typeface="Inter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8200" y="3086100"/>
            <a:ext cx="2914650" cy="609600"/>
          </a:xfrm>
          <a:prstGeom prst="rect">
            <a:avLst/>
          </a:prstGeom>
          <a:noFill/>
        </p:spPr>
        <p:txBody>
          <a:bodyPr wrap="square" lIns="104775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4B5563"/>
                </a:solidFill>
                <a:latin typeface="Inter"/>
              </a:rPr>
              <a:t>Panel Visualizaciones:</a:t>
            </a:r>
            <a:r>
              <a:rPr sz="1500" b="0" i="0" u="none">
                <a:solidFill>
                  <a:srgbClr val="4B5563"/>
                </a:solidFill>
                <a:latin typeface="Inter"/>
              </a:rPr>
              <a:t> Gráficos.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3425" y="3810000"/>
            <a:ext cx="104775" cy="3048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4B5563"/>
                </a:solidFill>
                <a:latin typeface="Inter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8200" y="3810000"/>
            <a:ext cx="2914650" cy="609600"/>
          </a:xfrm>
          <a:prstGeom prst="rect">
            <a:avLst/>
          </a:prstGeom>
          <a:noFill/>
        </p:spPr>
        <p:txBody>
          <a:bodyPr wrap="square" lIns="104775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4B5563"/>
                </a:solidFill>
                <a:latin typeface="Inter"/>
              </a:rPr>
              <a:t>Panel Campos:</a:t>
            </a:r>
            <a:r>
              <a:rPr sz="1500" b="0" i="0" u="none">
                <a:solidFill>
                  <a:srgbClr val="4B5563"/>
                </a:solidFill>
                <a:latin typeface="Inter"/>
              </a:rPr>
              <a:t> Tablas importadas.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" y="1447800"/>
            <a:ext cx="5334000" cy="480060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248400" y="1447800"/>
            <a:ext cx="5334000" cy="480060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09600" y="1447800"/>
            <a:ext cx="5334000" cy="57150"/>
          </a:xfrm>
          <a:prstGeom prst="rect">
            <a:avLst/>
          </a:prstGeom>
          <a:solidFill>
            <a:srgbClr val="107C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248400" y="1447800"/>
            <a:ext cx="5334000" cy="57150"/>
          </a:xfrm>
          <a:prstGeom prst="rect">
            <a:avLst/>
          </a:prstGeom>
          <a:solidFill>
            <a:srgbClr val="F2C8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09600" y="609600"/>
            <a:ext cx="1158240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171717"/>
                </a:solidFill>
                <a:latin typeface="Space Grotesk"/>
              </a:rPr>
              <a:t>Excel vs. Power BI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6800" y="1962150"/>
            <a:ext cx="5800725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107C41"/>
                </a:solidFill>
                <a:latin typeface="Space Grotesk"/>
              </a:rPr>
              <a:t>Microsoft Excel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05600" y="1962150"/>
            <a:ext cx="548640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D97706"/>
                </a:solidFill>
                <a:latin typeface="Space Grotesk"/>
              </a:rPr>
              <a:t>Power BI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1100" y="2552700"/>
            <a:ext cx="114300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374151"/>
                </a:solidFill>
                <a:latin typeface="Inter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2571750"/>
            <a:ext cx="5238750" cy="247650"/>
          </a:xfrm>
          <a:prstGeom prst="rect">
            <a:avLst/>
          </a:prstGeom>
          <a:noFill/>
        </p:spPr>
        <p:txBody>
          <a:bodyPr wrap="none" lIns="114300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374151"/>
                </a:solidFill>
                <a:latin typeface="Inter"/>
              </a:rPr>
              <a:t>Cálculos tabulares locales.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1100" y="2914650"/>
            <a:ext cx="114300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374151"/>
                </a:solidFill>
                <a:latin typeface="Inter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95400" y="2933700"/>
            <a:ext cx="5238750" cy="247650"/>
          </a:xfrm>
          <a:prstGeom prst="rect">
            <a:avLst/>
          </a:prstGeom>
          <a:noFill/>
        </p:spPr>
        <p:txBody>
          <a:bodyPr wrap="none" lIns="114300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374151"/>
                </a:solidFill>
                <a:latin typeface="Inter"/>
              </a:rPr>
              <a:t>Límite: 1 millón de filas.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1100" y="3276600"/>
            <a:ext cx="114300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374151"/>
                </a:solidFill>
                <a:latin typeface="Inter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95400" y="3295650"/>
            <a:ext cx="5238750" cy="247650"/>
          </a:xfrm>
          <a:prstGeom prst="rect">
            <a:avLst/>
          </a:prstGeom>
          <a:noFill/>
        </p:spPr>
        <p:txBody>
          <a:bodyPr wrap="none" lIns="114300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374151"/>
                </a:solidFill>
                <a:latin typeface="Inter"/>
              </a:rPr>
              <a:t>Fórmulas basadas en celdas.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1100" y="3638550"/>
            <a:ext cx="114300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374151"/>
                </a:solidFill>
                <a:latin typeface="Inter"/>
              </a:rPr>
              <a:t>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95400" y="3657600"/>
            <a:ext cx="5238750" cy="247650"/>
          </a:xfrm>
          <a:prstGeom prst="rect">
            <a:avLst/>
          </a:prstGeom>
          <a:noFill/>
        </p:spPr>
        <p:txBody>
          <a:bodyPr wrap="none" lIns="114300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374151"/>
                </a:solidFill>
                <a:latin typeface="Inter"/>
              </a:rPr>
              <a:t>Informes estáticos en hojas.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19900" y="2552700"/>
            <a:ext cx="114300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374151"/>
                </a:solidFill>
                <a:latin typeface="Inter"/>
              </a:rPr>
              <a:t>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34200" y="2571750"/>
            <a:ext cx="5238750" cy="247650"/>
          </a:xfrm>
          <a:prstGeom prst="rect">
            <a:avLst/>
          </a:prstGeom>
          <a:noFill/>
        </p:spPr>
        <p:txBody>
          <a:bodyPr wrap="none" lIns="114300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374151"/>
                </a:solidFill>
                <a:latin typeface="Inter"/>
              </a:rPr>
              <a:t>Modelado relacional analítico.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19900" y="2914650"/>
            <a:ext cx="114300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374151"/>
                </a:solidFill>
                <a:latin typeface="Inter"/>
              </a:rPr>
              <a:t>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34200" y="2933700"/>
            <a:ext cx="5238750" cy="247650"/>
          </a:xfrm>
          <a:prstGeom prst="rect">
            <a:avLst/>
          </a:prstGeom>
          <a:noFill/>
        </p:spPr>
        <p:txBody>
          <a:bodyPr wrap="none" lIns="114300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374151"/>
                </a:solidFill>
                <a:latin typeface="Inter"/>
              </a:rPr>
              <a:t>Datos masivos (Big Data).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19900" y="3276600"/>
            <a:ext cx="114300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374151"/>
                </a:solidFill>
                <a:latin typeface="Inter"/>
              </a:rPr>
              <a:t>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34200" y="3295650"/>
            <a:ext cx="5238750" cy="247650"/>
          </a:xfrm>
          <a:prstGeom prst="rect">
            <a:avLst/>
          </a:prstGeom>
          <a:noFill/>
        </p:spPr>
        <p:txBody>
          <a:bodyPr wrap="none" lIns="114300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374151"/>
                </a:solidFill>
                <a:latin typeface="Inter"/>
              </a:rPr>
              <a:t>Lenguaje DAX vectorial.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19900" y="3638550"/>
            <a:ext cx="114300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374151"/>
                </a:solidFill>
                <a:latin typeface="Inter"/>
              </a:rPr>
              <a:t>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34200" y="3657600"/>
            <a:ext cx="5238750" cy="247650"/>
          </a:xfrm>
          <a:prstGeom prst="rect">
            <a:avLst/>
          </a:prstGeom>
          <a:noFill/>
        </p:spPr>
        <p:txBody>
          <a:bodyPr wrap="none" lIns="114300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374151"/>
                </a:solidFill>
                <a:latin typeface="Inter"/>
              </a:rPr>
              <a:t>Dashboards interactivos.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095500"/>
            <a:ext cx="5372100" cy="99060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210300" y="2095500"/>
            <a:ext cx="5372100" cy="99060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09600" y="4610100"/>
            <a:ext cx="5372100" cy="99060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210300" y="4610100"/>
            <a:ext cx="5372100" cy="99060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400300"/>
            <a:ext cx="285750" cy="3810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5100" y="2400300"/>
            <a:ext cx="333375" cy="3810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4914900"/>
            <a:ext cx="333375" cy="3810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15100" y="4914900"/>
            <a:ext cx="476250" cy="3810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9600" y="609600"/>
            <a:ext cx="1158240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171717"/>
                </a:solidFill>
                <a:latin typeface="Space Grotesk"/>
              </a:rPr>
              <a:t>Orígenes de Datos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28750" y="2452687"/>
            <a:ext cx="3071812" cy="2762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00000"/>
                </a:solidFill>
                <a:latin typeface="Inter"/>
              </a:rPr>
              <a:t>Archivos (Excel, CSV)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77075" y="2452687"/>
            <a:ext cx="2869406" cy="2762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00000"/>
                </a:solidFill>
                <a:latin typeface="Inter"/>
              </a:rPr>
              <a:t>Bases (Access, SQL)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76375" y="4967287"/>
            <a:ext cx="2250281" cy="2762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00000"/>
                </a:solidFill>
                <a:latin typeface="Inter"/>
              </a:rPr>
              <a:t>Microsoft Azure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19950" y="4967287"/>
            <a:ext cx="2940843" cy="2762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00000"/>
                </a:solidFill>
                <a:latin typeface="Inter"/>
              </a:rPr>
              <a:t>Servicios Web (APIs)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2405062"/>
            <a:ext cx="5019675" cy="4572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09600" y="3090862"/>
            <a:ext cx="6588323" cy="581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600" b="1" i="0" u="none">
                <a:solidFill>
                  <a:srgbClr val="171717"/>
                </a:solidFill>
                <a:latin typeface="Space Grotesk"/>
              </a:rPr>
              <a:t>Conexión con Excel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3900487"/>
            <a:ext cx="5114925" cy="552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4B5563"/>
                </a:solidFill>
                <a:latin typeface="Inter"/>
              </a:rPr>
              <a:t>Importación directa de rangos y tablas estructuradas.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05600" y="2286000"/>
            <a:ext cx="85725" cy="4572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171717"/>
                </a:solidFill>
                <a:latin typeface="Inter"/>
              </a:rPr>
              <a:t>▪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91325" y="2286000"/>
            <a:ext cx="5400675" cy="457200"/>
          </a:xfrm>
          <a:prstGeom prst="rect">
            <a:avLst/>
          </a:prstGeom>
          <a:noFill/>
        </p:spPr>
        <p:txBody>
          <a:bodyPr wrap="none" lIns="85725" tIns="0" rIns="0" bIns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sz="1800" b="0" i="0" u="none">
                <a:solidFill>
                  <a:srgbClr val="171717"/>
                </a:solidFill>
                <a:latin typeface="Inter"/>
              </a:rPr>
              <a:t>Formatos `.xlsx` o `.csv`.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05600" y="2857500"/>
            <a:ext cx="85725" cy="4572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171717"/>
                </a:solidFill>
                <a:latin typeface="Inter"/>
              </a:rPr>
              <a:t>▪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91325" y="2857500"/>
            <a:ext cx="5400675" cy="457200"/>
          </a:xfrm>
          <a:prstGeom prst="rect">
            <a:avLst/>
          </a:prstGeom>
          <a:noFill/>
        </p:spPr>
        <p:txBody>
          <a:bodyPr wrap="none" lIns="85725" tIns="0" rIns="0" bIns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sz="1800" b="0" i="0" u="none">
                <a:solidFill>
                  <a:srgbClr val="171717"/>
                </a:solidFill>
                <a:latin typeface="Inter"/>
              </a:rPr>
              <a:t>Lectura de pestañas separadas.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05600" y="3429000"/>
            <a:ext cx="85725" cy="4572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171717"/>
                </a:solidFill>
                <a:latin typeface="Inter"/>
              </a:rPr>
              <a:t>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91325" y="3429000"/>
            <a:ext cx="5400675" cy="457200"/>
          </a:xfrm>
          <a:prstGeom prst="rect">
            <a:avLst/>
          </a:prstGeom>
          <a:noFill/>
        </p:spPr>
        <p:txBody>
          <a:bodyPr wrap="none" lIns="85725" tIns="0" rIns="0" bIns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sz="1800" b="0" i="0" u="none">
                <a:solidFill>
                  <a:srgbClr val="171717"/>
                </a:solidFill>
                <a:latin typeface="Inter"/>
              </a:rPr>
              <a:t>Actualización automática vinculada.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05600" y="4000500"/>
            <a:ext cx="85725" cy="4572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171717"/>
                </a:solidFill>
                <a:latin typeface="Inter"/>
              </a:rPr>
              <a:t>▪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91325" y="4000500"/>
            <a:ext cx="5400675" cy="457200"/>
          </a:xfrm>
          <a:prstGeom prst="rect">
            <a:avLst/>
          </a:prstGeom>
          <a:noFill/>
        </p:spPr>
        <p:txBody>
          <a:bodyPr wrap="none" lIns="85725" tIns="0" rIns="0" bIns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sz="1800" b="0" i="0" u="none">
                <a:solidFill>
                  <a:srgbClr val="171717"/>
                </a:solidFill>
                <a:latin typeface="Inter"/>
              </a:rPr>
              <a:t>Tipos de datos heredados.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2405062"/>
            <a:ext cx="5019675" cy="4572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09600" y="3090862"/>
            <a:ext cx="6588323" cy="581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600" b="1" i="0" u="none">
                <a:solidFill>
                  <a:srgbClr val="171717"/>
                </a:solidFill>
                <a:latin typeface="Space Grotesk"/>
              </a:rPr>
              <a:t>Conexión con Access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3900487"/>
            <a:ext cx="5114925" cy="552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4B5563"/>
                </a:solidFill>
                <a:latin typeface="Inter"/>
              </a:rPr>
              <a:t>Integración de bases de datos relacionales locales.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05600" y="2286000"/>
            <a:ext cx="85725" cy="4572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171717"/>
                </a:solidFill>
                <a:latin typeface="Inter"/>
              </a:rPr>
              <a:t>▪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91325" y="2286000"/>
            <a:ext cx="5400675" cy="457200"/>
          </a:xfrm>
          <a:prstGeom prst="rect">
            <a:avLst/>
          </a:prstGeom>
          <a:noFill/>
        </p:spPr>
        <p:txBody>
          <a:bodyPr wrap="none" lIns="85725" tIns="0" rIns="0" bIns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sz="1800" b="0" i="0" u="none">
                <a:solidFill>
                  <a:srgbClr val="171717"/>
                </a:solidFill>
                <a:latin typeface="Inter"/>
              </a:rPr>
              <a:t>Importación de tablas.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05600" y="2857500"/>
            <a:ext cx="85725" cy="4572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171717"/>
                </a:solidFill>
                <a:latin typeface="Inter"/>
              </a:rPr>
              <a:t>▪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91325" y="2857500"/>
            <a:ext cx="5400675" cy="457200"/>
          </a:xfrm>
          <a:prstGeom prst="rect">
            <a:avLst/>
          </a:prstGeom>
          <a:noFill/>
        </p:spPr>
        <p:txBody>
          <a:bodyPr wrap="none" lIns="85725" tIns="0" rIns="0" bIns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sz="1800" b="0" i="0" u="none">
                <a:solidFill>
                  <a:srgbClr val="171717"/>
                </a:solidFill>
                <a:latin typeface="Inter"/>
              </a:rPr>
              <a:t>Lectura de consultas predefinidas.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05600" y="3429000"/>
            <a:ext cx="85725" cy="4572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171717"/>
                </a:solidFill>
                <a:latin typeface="Inter"/>
              </a:rPr>
              <a:t>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91325" y="3429000"/>
            <a:ext cx="5400675" cy="457200"/>
          </a:xfrm>
          <a:prstGeom prst="rect">
            <a:avLst/>
          </a:prstGeom>
          <a:noFill/>
        </p:spPr>
        <p:txBody>
          <a:bodyPr wrap="none" lIns="85725" tIns="0" rIns="0" bIns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sz="1800" b="0" i="0" u="none">
                <a:solidFill>
                  <a:srgbClr val="171717"/>
                </a:solidFill>
                <a:latin typeface="Inter"/>
              </a:rPr>
              <a:t>Mantiene relaciones originales.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05600" y="4000500"/>
            <a:ext cx="85725" cy="4572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171717"/>
                </a:solidFill>
                <a:latin typeface="Inter"/>
              </a:rPr>
              <a:t>▪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91325" y="4000500"/>
            <a:ext cx="5400675" cy="457200"/>
          </a:xfrm>
          <a:prstGeom prst="rect">
            <a:avLst/>
          </a:prstGeom>
          <a:noFill/>
        </p:spPr>
        <p:txBody>
          <a:bodyPr wrap="none" lIns="85725" tIns="0" rIns="0" bIns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sz="1800" b="0" i="0" u="none">
                <a:solidFill>
                  <a:srgbClr val="171717"/>
                </a:solidFill>
                <a:latin typeface="Inter"/>
              </a:rPr>
              <a:t>Navegación nativa en Power BI.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3319462"/>
            <a:ext cx="3276600" cy="1362075"/>
          </a:xfrm>
          <a:prstGeom prst="roundRect">
            <a:avLst>
              <a:gd name="adj" fmla="val 8391"/>
            </a:avLst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457700" y="3319462"/>
            <a:ext cx="3276600" cy="1362075"/>
          </a:xfrm>
          <a:prstGeom prst="roundRect">
            <a:avLst>
              <a:gd name="adj" fmla="val 8391"/>
            </a:avLst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305800" y="3319462"/>
            <a:ext cx="3276600" cy="1362075"/>
          </a:xfrm>
          <a:prstGeom prst="roundRect">
            <a:avLst>
              <a:gd name="adj" fmla="val 8391"/>
            </a:avLst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38600" y="3848100"/>
            <a:ext cx="266700" cy="3048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6700" y="3848100"/>
            <a:ext cx="266700" cy="3048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9600" y="609600"/>
            <a:ext cx="1158240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171717"/>
                </a:solidFill>
                <a:latin typeface="Space Grotesk"/>
              </a:rPr>
              <a:t>Flujo ETL (Extract, Transform, Load)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1025" y="3624262"/>
            <a:ext cx="3333750" cy="3714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2400" b="1" i="0" u="none">
                <a:solidFill>
                  <a:srgbClr val="2563EB"/>
                </a:solidFill>
                <a:latin typeface="Inter"/>
              </a:rPr>
              <a:t>1. Extraer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1025" y="4148137"/>
            <a:ext cx="333375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500" b="0" i="0" u="none">
                <a:solidFill>
                  <a:srgbClr val="4B5563"/>
                </a:solidFill>
                <a:latin typeface="Inter"/>
              </a:rPr>
              <a:t>Obtener de Excel/Access.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29125" y="3624262"/>
            <a:ext cx="3333750" cy="3714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2400" b="1" i="0" u="none">
                <a:solidFill>
                  <a:srgbClr val="D97706"/>
                </a:solidFill>
                <a:latin typeface="Inter"/>
              </a:rPr>
              <a:t>2. Transformar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29125" y="4148137"/>
            <a:ext cx="333375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500" b="0" i="0" u="none">
                <a:solidFill>
                  <a:srgbClr val="4B5563"/>
                </a:solidFill>
                <a:latin typeface="Inter"/>
              </a:rPr>
              <a:t>Limpiar con Power Query.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77225" y="3624262"/>
            <a:ext cx="3333750" cy="3714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2400" b="1" i="0" u="none">
                <a:solidFill>
                  <a:srgbClr val="0F172A"/>
                </a:solidFill>
                <a:latin typeface="Inter"/>
              </a:rPr>
              <a:t>3. Cargar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77225" y="4148137"/>
            <a:ext cx="333375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500" b="0" i="0" u="none">
                <a:solidFill>
                  <a:srgbClr val="4B5563"/>
                </a:solidFill>
                <a:latin typeface="Inter"/>
              </a:rPr>
              <a:t>Modelar en Power BI.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924800" y="0"/>
            <a:ext cx="4267200" cy="685800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9248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534400" y="609600"/>
            <a:ext cx="365760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171717"/>
                </a:solidFill>
                <a:latin typeface="Space Grotesk"/>
              </a:rPr>
              <a:t>Power Query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34400" y="1219200"/>
            <a:ext cx="314325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4B5563"/>
                </a:solidFill>
                <a:latin typeface="Inter"/>
              </a:rPr>
              <a:t>Motor de transformación de datos subyacente.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67750" y="2018347"/>
            <a:ext cx="95250" cy="2762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171717"/>
                </a:solidFill>
                <a:latin typeface="Inter"/>
              </a:rPr>
              <a:t>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63000" y="2019300"/>
            <a:ext cx="3429000" cy="274290"/>
          </a:xfrm>
          <a:prstGeom prst="rect">
            <a:avLst/>
          </a:prstGeom>
          <a:noFill/>
        </p:spPr>
        <p:txBody>
          <a:bodyPr wrap="none" lIns="9525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171717"/>
                </a:solidFill>
                <a:latin typeface="Inter"/>
              </a:rPr>
              <a:t>Limpieza de nulos.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67750" y="2406937"/>
            <a:ext cx="95250" cy="2762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171717"/>
                </a:solidFill>
                <a:latin typeface="Inter"/>
              </a:rP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63000" y="2407890"/>
            <a:ext cx="3429000" cy="274290"/>
          </a:xfrm>
          <a:prstGeom prst="rect">
            <a:avLst/>
          </a:prstGeom>
          <a:noFill/>
        </p:spPr>
        <p:txBody>
          <a:bodyPr wrap="none" lIns="9525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171717"/>
                </a:solidFill>
                <a:latin typeface="Inter"/>
              </a:rPr>
              <a:t>Cambio tipos de datos.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67750" y="2795527"/>
            <a:ext cx="95250" cy="2762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171717"/>
                </a:solidFill>
                <a:latin typeface="Inter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63000" y="2796480"/>
            <a:ext cx="3429000" cy="274290"/>
          </a:xfrm>
          <a:prstGeom prst="rect">
            <a:avLst/>
          </a:prstGeom>
          <a:noFill/>
        </p:spPr>
        <p:txBody>
          <a:bodyPr wrap="none" lIns="9525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171717"/>
                </a:solidFill>
                <a:latin typeface="Inter"/>
              </a:rPr>
              <a:t>Fusión de consultas.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67750" y="3184118"/>
            <a:ext cx="95250" cy="2762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171717"/>
                </a:solidFill>
                <a:latin typeface="Inter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63000" y="3185070"/>
            <a:ext cx="3429000" cy="274290"/>
          </a:xfrm>
          <a:prstGeom prst="rect">
            <a:avLst/>
          </a:prstGeom>
          <a:noFill/>
        </p:spPr>
        <p:txBody>
          <a:bodyPr wrap="none" lIns="9525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171717"/>
                </a:solidFill>
                <a:latin typeface="Inter"/>
              </a:rPr>
              <a:t>Pasos aplicados reversibles.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595562"/>
            <a:ext cx="3505200" cy="2505075"/>
          </a:xfrm>
          <a:prstGeom prst="roundRect">
            <a:avLst>
              <a:gd name="adj" fmla="val 4562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343400" y="2595562"/>
            <a:ext cx="3505200" cy="2505075"/>
          </a:xfrm>
          <a:prstGeom prst="roundRect">
            <a:avLst>
              <a:gd name="adj" fmla="val 4562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077200" y="2595562"/>
            <a:ext cx="3505200" cy="2505075"/>
          </a:xfrm>
          <a:prstGeom prst="roundRect">
            <a:avLst>
              <a:gd name="adj" fmla="val 4562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752600" y="3433762"/>
            <a:ext cx="304800" cy="6858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209800" y="2976562"/>
            <a:ext cx="304800" cy="11430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667000" y="3205162"/>
            <a:ext cx="304800" cy="914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24500" y="2976562"/>
            <a:ext cx="1143000" cy="11430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58300" y="2976562"/>
            <a:ext cx="1143000" cy="11430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9600" y="609600"/>
            <a:ext cx="1158240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171717"/>
                </a:solidFill>
                <a:latin typeface="Space Grotesk"/>
              </a:rPr>
              <a:t>Visualizaciones Básicas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1975" y="4424362"/>
            <a:ext cx="3600450" cy="2952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800" b="1" i="0" u="none">
                <a:solidFill>
                  <a:srgbClr val="000000"/>
                </a:solidFill>
                <a:latin typeface="Space Grotesk"/>
              </a:rPr>
              <a:t>Gráficos de Barras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5775" y="4424362"/>
            <a:ext cx="3600450" cy="2952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800" b="1" i="0" u="none">
                <a:solidFill>
                  <a:srgbClr val="000000"/>
                </a:solidFill>
                <a:latin typeface="Space Grotesk"/>
              </a:rPr>
              <a:t>Gráficos de Líneas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29575" y="4424362"/>
            <a:ext cx="3600450" cy="2952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800" b="1" i="0" u="none">
                <a:solidFill>
                  <a:srgbClr val="000000"/>
                </a:solidFill>
                <a:latin typeface="Space Grotesk"/>
              </a:rPr>
              <a:t>Gráficos de Anillo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1924050"/>
            <a:ext cx="10972800" cy="1181100"/>
          </a:xfrm>
          <a:prstGeom prst="roundRect">
            <a:avLst>
              <a:gd name="adj" fmla="val 6451"/>
            </a:avLst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600" y="3257550"/>
            <a:ext cx="10972800" cy="1181100"/>
          </a:xfrm>
          <a:prstGeom prst="roundRect">
            <a:avLst>
              <a:gd name="adj" fmla="val 6451"/>
            </a:avLst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09600" y="4591050"/>
            <a:ext cx="10972800" cy="1181100"/>
          </a:xfrm>
          <a:prstGeom prst="roundRect">
            <a:avLst>
              <a:gd name="adj" fmla="val 6451"/>
            </a:avLst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09600" y="609600"/>
            <a:ext cx="1158240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171717"/>
                </a:solidFill>
                <a:latin typeface="Space Grotesk"/>
              </a:rPr>
              <a:t>Visualizaciones Avanzadas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228850"/>
            <a:ext cx="11277600" cy="2952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D97706"/>
                </a:solidFill>
                <a:latin typeface="Space Grotesk"/>
              </a:rPr>
              <a:t>Mapas Geográficos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600325"/>
            <a:ext cx="1127760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B5563"/>
                </a:solidFill>
                <a:latin typeface="Inter"/>
              </a:rPr>
              <a:t>Puntos espaciales por ubicación.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562350"/>
            <a:ext cx="11277600" cy="2952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2563EB"/>
                </a:solidFill>
                <a:latin typeface="Space Grotesk"/>
              </a:rPr>
              <a:t>Medidores (KPIs)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933825"/>
            <a:ext cx="1127760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B5563"/>
                </a:solidFill>
                <a:latin typeface="Inter"/>
              </a:rPr>
              <a:t>Avance respecto a objetivos.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895850"/>
            <a:ext cx="11277600" cy="2952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F172A"/>
                </a:solidFill>
                <a:latin typeface="Space Grotesk"/>
              </a:rPr>
              <a:t>Dispersión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267325"/>
            <a:ext cx="1127760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B5563"/>
                </a:solidFill>
                <a:latin typeface="Inter"/>
              </a:rPr>
              <a:t>Correlación entre dos métricas.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4975" y="3143250"/>
            <a:ext cx="609600" cy="6096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95987" y="3143250"/>
            <a:ext cx="685800" cy="6096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20312" y="3143250"/>
            <a:ext cx="609600" cy="609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09600" y="2152650"/>
            <a:ext cx="1158240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171717"/>
                </a:solidFill>
                <a:latin typeface="Space Grotesk"/>
              </a:rPr>
              <a:t>Creación de Informes Interactivos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2045" y="3981450"/>
            <a:ext cx="3675459" cy="3429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2100" b="1" i="0" u="none">
                <a:solidFill>
                  <a:srgbClr val="000000"/>
                </a:solidFill>
                <a:latin typeface="Space Grotesk"/>
              </a:rPr>
              <a:t>Segmentadores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9556" y="4476750"/>
            <a:ext cx="3500437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500" b="0" i="0" u="none">
                <a:solidFill>
                  <a:srgbClr val="4B5563"/>
                </a:solidFill>
                <a:latin typeface="Inter"/>
              </a:rPr>
              <a:t>Filtros visuales por categorías.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7439" y="3981450"/>
            <a:ext cx="3162895" cy="3429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2100" b="1" i="0" u="none">
                <a:solidFill>
                  <a:srgbClr val="000000"/>
                </a:solidFill>
                <a:latin typeface="Space Grotesk"/>
              </a:rPr>
              <a:t>Filtros Cruzados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32746" y="4476750"/>
            <a:ext cx="3012281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500" b="0" i="0" u="none">
                <a:solidFill>
                  <a:srgbClr val="4B5563"/>
                </a:solidFill>
                <a:latin typeface="Inter"/>
              </a:rPr>
              <a:t>Selección dinámica global.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06172" y="3981450"/>
            <a:ext cx="3037879" cy="3429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2100" b="1" i="0" u="none">
                <a:solidFill>
                  <a:srgbClr val="000000"/>
                </a:solidFill>
                <a:latin typeface="Space Grotesk"/>
              </a:rPr>
              <a:t>Tooltips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78503" y="4476750"/>
            <a:ext cx="2893218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500" b="0" i="0" u="none">
                <a:solidFill>
                  <a:srgbClr val="4B5563"/>
                </a:solidFill>
                <a:latin typeface="Inter"/>
              </a:rPr>
              <a:t>Detalle al pasar el cursor.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867400" y="609600"/>
            <a:ext cx="5715000" cy="5638800"/>
          </a:xfrm>
          <a:prstGeom prst="roundRect">
            <a:avLst>
              <a:gd name="adj" fmla="val 2027"/>
            </a:avLst>
          </a:prstGeom>
          <a:solidFill>
            <a:srgbClr val="1717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09600" y="2409825"/>
            <a:ext cx="6300787" cy="7810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4800" b="1" i="0" u="none">
                <a:solidFill>
                  <a:srgbClr val="171717"/>
                </a:solidFill>
                <a:latin typeface="Space Grotesk"/>
              </a:rPr>
              <a:t>Lenguaje DAX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3343275"/>
            <a:ext cx="6000750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D97706"/>
                </a:solidFill>
                <a:latin typeface="Space Grotesk"/>
              </a:rPr>
              <a:t>Data Analysis Expressions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3895725"/>
            <a:ext cx="4895850" cy="552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4B5563"/>
                </a:solidFill>
                <a:latin typeface="Inter"/>
              </a:rPr>
              <a:t>Lenguaje de fórmulas funcionales usado en Power BI.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24600" y="2690812"/>
            <a:ext cx="5867400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A3A3A3"/>
                </a:solidFill>
                <a:latin typeface="monospace"/>
              </a:rPr>
              <a:t>// Creación de medida calculada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24600" y="3081337"/>
            <a:ext cx="4895850" cy="1085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0" i="0" u="none">
                <a:solidFill>
                  <a:srgbClr val="60A5FA"/>
                </a:solidFill>
                <a:latin typeface="monospace"/>
              </a:rPr>
              <a:t>VentasTotales</a:t>
            </a:r>
            <a:r>
              <a:rPr sz="2400" b="0" i="0" u="none">
                <a:solidFill>
                  <a:srgbClr val="FAFAF9"/>
                </a:solidFill>
                <a:latin typeface="monospace"/>
              </a:rPr>
              <a:t> = </a:t>
            </a:r>
            <a:r>
              <a:t>
</a:t>
            </a:r>
            <a:r>
              <a:rPr sz="2400" b="0" i="0" u="none">
                <a:solidFill>
                  <a:srgbClr val="D97706"/>
                </a:solidFill>
                <a:latin typeface="monospace"/>
              </a:rPr>
              <a:t>SUM</a:t>
            </a:r>
            <a:r>
              <a:rPr sz="2400" b="0" i="0" u="none">
                <a:solidFill>
                  <a:srgbClr val="FAFAF9"/>
                </a:solidFill>
                <a:latin typeface="monospace"/>
              </a:rPr>
              <a:t>( </a:t>
            </a:r>
            <a:r>
              <a:rPr sz="2400" b="0" i="0" u="none">
                <a:solidFill>
                  <a:srgbClr val="10B981"/>
                </a:solidFill>
                <a:latin typeface="monospace"/>
              </a:rPr>
              <a:t>'FactVentas'</a:t>
            </a:r>
            <a:r>
              <a:rPr sz="2400" b="0" i="0" u="none">
                <a:solidFill>
                  <a:srgbClr val="FAFAF9"/>
                </a:solidFill>
                <a:latin typeface="monospace"/>
              </a:rPr>
              <a:t>[Monto] )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9600" y="609600"/>
            <a:ext cx="1158240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171717"/>
                </a:solidFill>
                <a:latin typeface="Space Grotesk"/>
              </a:rPr>
              <a:t>Modelado de Datos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00625" y="2886075"/>
            <a:ext cx="2738437" cy="1143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9000"/>
              </a:lnSpc>
            </a:pPr>
            <a:r>
              <a:rPr sz="9000" b="1" i="0" u="none">
                <a:solidFill>
                  <a:srgbClr val="2563EB"/>
                </a:solidFill>
                <a:latin typeface="Space Grotesk"/>
              </a:rPr>
              <a:t>1 : 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14600" y="4257675"/>
            <a:ext cx="8953500" cy="3238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100" b="0" i="0" u="none">
                <a:solidFill>
                  <a:srgbClr val="4B5563"/>
                </a:solidFill>
                <a:latin typeface="Inter"/>
              </a:rPr>
              <a:t>Relaciones nativas entre tablas dimensionales y hechos.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09600" y="5038725"/>
            <a:ext cx="8226028" cy="7810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defRPr/>
            </a:pPr>
            <a:r>
              <a:rPr sz="4800" b="1" i="0" u="none">
                <a:solidFill>
                  <a:srgbClr val="FFFFFF"/>
                </a:solidFill>
                <a:latin typeface="Space Grotesk"/>
              </a:rPr>
              <a:t>Informes Interactivos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5972175"/>
            <a:ext cx="7834312" cy="2762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defRPr/>
            </a:pPr>
            <a:r>
              <a:rPr sz="1800" b="0" i="0" u="none">
                <a:solidFill>
                  <a:srgbClr val="F3F4F6"/>
                </a:solidFill>
                <a:latin typeface="Inter"/>
              </a:rPr>
              <a:t>Consolidación de métricas para lectura inmediata.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" y="4110930"/>
            <a:ext cx="457200" cy="381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09600" y="2708969"/>
            <a:ext cx="5860732" cy="1173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4620"/>
              </a:lnSpc>
            </a:pPr>
            <a:r>
              <a:rPr sz="4200" b="1" i="0" u="none">
                <a:solidFill>
                  <a:srgbClr val="171717"/>
                </a:solidFill>
                <a:latin typeface="Space Grotesk"/>
              </a:rPr>
              <a:t>Publicación en</a:t>
            </a:r>
            <a:r>
              <a:t>
</a:t>
            </a:r>
            <a:r>
              <a:rPr sz="4200" b="1" i="0" u="none">
                <a:solidFill>
                  <a:srgbClr val="171717"/>
                </a:solidFill>
                <a:latin typeface="Space Grotesk"/>
              </a:rPr>
              <a:t> la Nube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72200" y="2242363"/>
            <a:ext cx="152400" cy="4762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100" b="0" i="0" u="none">
                <a:solidFill>
                  <a:srgbClr val="4B5563"/>
                </a:solidFill>
                <a:latin typeface="Inter"/>
              </a:rPr>
              <a:t>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24600" y="2240458"/>
            <a:ext cx="5867400" cy="479970"/>
          </a:xfrm>
          <a:prstGeom prst="rect">
            <a:avLst/>
          </a:prstGeom>
          <a:noFill/>
        </p:spPr>
        <p:txBody>
          <a:bodyPr wrap="none" lIns="152400" tIns="0" rIns="0" bIns="0" anchor="t">
            <a:spAutoFit/>
          </a:bodyPr>
          <a:lstStyle/>
          <a:p>
            <a:pPr algn="l">
              <a:lnSpc>
                <a:spcPts val="3779"/>
              </a:lnSpc>
            </a:pPr>
            <a:r>
              <a:rPr sz="2100" b="0" i="0" u="none">
                <a:solidFill>
                  <a:srgbClr val="4B5563"/>
                </a:solidFill>
                <a:latin typeface="Inter"/>
              </a:rPr>
              <a:t>Paso de Desktop a Service.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72200" y="2836634"/>
            <a:ext cx="152400" cy="4762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100" b="0" i="0" u="none">
                <a:solidFill>
                  <a:srgbClr val="4B5563"/>
                </a:solidFill>
                <a:latin typeface="Inter"/>
              </a:rPr>
              <a:t>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24600" y="2834729"/>
            <a:ext cx="5867400" cy="479970"/>
          </a:xfrm>
          <a:prstGeom prst="rect">
            <a:avLst/>
          </a:prstGeom>
          <a:noFill/>
        </p:spPr>
        <p:txBody>
          <a:bodyPr wrap="none" lIns="152400" tIns="0" rIns="0" bIns="0" anchor="t">
            <a:spAutoFit/>
          </a:bodyPr>
          <a:lstStyle/>
          <a:p>
            <a:pPr algn="l">
              <a:lnSpc>
                <a:spcPts val="3779"/>
              </a:lnSpc>
            </a:pPr>
            <a:r>
              <a:rPr sz="2100" b="0" i="0" u="none">
                <a:solidFill>
                  <a:srgbClr val="4B5563"/>
                </a:solidFill>
                <a:latin typeface="Inter"/>
              </a:rPr>
              <a:t>Áreas de trabajo compartidas.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72200" y="3430905"/>
            <a:ext cx="152400" cy="4762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100" b="0" i="0" u="none">
                <a:solidFill>
                  <a:srgbClr val="4B5563"/>
                </a:solidFill>
                <a:latin typeface="Inter"/>
              </a:rP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24600" y="3429000"/>
            <a:ext cx="5867400" cy="479970"/>
          </a:xfrm>
          <a:prstGeom prst="rect">
            <a:avLst/>
          </a:prstGeom>
          <a:noFill/>
        </p:spPr>
        <p:txBody>
          <a:bodyPr wrap="none" lIns="152400" tIns="0" rIns="0" bIns="0" anchor="t">
            <a:spAutoFit/>
          </a:bodyPr>
          <a:lstStyle/>
          <a:p>
            <a:pPr algn="l">
              <a:lnSpc>
                <a:spcPts val="3779"/>
              </a:lnSpc>
            </a:pPr>
            <a:r>
              <a:rPr sz="2100" b="0" i="0" u="none">
                <a:solidFill>
                  <a:srgbClr val="4B5563"/>
                </a:solidFill>
                <a:latin typeface="Inter"/>
              </a:rPr>
              <a:t>Actualización programada.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72200" y="4025175"/>
            <a:ext cx="152400" cy="4762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100" b="0" i="0" u="none">
                <a:solidFill>
                  <a:srgbClr val="4B5563"/>
                </a:solidFill>
                <a:latin typeface="Inter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4600" y="4023270"/>
            <a:ext cx="5867400" cy="479970"/>
          </a:xfrm>
          <a:prstGeom prst="rect">
            <a:avLst/>
          </a:prstGeom>
          <a:noFill/>
        </p:spPr>
        <p:txBody>
          <a:bodyPr wrap="none" lIns="152400" tIns="0" rIns="0" bIns="0" anchor="t">
            <a:spAutoFit/>
          </a:bodyPr>
          <a:lstStyle/>
          <a:p>
            <a:pPr algn="l">
              <a:lnSpc>
                <a:spcPts val="3779"/>
              </a:lnSpc>
            </a:pPr>
            <a:r>
              <a:rPr sz="2100" b="0" i="0" u="none">
                <a:solidFill>
                  <a:srgbClr val="4B5563"/>
                </a:solidFill>
                <a:latin typeface="Inter"/>
              </a:rPr>
              <a:t>Seguridad a nivel de fila (RLS).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328046" y="2814637"/>
            <a:ext cx="1535906" cy="2952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800" b="0" i="0" u="none">
                <a:solidFill>
                  <a:srgbClr val="D97706"/>
                </a:solidFill>
                <a:latin typeface="Space Grotesk"/>
              </a:rPr>
              <a:t>Sección 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358032" y="3262312"/>
            <a:ext cx="7475934" cy="7810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4800" b="1" i="0" u="none">
                <a:solidFill>
                  <a:srgbClr val="171717"/>
                </a:solidFill>
                <a:latin typeface="Space Grotesk"/>
              </a:rPr>
              <a:t>Video de la Semana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81650" y="2276475"/>
            <a:ext cx="1028700" cy="9144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695575" y="3495675"/>
            <a:ext cx="6800850" cy="581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3600" b="1" i="0" u="none">
                <a:solidFill>
                  <a:srgbClr val="171717"/>
                </a:solidFill>
                <a:latin typeface="Space Grotesk"/>
              </a:rPr>
              <a:t>Visualización en Acción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375421" y="4305300"/>
            <a:ext cx="5441156" cy="2762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800" b="0" i="0" u="none">
                <a:solidFill>
                  <a:srgbClr val="4B5563"/>
                </a:solidFill>
                <a:latin typeface="Inter"/>
              </a:rPr>
              <a:t>Enlace disponible en la plataforma UEDI.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322093" y="2814637"/>
            <a:ext cx="1547812" cy="2952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800" b="0" i="0" u="none">
                <a:solidFill>
                  <a:srgbClr val="D97706"/>
                </a:solidFill>
                <a:latin typeface="Space Grotesk"/>
              </a:rPr>
              <a:t>Sección 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870596" y="3262312"/>
            <a:ext cx="6450806" cy="7810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4800" b="1" i="0" u="none">
                <a:solidFill>
                  <a:srgbClr val="171717"/>
                </a:solidFill>
                <a:latin typeface="Space Grotesk"/>
              </a:rPr>
              <a:t>Ejemplo Práctico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3100387"/>
            <a:ext cx="3505200" cy="1495425"/>
          </a:xfrm>
          <a:prstGeom prst="roundRect">
            <a:avLst>
              <a:gd name="adj" fmla="val 5095"/>
            </a:avLst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343400" y="3200400"/>
            <a:ext cx="3505200" cy="1295400"/>
          </a:xfrm>
          <a:prstGeom prst="roundRect">
            <a:avLst>
              <a:gd name="adj" fmla="val 5882"/>
            </a:avLst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077200" y="3200400"/>
            <a:ext cx="3505200" cy="1295400"/>
          </a:xfrm>
          <a:prstGeom prst="roundRect">
            <a:avLst>
              <a:gd name="adj" fmla="val 5882"/>
            </a:avLst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09600" y="3100387"/>
            <a:ext cx="3505200" cy="381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343400" y="3200400"/>
            <a:ext cx="3505200" cy="381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077200" y="3200400"/>
            <a:ext cx="3505200" cy="381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09600" y="609600"/>
            <a:ext cx="1158240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171717"/>
                </a:solidFill>
                <a:latin typeface="Space Grotesk"/>
              </a:rPr>
              <a:t>Dashboard de Ventas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443287"/>
            <a:ext cx="3800475" cy="2952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00000"/>
                </a:solidFill>
                <a:latin typeface="Space Grotesk"/>
              </a:rPr>
              <a:t>1. Importar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890962"/>
            <a:ext cx="299085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B5563"/>
                </a:solidFill>
                <a:latin typeface="Inter"/>
              </a:rPr>
              <a:t>Conectar tabla Access y catálogo Excel.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48200" y="3543300"/>
            <a:ext cx="3800475" cy="2952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00000"/>
                </a:solidFill>
                <a:latin typeface="Space Grotesk"/>
              </a:rPr>
              <a:t>2. Modelar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48200" y="3990975"/>
            <a:ext cx="361950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B5563"/>
                </a:solidFill>
                <a:latin typeface="Inter"/>
              </a:rPr>
              <a:t>Unir IDs y limpiar columnas nulas.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82000" y="3543300"/>
            <a:ext cx="3800475" cy="2952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00000"/>
                </a:solidFill>
                <a:latin typeface="Space Grotesk"/>
              </a:rPr>
              <a:t>3. Visualizar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82000" y="3990975"/>
            <a:ext cx="361950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B5563"/>
                </a:solidFill>
                <a:latin typeface="Inter"/>
              </a:rPr>
              <a:t>Crear gráficos de barras y KPIs.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334000" y="2814637"/>
            <a:ext cx="1524000" cy="2952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800" b="0" i="0" u="none">
                <a:solidFill>
                  <a:srgbClr val="D97706"/>
                </a:solidFill>
                <a:latin typeface="Space Grotesk"/>
              </a:rPr>
              <a:t>Sección 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89374" y="3262312"/>
            <a:ext cx="6013251" cy="7810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4800" b="1" i="0" u="none">
                <a:solidFill>
                  <a:srgbClr val="171717"/>
                </a:solidFill>
                <a:latin typeface="Space Grotesk"/>
              </a:rPr>
              <a:t>Actividad Corta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9600" y="2886075"/>
            <a:ext cx="6588323" cy="581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600" b="1" i="0" u="none">
                <a:solidFill>
                  <a:srgbClr val="171717"/>
                </a:solidFill>
                <a:latin typeface="Space Grotesk"/>
              </a:rPr>
              <a:t>Investigación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3695700"/>
            <a:ext cx="6274593" cy="2762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D97706"/>
                </a:solidFill>
                <a:latin typeface="Inter"/>
              </a:rPr>
              <a:t>Archivo: ActividadCorta5.pdf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91325" y="2286000"/>
            <a:ext cx="5400675" cy="4572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sz="1800" b="1" i="0" u="none">
                <a:solidFill>
                  <a:srgbClr val="171717"/>
                </a:solidFill>
                <a:latin typeface="Inter"/>
              </a:rPr>
              <a:t>1.</a:t>
            </a:r>
            <a:r>
              <a:rPr sz="1800" b="0" i="0" u="none">
                <a:solidFill>
                  <a:srgbClr val="171717"/>
                </a:solidFill>
                <a:latin typeface="Inter"/>
              </a:rPr>
              <a:t> Usos de Power BI.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91325" y="2857500"/>
            <a:ext cx="5400675" cy="4572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sz="1800" b="1" i="0" u="none">
                <a:solidFill>
                  <a:srgbClr val="171717"/>
                </a:solidFill>
                <a:latin typeface="Inter"/>
              </a:rPr>
              <a:t>2.</a:t>
            </a:r>
            <a:r>
              <a:rPr sz="1800" b="0" i="0" u="none">
                <a:solidFill>
                  <a:srgbClr val="171717"/>
                </a:solidFill>
                <a:latin typeface="Inter"/>
              </a:rPr>
              <a:t> Empresas guatemaltecas usuarias.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91325" y="3429000"/>
            <a:ext cx="5400675" cy="4572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sz="1800" b="1" i="0" u="none">
                <a:solidFill>
                  <a:srgbClr val="171717"/>
                </a:solidFill>
                <a:latin typeface="Inter"/>
              </a:rPr>
              <a:t>3.</a:t>
            </a:r>
            <a:r>
              <a:rPr sz="1800" b="0" i="0" u="none">
                <a:solidFill>
                  <a:srgbClr val="171717"/>
                </a:solidFill>
                <a:latin typeface="Inter"/>
              </a:rPr>
              <a:t> ¿Qué es DAX?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91325" y="4000500"/>
            <a:ext cx="5400675" cy="4572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sz="1800" b="1" i="0" u="none">
                <a:solidFill>
                  <a:srgbClr val="171717"/>
                </a:solidFill>
                <a:latin typeface="Inter"/>
              </a:rPr>
              <a:t>4.</a:t>
            </a:r>
            <a:r>
              <a:rPr sz="1800" b="0" i="0" u="none">
                <a:solidFill>
                  <a:srgbClr val="171717"/>
                </a:solidFill>
                <a:latin typeface="Inter"/>
              </a:rPr>
              <a:t> Power Query vs Power Pivot.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43599592" name="Google Shape;54;p13"/>
          <p:cNvPicPr/>
          <p:nvPr/>
        </p:nvPicPr>
        <p:blipFill rotWithShape="1">
          <a:blip r:embed="rId3">
            <a:alphaModFix amt="62000"/>
          </a:blip>
          <a:stretch/>
        </p:blipFill>
        <p:spPr bwMode="auto">
          <a:xfrm>
            <a:off x="11269" y="1"/>
            <a:ext cx="12169465" cy="685800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65687050" name="Google Shape;55;p13"/>
          <p:cNvGraphicFramePr>
            <a:graphicFrameLocks/>
          </p:cNvGraphicFramePr>
          <p:nvPr/>
        </p:nvGraphicFramePr>
        <p:xfrm>
          <a:off x="11267" y="1004833"/>
          <a:ext cx="6973166" cy="2042040"/>
        </p:xfrm>
        <a:graphic>
          <a:graphicData uri="http://schemas.openxmlformats.org/drawingml/2006/table">
            <a:tbl>
              <a:tblPr/>
              <a:tblGrid>
                <a:gridCol w="36887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844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0956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s" sz="1900" b="1">
                          <a:solidFill>
                            <a:schemeClr val="dk1"/>
                          </a:solidFill>
                        </a:rPr>
                        <a:t>Nombre de la actividad:</a:t>
                      </a:r>
                      <a:endParaRPr sz="1900" b="1">
                        <a:solidFill>
                          <a:schemeClr val="dk1"/>
                        </a:solidFill>
                      </a:endParaRPr>
                    </a:p>
                  </a:txBody>
                  <a:tcPr marL="121900" marR="121900" marT="121900" marB="121900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sz="2400"/>
                        <a:t>Asignacion DTT</a:t>
                      </a:r>
                    </a:p>
                  </a:txBody>
                  <a:tcPr marL="121900" marR="121900" marT="121900" marB="1219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956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s" sz="1900" b="1">
                          <a:solidFill>
                            <a:schemeClr val="dk1"/>
                          </a:solidFill>
                        </a:rPr>
                        <a:t>Cantidad de participantes:</a:t>
                      </a:r>
                      <a:endParaRPr sz="1900" b="1">
                        <a:solidFill>
                          <a:schemeClr val="dk1"/>
                        </a:solidFill>
                      </a:endParaRPr>
                    </a:p>
                  </a:txBody>
                  <a:tcPr marL="121900" marR="121900" marT="121900" marB="121900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 sz="2400"/>
                    </a:p>
                  </a:txBody>
                  <a:tcPr marL="121900" marR="121900" marT="121900" marB="1219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1276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s" sz="1900" b="1">
                          <a:solidFill>
                            <a:schemeClr val="dk1"/>
                          </a:solidFill>
                        </a:rPr>
                        <a:t>Doy fe que esta actividad está planificada en dtt (Sí/No):</a:t>
                      </a:r>
                      <a:endParaRPr sz="1900" b="1">
                        <a:solidFill>
                          <a:schemeClr val="dk1"/>
                        </a:solidFill>
                      </a:endParaRPr>
                    </a:p>
                  </a:txBody>
                  <a:tcPr marL="121900" marR="121900" marT="121900" marB="121900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 sz="2400" dirty="0"/>
                    </a:p>
                  </a:txBody>
                  <a:tcPr marL="121900" marR="121900" marT="121900" marB="1219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704884106" name="Google Shape;56;p13"/>
          <p:cNvSpPr txBox="1"/>
          <p:nvPr/>
        </p:nvSpPr>
        <p:spPr bwMode="auto">
          <a:xfrm>
            <a:off x="0" y="2854601"/>
            <a:ext cx="12025200" cy="615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" sz="2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Participantes: llenar las siguientes cajas de texto (tomar información del chat del meet)</a:t>
            </a:r>
            <a:endParaRPr kumimoji="0" sz="24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80400390" name="Google Shape;57;p13"/>
          <p:cNvSpPr txBox="1"/>
          <p:nvPr/>
        </p:nvSpPr>
        <p:spPr bwMode="auto">
          <a:xfrm>
            <a:off x="11267" y="3303865"/>
            <a:ext cx="4111600" cy="4308831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100"/>
              <a:buFontTx/>
              <a:buNone/>
              <a:tabLst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100"/>
              <a:buFontTx/>
              <a:buNone/>
              <a:tabLst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100"/>
              <a:buFontTx/>
              <a:buNone/>
              <a:tabLst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100"/>
              <a:buFontTx/>
              <a:buNone/>
              <a:tabLst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100"/>
              <a:buFontTx/>
              <a:buNone/>
              <a:tabLst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100"/>
              <a:buFontTx/>
              <a:buNone/>
              <a:tabLst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100"/>
              <a:buFontTx/>
              <a:buNone/>
              <a:tabLst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100"/>
              <a:buFontTx/>
              <a:buNone/>
              <a:tabLst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100"/>
              <a:buFontTx/>
              <a:buNone/>
              <a:tabLst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100"/>
              <a:buFontTx/>
              <a:buNone/>
              <a:tabLst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100"/>
              <a:buFontTx/>
              <a:buNone/>
              <a:tabLst/>
              <a:defRPr/>
            </a:pPr>
            <a:r>
              <a:rPr kumimoji="0" lang="e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aphicFrame>
        <p:nvGraphicFramePr>
          <p:cNvPr id="666235659" name="Google Shape;58;p13"/>
          <p:cNvGraphicFramePr>
            <a:graphicFrameLocks/>
          </p:cNvGraphicFramePr>
          <p:nvPr/>
        </p:nvGraphicFramePr>
        <p:xfrm>
          <a:off x="7104267" y="1293367"/>
          <a:ext cx="4920767" cy="1828680"/>
        </p:xfrm>
        <a:graphic>
          <a:graphicData uri="http://schemas.openxmlformats.org/drawingml/2006/table">
            <a:tbl>
              <a:tblPr/>
              <a:tblGrid>
                <a:gridCol w="20242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96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0956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s" sz="1900" b="1">
                          <a:solidFill>
                            <a:schemeClr val="dk1"/>
                          </a:solidFill>
                        </a:rPr>
                        <a:t>Hora de inicio:</a:t>
                      </a:r>
                      <a:endParaRPr sz="1900" b="1">
                        <a:solidFill>
                          <a:schemeClr val="dk1"/>
                        </a:solidFill>
                      </a:endParaRPr>
                    </a:p>
                  </a:txBody>
                  <a:tcPr marL="121900" marR="121900" marT="121900" marB="121900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sz="2400"/>
                        <a:t>17:29</a:t>
                      </a:r>
                    </a:p>
                  </a:txBody>
                  <a:tcPr marL="121900" marR="121900" marT="121900" marB="1219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956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s" sz="1900" b="1">
                          <a:solidFill>
                            <a:schemeClr val="dk1"/>
                          </a:solidFill>
                        </a:rPr>
                        <a:t>Hora de fin:</a:t>
                      </a:r>
                      <a:endParaRPr sz="1900" b="1">
                        <a:solidFill>
                          <a:schemeClr val="dk1"/>
                        </a:solidFill>
                      </a:endParaRPr>
                    </a:p>
                  </a:txBody>
                  <a:tcPr marL="121900" marR="121900" marT="121900" marB="121900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sz="2400"/>
                        <a:t>17:34</a:t>
                      </a:r>
                    </a:p>
                  </a:txBody>
                  <a:tcPr marL="121900" marR="121900" marT="121900" marB="1219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956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90"/>
                        <a:buFont typeface="Arial"/>
                        <a:buNone/>
                        <a:defRPr/>
                      </a:pPr>
                      <a:r>
                        <a:rPr lang="es" sz="1900" b="1">
                          <a:solidFill>
                            <a:schemeClr val="dk1"/>
                          </a:solidFill>
                        </a:rPr>
                        <a:t>Duración (min):</a:t>
                      </a:r>
                      <a:endParaRPr sz="700" b="1"/>
                    </a:p>
                  </a:txBody>
                  <a:tcPr marL="121900" marR="121900" marT="121900" marB="121900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sz="2400"/>
                        <a:t>5 min</a:t>
                      </a:r>
                    </a:p>
                  </a:txBody>
                  <a:tcPr marL="121900" marR="121900" marT="121900" marB="1219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71797057" name="Google Shape;59;p13"/>
          <p:cNvSpPr txBox="1"/>
          <p:nvPr/>
        </p:nvSpPr>
        <p:spPr bwMode="auto">
          <a:xfrm>
            <a:off x="4174400" y="3303865"/>
            <a:ext cx="4111600" cy="4308831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100"/>
              <a:buFontTx/>
              <a:buNone/>
              <a:tabLst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100"/>
              <a:buFontTx/>
              <a:buNone/>
              <a:tabLst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100"/>
              <a:buFontTx/>
              <a:buNone/>
              <a:tabLst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100"/>
              <a:buFontTx/>
              <a:buNone/>
              <a:tabLst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100"/>
              <a:buFontTx/>
              <a:buNone/>
              <a:tabLst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100"/>
              <a:buFontTx/>
              <a:buNone/>
              <a:tabLst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100"/>
              <a:buFontTx/>
              <a:buNone/>
              <a:tabLst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100"/>
              <a:buFontTx/>
              <a:buNone/>
              <a:tabLst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100"/>
              <a:buFontTx/>
              <a:buNone/>
              <a:tabLst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100"/>
              <a:buFontTx/>
              <a:buNone/>
              <a:tabLst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100"/>
              <a:buFontTx/>
              <a:buNone/>
              <a:tabLst/>
              <a:defRPr/>
            </a:pPr>
            <a:r>
              <a:rPr kumimoji="0" lang="e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65171085" name="Google Shape;60;p13"/>
          <p:cNvSpPr txBox="1"/>
          <p:nvPr/>
        </p:nvSpPr>
        <p:spPr bwMode="auto">
          <a:xfrm>
            <a:off x="8337533" y="3303865"/>
            <a:ext cx="3843200" cy="4308831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100"/>
              <a:buFontTx/>
              <a:buNone/>
              <a:tabLst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100"/>
              <a:buFontTx/>
              <a:buNone/>
              <a:tabLst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100"/>
              <a:buFontTx/>
              <a:buNone/>
              <a:tabLst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100"/>
              <a:buFontTx/>
              <a:buNone/>
              <a:tabLst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100"/>
              <a:buFontTx/>
              <a:buNone/>
              <a:tabLst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100"/>
              <a:buFontTx/>
              <a:buNone/>
              <a:tabLst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100"/>
              <a:buFontTx/>
              <a:buNone/>
              <a:tabLst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100"/>
              <a:buFontTx/>
              <a:buNone/>
              <a:tabLst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100"/>
              <a:buFontTx/>
              <a:buNone/>
              <a:tabLst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100"/>
              <a:buFontTx/>
              <a:buNone/>
              <a:tabLst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100"/>
              <a:buFontTx/>
              <a:buNone/>
              <a:tabLst/>
              <a:defRPr/>
            </a:pPr>
            <a:r>
              <a:rPr kumimoji="0" lang="e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:w="http://schemas.openxmlformats.org/wordprocessingml/2006/main" xmlns:m="http://schemas.openxmlformats.org/officeDocument/2006/math" xmlns="">
      <p:transition advClick="1"/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17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185171" y="2390775"/>
            <a:ext cx="1821656" cy="2952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800" b="0" i="0" u="none">
                <a:solidFill>
                  <a:srgbClr val="D97706"/>
                </a:solidFill>
                <a:latin typeface="Space Grotesk"/>
              </a:rPr>
              <a:t>SECCIÓN 08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14489" y="2914650"/>
            <a:ext cx="4163020" cy="9715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0" b="1" i="0" u="none">
                <a:solidFill>
                  <a:srgbClr val="FAFAF9"/>
                </a:solidFill>
                <a:latin typeface="Space Grotesk"/>
              </a:rPr>
              <a:t>¿Dudas?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60093" y="4191000"/>
            <a:ext cx="3071812" cy="2762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800" b="0" i="0" u="none">
                <a:solidFill>
                  <a:srgbClr val="A3A3A3"/>
                </a:solidFill>
                <a:latin typeface="Inter"/>
              </a:rPr>
              <a:t>Fin de la presentación.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71500" y="866775"/>
            <a:ext cx="11049000" cy="771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71500" y="1638300"/>
            <a:ext cx="11049000" cy="771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71500" y="162877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71500" y="162877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71500" y="240030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71500" y="240030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009650"/>
            <a:ext cx="857250" cy="4762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781175"/>
            <a:ext cx="857250" cy="4762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2586037"/>
            <a:ext cx="857250" cy="4762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71500" y="571500"/>
            <a:ext cx="2150268" cy="2952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F8FAFC"/>
                </a:solidFill>
                <a:latin typeface="Space Grotesk"/>
              </a:rPr>
              <a:t>Image Sources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66875" y="1052512"/>
            <a:ext cx="5560218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F8FAFC"/>
                </a:solidFill>
                <a:latin typeface="Inter"/>
              </a:rPr>
              <a:t>https://blog.coupler.io/app/uploads/2025/04/ppc-dashboard-power-bi.png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66875" y="1252537"/>
            <a:ext cx="2107406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F8FAFC"/>
                </a:solidFill>
                <a:latin typeface="Inter"/>
              </a:rPr>
              <a:t>Source: </a:t>
            </a:r>
            <a:r>
              <a:rPr sz="1200" b="0" i="0" u="none">
                <a:solidFill>
                  <a:srgbClr val="4F46E5"/>
                </a:solidFill>
                <a:latin typeface="Inter"/>
              </a:rPr>
              <a:t>blog.coupler.io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66875" y="1824037"/>
            <a:ext cx="6203156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F8FAFC"/>
                </a:solidFill>
                <a:latin typeface="Inter"/>
              </a:rPr>
              <a:t>https://wpdatatables.com/wp-content/uploads/2021/03/Admintory-Order-Details.jpg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66875" y="2024062"/>
            <a:ext cx="2405062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F8FAFC"/>
                </a:solidFill>
                <a:latin typeface="Inter"/>
              </a:rPr>
              <a:t>Source: </a:t>
            </a:r>
            <a:r>
              <a:rPr sz="1200" b="0" i="0" u="none">
                <a:solidFill>
                  <a:srgbClr val="4F46E5"/>
                </a:solidFill>
                <a:latin typeface="Inter"/>
              </a:rPr>
              <a:t>wpdatatables.com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66875" y="2552700"/>
            <a:ext cx="10048875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F8FAFC"/>
                </a:solidFill>
                <a:latin typeface="Inter"/>
              </a:rPr>
              <a:t>https://media.gettyimages.com/id/2243938986/de/foto/futuristic-data-dashboard-interface-displaying-analytics-charts-bar-graphs.jpg?s=612x612&amp;w=gi&amp;k=20&amp;c=kotMsGXh69aKv1-UKE1NRcIxqYBS6Jc-saMwmqRnmFY=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66875" y="2905125"/>
            <a:ext cx="2643187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F8FAFC"/>
                </a:solidFill>
                <a:latin typeface="Inter"/>
              </a:rPr>
              <a:t>Source: </a:t>
            </a:r>
            <a:r>
              <a:rPr sz="1200" b="0" i="0" u="none">
                <a:solidFill>
                  <a:srgbClr val="4F46E5"/>
                </a:solidFill>
                <a:latin typeface="Inter"/>
              </a:rPr>
              <a:t>www.gettyimages.de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1641</TotalTime>
  <Words>971</Words>
  <Application>Microsoft Office PowerPoint</Application>
  <PresentationFormat>Widescreen</PresentationFormat>
  <Paragraphs>276</Paragraphs>
  <Slides>38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38</vt:i4>
      </vt:variant>
    </vt:vector>
  </HeadingPairs>
  <TitlesOfParts>
    <vt:vector size="47" baseType="lpstr">
      <vt:lpstr>Open Sans</vt:lpstr>
      <vt:lpstr>Calibri</vt:lpstr>
      <vt:lpstr>Arial</vt:lpstr>
      <vt:lpstr>Space Grotesk</vt:lpstr>
      <vt:lpstr>Open Sans Bold</vt:lpstr>
      <vt:lpstr>monospace</vt:lpstr>
      <vt:lpstr>Inter</vt:lpstr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Billy</dc:creator>
  <cp:keywords/>
  <dc:description>generated using python-pptx</dc:description>
  <cp:lastModifiedBy>Billy James</cp:lastModifiedBy>
  <cp:revision>3</cp:revision>
  <dcterms:created xsi:type="dcterms:W3CDTF">2013-01-27T09:14:16Z</dcterms:created>
  <dcterms:modified xsi:type="dcterms:W3CDTF">2026-10-28T01:27:16Z</dcterms:modified>
  <cp:category/>
</cp:coreProperties>
</file>