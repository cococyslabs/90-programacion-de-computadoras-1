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ns Bold" charset="1" panose="00000000000000000000"/>
      <p:regular r:id="rId21"/>
    </p:embeddedFont>
    <p:embeddedFont>
      <p:font typeface="Open Sans" charset="1" panose="00000000000000000000"/>
      <p:regular r:id="rId22"/>
    </p:embeddedFont>
    <p:embeddedFont>
      <p:font typeface="Cinema Outfit" charset="1" panose="00000000000000000000"/>
      <p:regular r:id="rId23"/>
    </p:embeddedFont>
    <p:embeddedFont>
      <p:font typeface="Inter" charset="1" panose="02000503000000020004"/>
      <p:regular r:id="rId24"/>
    </p:embeddedFont>
    <p:embeddedFont>
      <p:font typeface="Inter Bold" charset="1" panose="02000503000000020004"/>
      <p:regular r:id="rId25"/>
    </p:embeddedFont>
    <p:embeddedFont>
      <p:font typeface="Arimo" charset="1" panose="020B0604020202020204"/>
      <p:regular r:id="rId26"/>
    </p:embeddedFont>
    <p:embeddedFont>
      <p:font typeface="Inter Medium" charset="1" panose="02000503000000020004"/>
      <p:regular r:id="rId27"/>
    </p:embeddedFont>
    <p:embeddedFont>
      <p:font typeface="Fira Code" charset="1" panose="020B08090500000200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2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1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81" r="0" b="-8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27112" y="6416164"/>
            <a:ext cx="6433785" cy="880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5088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Luis Vejo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52952" y="3895715"/>
            <a:ext cx="10982096" cy="229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34"/>
              </a:lnSpc>
            </a:pPr>
            <a:r>
              <a:rPr lang="en-US" sz="4524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Laboratorio de Programación de Computadoras 1 Sección N</a:t>
            </a:r>
          </a:p>
          <a:p>
            <a:pPr algn="ctr">
              <a:lnSpc>
                <a:spcPts val="5214"/>
              </a:lnSpc>
            </a:pP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2360890" y="1922183"/>
          <a:ext cx="5410200" cy="161925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</a:tblGrid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Martes</a:t>
                      </a: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, 01/09/2026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12:20 pm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28700" y="9356406"/>
            <a:ext cx="6433785" cy="56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sz="3289" b="true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Iniciamos 12:25 pm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738199" y="3694881"/>
            <a:ext cx="12811601" cy="1300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sz="810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Semana 8: </a:t>
            </a:r>
            <a:r>
              <a:rPr lang="en-US" sz="8100">
                <a:solidFill>
                  <a:srgbClr val="38BDF8"/>
                </a:solidFill>
                <a:latin typeface="Cinema Outfit"/>
                <a:ea typeface="Cinema Outfit"/>
                <a:cs typeface="Cinema Outfit"/>
                <a:sym typeface="Cinema Outfit"/>
              </a:rPr>
              <a:t>SQL Intermedio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43238" y="5176018"/>
            <a:ext cx="12201525" cy="1201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8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Consultas Avanzadas y Análisis de Datos</a:t>
            </a:r>
          </a:p>
          <a:p>
            <a:pPr algn="ctr">
              <a:lnSpc>
                <a:spcPts val="4318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Laboratorio de Programación de Computadoras 1 - Sección 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500188" y="4140994"/>
            <a:ext cx="15930562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Evolucionar: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Pasaremos del manejo básico de datos (DDL y DML) al análisis y resumen de información (DQL Avanzado).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0188" y="5341144"/>
            <a:ext cx="1593056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Agrupar y Filtrar: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Aprenderemos a consolidar datos a nivel macro utilizando funciones de agregación.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0188" y="6084094"/>
            <a:ext cx="15930562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Vistas (Views):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Conoceremos cómo estructurar y guardar consultas recurrentes de manera eficiente en la base de datos.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3988594"/>
            <a:ext cx="24288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37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250" y="5188744"/>
            <a:ext cx="24288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37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5931694"/>
            <a:ext cx="24288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37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57250" y="4271962"/>
            <a:ext cx="414338" cy="385762"/>
            <a:chOff x="0" y="0"/>
            <a:chExt cx="552450" cy="5143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52450" cy="514350"/>
            </a:xfrm>
            <a:custGeom>
              <a:avLst/>
              <a:gdLst/>
              <a:ahLst/>
              <a:cxnLst/>
              <a:rect r="r" b="b" t="t" l="l"/>
              <a:pathLst>
                <a:path h="514350" w="552450">
                  <a:moveTo>
                    <a:pt x="0" y="0"/>
                  </a:moveTo>
                  <a:lnTo>
                    <a:pt x="552450" y="0"/>
                  </a:lnTo>
                  <a:lnTo>
                    <a:pt x="55245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5472112"/>
            <a:ext cx="414338" cy="385762"/>
            <a:chOff x="0" y="0"/>
            <a:chExt cx="552450" cy="5143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52450" cy="514350"/>
            </a:xfrm>
            <a:custGeom>
              <a:avLst/>
              <a:gdLst/>
              <a:ahLst/>
              <a:cxnLst/>
              <a:rect r="r" b="b" t="t" l="l"/>
              <a:pathLst>
                <a:path h="514350" w="552450">
                  <a:moveTo>
                    <a:pt x="0" y="0"/>
                  </a:moveTo>
                  <a:lnTo>
                    <a:pt x="552450" y="0"/>
                  </a:lnTo>
                  <a:lnTo>
                    <a:pt x="55245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57250" y="6215062"/>
            <a:ext cx="328612" cy="385762"/>
            <a:chOff x="0" y="0"/>
            <a:chExt cx="438150" cy="5143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38150" cy="514350"/>
            </a:xfrm>
            <a:custGeom>
              <a:avLst/>
              <a:gdLst/>
              <a:ahLst/>
              <a:cxnLst/>
              <a:rect r="r" b="b" t="t" l="l"/>
              <a:pathLst>
                <a:path h="5143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1. Introducción: ¿Qué haremos hoy?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814638" y="2652112"/>
            <a:ext cx="12658725" cy="3474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13"/>
              </a:lnSpc>
            </a:pPr>
            <a:r>
              <a:rPr lang="en-US" sz="472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La responsabilidad es el compromiso de cumplir con las tareas asignadas, asumiendo las consecuencias y tomando decisiones conscientes.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58075" y="6507661"/>
            <a:ext cx="337185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475" b="tru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— La Responsabilidad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00262" y="7524750"/>
            <a:ext cx="14087475" cy="111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0"/>
              </a:lnSpc>
            </a:pPr>
            <a:r>
              <a:rPr lang="en-US" sz="2475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Aplicación:</a:t>
            </a:r>
            <a:r>
              <a:rPr lang="en-US" sz="24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 refleja al garantizar la integridad de los datos en consultas complejas, y en la adecuada organización del tiempo para planificar y resolver los laboratorios semanales.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4512" y="4233262"/>
            <a:ext cx="842962" cy="117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13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30525" y="7164886"/>
            <a:ext cx="842962" cy="117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13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2. Valor de la Semana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2625" y="2964656"/>
            <a:ext cx="7858125" cy="5429250"/>
            <a:chOff x="0" y="0"/>
            <a:chExt cx="10477500" cy="7239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4775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10477500">
                  <a:moveTo>
                    <a:pt x="0" y="0"/>
                  </a:moveTo>
                  <a:lnTo>
                    <a:pt x="10477500" y="0"/>
                  </a:lnTo>
                  <a:lnTo>
                    <a:pt x="104775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1" r="0" b="-13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945606"/>
            <a:ext cx="8251031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¿Por qué necesitamos SQL Intermedio?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3583781"/>
            <a:ext cx="785812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Las bases de datos en la vida real empresarial tienen miles o millones de registros. Una consulta básica como </a:t>
            </a:r>
            <a:r>
              <a:rPr lang="en-US" sz="225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SELECT *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deja de ser útil para la toma de decisiones.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86912" y="2978944"/>
            <a:ext cx="7829550" cy="5400675"/>
            <a:chOff x="0" y="0"/>
            <a:chExt cx="10439400" cy="72009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439400" cy="7200900"/>
            </a:xfrm>
            <a:custGeom>
              <a:avLst/>
              <a:gdLst/>
              <a:ahLst/>
              <a:cxnLst/>
              <a:rect r="r" b="b" t="t" l="l"/>
              <a:pathLst>
                <a:path h="7200900" w="10439400">
                  <a:moveTo>
                    <a:pt x="0" y="0"/>
                  </a:moveTo>
                  <a:lnTo>
                    <a:pt x="10439400" y="0"/>
                  </a:lnTo>
                  <a:lnTo>
                    <a:pt x="10439400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13" r="0" b="-21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875" y="5241131"/>
            <a:ext cx="74295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El Objetivo: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Necesitamos transformar "Datos" crudos en "Información" procesada (reportes, estadísticas, resúmenes de venta).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875" y="6898481"/>
            <a:ext cx="74295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La Solución: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motor relacional está optimizado para realizar cálculos matemáticos masivos antes de entregar la data a la aplicación.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7250" y="5088731"/>
            <a:ext cx="24288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37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250" y="6746081"/>
            <a:ext cx="242888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337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3. Conocimientos: Más allá del SELECT básico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143250"/>
            <a:ext cx="3821906" cy="5329238"/>
            <a:chOff x="0" y="0"/>
            <a:chExt cx="5095875" cy="710565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5095875" cy="7105650"/>
            </a:xfrm>
            <a:custGeom>
              <a:avLst/>
              <a:gdLst/>
              <a:ahLst/>
              <a:cxnLst/>
              <a:rect r="r" b="b" t="t" l="l"/>
              <a:pathLst>
                <a:path h="7105650" w="5095875">
                  <a:moveTo>
                    <a:pt x="0" y="0"/>
                  </a:moveTo>
                  <a:lnTo>
                    <a:pt x="5095875" y="0"/>
                  </a:lnTo>
                  <a:lnTo>
                    <a:pt x="5095875" y="7105650"/>
                  </a:lnTo>
                  <a:lnTo>
                    <a:pt x="0" y="7105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3" t="0" r="-9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07781" y="3143250"/>
            <a:ext cx="3821906" cy="5329238"/>
            <a:chOff x="0" y="0"/>
            <a:chExt cx="5095875" cy="710565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5095875" cy="7105650"/>
            </a:xfrm>
            <a:custGeom>
              <a:avLst/>
              <a:gdLst/>
              <a:ahLst/>
              <a:cxnLst/>
              <a:rect r="r" b="b" t="t" l="l"/>
              <a:pathLst>
                <a:path h="7105650" w="5095875">
                  <a:moveTo>
                    <a:pt x="0" y="0"/>
                  </a:moveTo>
                  <a:lnTo>
                    <a:pt x="5095875" y="0"/>
                  </a:lnTo>
                  <a:lnTo>
                    <a:pt x="5095875" y="7105650"/>
                  </a:lnTo>
                  <a:lnTo>
                    <a:pt x="0" y="7105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3" t="0" r="-9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58312" y="3143250"/>
            <a:ext cx="3821906" cy="5329238"/>
            <a:chOff x="0" y="0"/>
            <a:chExt cx="5095875" cy="710565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5095875" cy="7105650"/>
            </a:xfrm>
            <a:custGeom>
              <a:avLst/>
              <a:gdLst/>
              <a:ahLst/>
              <a:cxnLst/>
              <a:rect r="r" b="b" t="t" l="l"/>
              <a:pathLst>
                <a:path h="7105650" w="5095875">
                  <a:moveTo>
                    <a:pt x="0" y="0"/>
                  </a:moveTo>
                  <a:lnTo>
                    <a:pt x="5095875" y="0"/>
                  </a:lnTo>
                  <a:lnTo>
                    <a:pt x="5095875" y="7105650"/>
                  </a:lnTo>
                  <a:lnTo>
                    <a:pt x="0" y="7105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3" t="0" r="-9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608844" y="3143250"/>
            <a:ext cx="3821906" cy="5329238"/>
            <a:chOff x="0" y="0"/>
            <a:chExt cx="5095875" cy="71056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5095875" cy="7105650"/>
            </a:xfrm>
            <a:custGeom>
              <a:avLst/>
              <a:gdLst/>
              <a:ahLst/>
              <a:cxnLst/>
              <a:rect r="r" b="b" t="t" l="l"/>
              <a:pathLst>
                <a:path h="7105650" w="5095875">
                  <a:moveTo>
                    <a:pt x="0" y="0"/>
                  </a:moveTo>
                  <a:lnTo>
                    <a:pt x="5095875" y="0"/>
                  </a:lnTo>
                  <a:lnTo>
                    <a:pt x="5095875" y="7105650"/>
                  </a:lnTo>
                  <a:lnTo>
                    <a:pt x="0" y="7105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3" t="0" r="-9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71600" y="4724400"/>
            <a:ext cx="1725216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COUNT()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1600" y="5362575"/>
            <a:ext cx="2793206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Cuenta el número total de filas que coinciden con una condición especificada.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22131" y="4724400"/>
            <a:ext cx="1155144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SUM()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22131" y="5362575"/>
            <a:ext cx="2793206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Suma los valores numéricos de una columna en particular.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72662" y="4724400"/>
            <a:ext cx="1140142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AVG()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72662" y="5362575"/>
            <a:ext cx="2793206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Calcula el promedio (la media) matemático de una columna numérica.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23194" y="4724400"/>
            <a:ext cx="2580322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MAX() / MIN()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23194" y="5362575"/>
            <a:ext cx="2793206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Encuentran el valor más alto o el más bajo dentro de un conjunto de datos.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71600" y="3714750"/>
            <a:ext cx="528638" cy="600075"/>
            <a:chOff x="0" y="0"/>
            <a:chExt cx="704850" cy="8001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704850" cy="800100"/>
            </a:xfrm>
            <a:custGeom>
              <a:avLst/>
              <a:gdLst/>
              <a:ahLst/>
              <a:cxnLst/>
              <a:rect r="r" b="b" t="t" l="l"/>
              <a:pathLst>
                <a:path h="800100" w="704850">
                  <a:moveTo>
                    <a:pt x="0" y="0"/>
                  </a:moveTo>
                  <a:lnTo>
                    <a:pt x="704850" y="0"/>
                  </a:lnTo>
                  <a:lnTo>
                    <a:pt x="7048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622131" y="3714750"/>
            <a:ext cx="514350" cy="600075"/>
            <a:chOff x="0" y="0"/>
            <a:chExt cx="685800" cy="8001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685800" cy="800100"/>
            </a:xfrm>
            <a:custGeom>
              <a:avLst/>
              <a:gdLst/>
              <a:ahLst/>
              <a:cxnLst/>
              <a:rect r="r" b="b" t="t" l="l"/>
              <a:pathLst>
                <a:path h="8001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872662" y="3714750"/>
            <a:ext cx="514350" cy="600075"/>
            <a:chOff x="0" y="0"/>
            <a:chExt cx="685800" cy="8001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685800" cy="800100"/>
            </a:xfrm>
            <a:custGeom>
              <a:avLst/>
              <a:gdLst/>
              <a:ahLst/>
              <a:cxnLst/>
              <a:rect r="r" b="b" t="t" l="l"/>
              <a:pathLst>
                <a:path h="8001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123194" y="3714750"/>
            <a:ext cx="671512" cy="600075"/>
            <a:chOff x="0" y="0"/>
            <a:chExt cx="895350" cy="8001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895350" cy="800100"/>
            </a:xfrm>
            <a:custGeom>
              <a:avLst/>
              <a:gdLst/>
              <a:ahLst/>
              <a:cxnLst/>
              <a:rect r="r" b="b" t="t" l="l"/>
              <a:pathLst>
                <a:path h="800100" w="895350">
                  <a:moveTo>
                    <a:pt x="0" y="0"/>
                  </a:moveTo>
                  <a:lnTo>
                    <a:pt x="895350" y="0"/>
                  </a:lnTo>
                  <a:lnTo>
                    <a:pt x="8953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Funciones de Agregación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2857500"/>
            <a:ext cx="16573500" cy="1600200"/>
            <a:chOff x="0" y="0"/>
            <a:chExt cx="22098000" cy="21336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133600"/>
                  </a:lnTo>
                  <a:lnTo>
                    <a:pt x="0" y="213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090738"/>
            <a:ext cx="1060132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Aplicando las funciones sobre nuestra base de datos de la "Tienda en Línea":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750" y="4648200"/>
            <a:ext cx="1158240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Nota: Esta consulta devolverá una única fila resumiendo toda la tabla de productos.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8725" y="3200400"/>
            <a:ext cx="10287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SELECT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28875" y="3200400"/>
            <a:ext cx="8572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COUNT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86425" y="3200400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15425" y="3200400"/>
            <a:ext cx="514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SUM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01375" y="3200400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116175" y="3200400"/>
            <a:ext cx="514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AVG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8725" y="3629025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57725" y="3629025"/>
            <a:ext cx="514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MAX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15125" y="3629025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15575" y="3629025"/>
            <a:ext cx="6858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FROM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7250" y="4829175"/>
            <a:ext cx="285750" cy="285750"/>
            <a:chOff x="0" y="0"/>
            <a:chExt cx="381000" cy="3810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Ejemplo de Agregación en Acción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071688" y="3093244"/>
            <a:ext cx="5429250" cy="5429250"/>
            <a:chOff x="0" y="0"/>
            <a:chExt cx="7239000" cy="7239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239000" cy="7239000"/>
            </a:xfrm>
            <a:custGeom>
              <a:avLst/>
              <a:gdLst/>
              <a:ahLst/>
              <a:cxnLst/>
              <a:rect r="r" b="b" t="t" l="l"/>
              <a:pathLst>
                <a:path h="7239000" w="7239000">
                  <a:moveTo>
                    <a:pt x="0" y="0"/>
                  </a:moveTo>
                  <a:lnTo>
                    <a:pt x="7239000" y="0"/>
                  </a:lnTo>
                  <a:lnTo>
                    <a:pt x="723900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1" r="0" b="-13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572625" y="3509962"/>
            <a:ext cx="8251031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La cláusula GROUP BY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72625" y="4148138"/>
            <a:ext cx="785812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</a:t>
            </a: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GROUP BY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permite agrupar filas que tienen los mismos valores en filas de resumen.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2625" y="5276850"/>
            <a:ext cx="785812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 utiliza casi de manera obligatoria en conjunto con las funciones de agregación. Sin esta cláusula, las funciones aplicarían a toda la tabla de forma global.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72625" y="6862762"/>
            <a:ext cx="785812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Analogía:</a:t>
            </a:r>
            <a:r>
              <a:rPr lang="en-US" sz="22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"Dime cuántos productos hay en total, pero agrúpalos POR cada categoría".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085975" y="3107531"/>
            <a:ext cx="5400675" cy="5400675"/>
            <a:chOff x="0" y="0"/>
            <a:chExt cx="7200900" cy="72009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200900" cy="7200900"/>
            </a:xfrm>
            <a:custGeom>
              <a:avLst/>
              <a:gdLst/>
              <a:ahLst/>
              <a:cxnLst/>
              <a:rect r="r" b="b" t="t" l="l"/>
              <a:pathLst>
                <a:path h="7200900" w="7200900">
                  <a:moveTo>
                    <a:pt x="0" y="0"/>
                  </a:moveTo>
                  <a:lnTo>
                    <a:pt x="7200900" y="0"/>
                  </a:lnTo>
                  <a:lnTo>
                    <a:pt x="7200900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1" r="0" b="-13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Agrupando Datos (GROUP BY)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2857500"/>
            <a:ext cx="16573500" cy="2028825"/>
            <a:chOff x="0" y="0"/>
            <a:chExt cx="22098000" cy="27051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2705100"/>
            </a:xfrm>
            <a:custGeom>
              <a:avLst/>
              <a:gdLst/>
              <a:ahLst/>
              <a:cxnLst/>
              <a:rect r="r" b="b" t="t" l="l"/>
              <a:pathLst>
                <a:path h="2705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705100"/>
                  </a:lnTo>
                  <a:lnTo>
                    <a:pt x="0" y="270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090738"/>
            <a:ext cx="1041558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Combinando el JOIN de la semana pasada con la nueva cláusula GROUP BY: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8725" y="3200400"/>
            <a:ext cx="10287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SELECT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71925" y="3200400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72225" y="3200400"/>
            <a:ext cx="8572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COUNT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72675" y="3200400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16025" y="3200400"/>
            <a:ext cx="514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SUM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44875" y="3200400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43375" y="3629025"/>
            <a:ext cx="6858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FROM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58025" y="3629025"/>
            <a:ext cx="6858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JOIN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44125" y="3629025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8725" y="3629025"/>
            <a:ext cx="1577340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GROUP BY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Agrupación en la Práctica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278981"/>
            <a:ext cx="8001000" cy="5057775"/>
            <a:chOff x="0" y="0"/>
            <a:chExt cx="10668000" cy="67437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0668000" cy="6743700"/>
            </a:xfrm>
            <a:custGeom>
              <a:avLst/>
              <a:gdLst/>
              <a:ahLst/>
              <a:cxnLst/>
              <a:rect r="r" b="b" t="t" l="l"/>
              <a:pathLst>
                <a:path h="67437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6743700"/>
                  </a:lnTo>
                  <a:lnTo>
                    <a:pt x="0" y="674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41" r="0" b="-14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429750" y="3278981"/>
            <a:ext cx="8001000" cy="5057775"/>
            <a:chOff x="0" y="0"/>
            <a:chExt cx="10668000" cy="67437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668000" cy="6743700"/>
            </a:xfrm>
            <a:custGeom>
              <a:avLst/>
              <a:gdLst/>
              <a:ahLst/>
              <a:cxnLst/>
              <a:rect r="r" b="b" t="t" l="l"/>
              <a:pathLst>
                <a:path h="67437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6743700"/>
                  </a:lnTo>
                  <a:lnTo>
                    <a:pt x="0" y="6743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1" r="0" b="-14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43038" y="3845719"/>
            <a:ext cx="7170896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WHERE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3038" y="4483894"/>
            <a:ext cx="682942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cláusula WHERE se ejecuta </a:t>
            </a: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antes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la agrupación.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3038" y="5612606"/>
            <a:ext cx="6829425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 utiliza para filtrar registros individuales de las tablas originales antes de que el motor de SQL realice cualquier cálculo o resumen.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15538" y="3845719"/>
            <a:ext cx="7170896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HAVING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015538" y="4483894"/>
            <a:ext cx="6829425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cláusula HAVING se ejecuta </a:t>
            </a: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después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 la agrupación.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15538" y="5612606"/>
            <a:ext cx="6829425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Fue añadida a SQL porque el WHERE no puede utilizarse con funciones de agregación. Sirve para filtrar los resultados de los grupos ya consolidados.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Filtrando Grupos: WHERE vs HAVING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2857500"/>
            <a:ext cx="16573500" cy="2028825"/>
            <a:chOff x="0" y="0"/>
            <a:chExt cx="22098000" cy="27051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2705100"/>
            </a:xfrm>
            <a:custGeom>
              <a:avLst/>
              <a:gdLst/>
              <a:ahLst/>
              <a:cxnLst/>
              <a:rect r="r" b="b" t="t" l="l"/>
              <a:pathLst>
                <a:path h="27051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2705100"/>
                  </a:lnTo>
                  <a:lnTo>
                    <a:pt x="0" y="2705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090738"/>
            <a:ext cx="13844588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Mostrar un reporte, pero únicamente de aquellas categorías que tengan </a:t>
            </a: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más de 1 producto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asignado: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8725" y="3200400"/>
            <a:ext cx="10287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SELECT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71925" y="3200400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72225" y="3200400"/>
            <a:ext cx="8572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COUNT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72675" y="3200400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44575" y="3200400"/>
            <a:ext cx="6858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FROM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725" y="3629025"/>
            <a:ext cx="6858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JOIN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14825" y="3629025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15575" y="3629025"/>
            <a:ext cx="13716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GROUP BY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01675" y="3629025"/>
            <a:ext cx="10287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HAVING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8725" y="4057650"/>
            <a:ext cx="8572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COUNT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Ejemplo de HAVING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1123950"/>
            <a:ext cx="7200900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Vistas (Views)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43000" y="2609850"/>
            <a:ext cx="7200900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Guardando nuestras consultas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3248025"/>
            <a:ext cx="68580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 </a:t>
            </a:r>
            <a:r>
              <a:rPr lang="en-US" sz="2250" b="true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Vista</a:t>
            </a: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es una tabla virtual basada en el conjunto de resultados de una consulta SQL estructurada.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4976812"/>
            <a:ext cx="6858000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Contiene filas y columnas, igual que una tabla real. Los campos de una vista provienen de campos de una o más tablas reales de la base de datos.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3000" y="7162800"/>
            <a:ext cx="6858000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 b="true">
                <a:solidFill>
                  <a:srgbClr val="94A3B8"/>
                </a:solidFill>
                <a:latin typeface="Inter Bold"/>
                <a:ea typeface="Inter Bold"/>
                <a:cs typeface="Inter Bold"/>
                <a:sym typeface="Inter Bold"/>
              </a:rPr>
              <a:t>Ventaja principal:</a:t>
            </a:r>
            <a:r>
              <a:rPr lang="en-US" sz="22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Nos evita tener que reescribir un JOIN complejo o un GROUP BY cada vez que necesitemos el reporte.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2857500"/>
            <a:ext cx="16573500" cy="2457450"/>
            <a:chOff x="0" y="0"/>
            <a:chExt cx="22098000" cy="32766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22098000" cy="3276600"/>
            </a:xfrm>
            <a:custGeom>
              <a:avLst/>
              <a:gdLst/>
              <a:ahLst/>
              <a:cxnLst/>
              <a:rect r="r" b="b" t="t" l="l"/>
              <a:pathLst>
                <a:path h="3276600" w="22098000">
                  <a:moveTo>
                    <a:pt x="0" y="0"/>
                  </a:moveTo>
                  <a:lnTo>
                    <a:pt x="22098000" y="0"/>
                  </a:lnTo>
                  <a:lnTo>
                    <a:pt x="22098000" y="3276600"/>
                  </a:lnTo>
                  <a:lnTo>
                    <a:pt x="0" y="3276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7250" y="2090738"/>
            <a:ext cx="9572625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25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Guardando nuestro reporte de inventario directamente en el servidor: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8725" y="3200400"/>
            <a:ext cx="18859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CREATE 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86725" y="3200400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01075" y="3200400"/>
            <a:ext cx="10287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SELECT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344275" y="3200400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8725" y="3629025"/>
            <a:ext cx="8572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61AFEF"/>
                </a:solidFill>
                <a:latin typeface="Fira Code"/>
                <a:ea typeface="Fira Code"/>
                <a:cs typeface="Fira Code"/>
                <a:sym typeface="Fira Code"/>
              </a:rPr>
              <a:t>COUNT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29175" y="3629025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86575" y="3629025"/>
            <a:ext cx="6858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FROM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01225" y="3629025"/>
            <a:ext cx="6858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JOIN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87325" y="3629025"/>
            <a:ext cx="3429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00475" y="4057650"/>
            <a:ext cx="13716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GROUP BY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8725" y="4057650"/>
            <a:ext cx="1508760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i="true">
                <a:solidFill>
                  <a:srgbClr val="5C6370"/>
                </a:solidFill>
                <a:latin typeface="Fira Code"/>
                <a:ea typeface="Fira Code"/>
                <a:cs typeface="Fira Code"/>
                <a:sym typeface="Fira Code"/>
              </a:rPr>
              <a:t>-- Para consultar el reporte en el futuro, simplemente ejecutamos: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286125" y="4486275"/>
            <a:ext cx="10287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SELECT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29175" y="4486275"/>
            <a:ext cx="68580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rPr>
              <a:t>FROM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250" y="838200"/>
            <a:ext cx="17402175" cy="77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F8FAFC"/>
                </a:solidFill>
                <a:latin typeface="Arimo"/>
                <a:ea typeface="Arimo"/>
                <a:cs typeface="Arimo"/>
                <a:sym typeface="Arimo"/>
              </a:rPr>
              <a:t>¿Cómo se crea un VIEW?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42912" y="2903782"/>
            <a:ext cx="17402175" cy="1166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F8FAFC"/>
                </a:solidFill>
                <a:latin typeface="Cinema Outfit"/>
                <a:ea typeface="Cinema Outfit"/>
                <a:cs typeface="Cinema Outfit"/>
                <a:sym typeface="Cinema Outfit"/>
              </a:rPr>
              <a:t>4. Reflexión y Cierre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250" y="4251569"/>
            <a:ext cx="16573500" cy="1201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8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Hemos pasado de simplemente almacenar datos a tener la capacidad de analizarlos y extraer reportes.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7250" y="5634333"/>
            <a:ext cx="16573500" cy="653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8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Asignación: Resolver el cuestionario práctico de SQL intermedio en UEDI.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7250" y="6992464"/>
            <a:ext cx="16573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true">
                <a:solidFill>
                  <a:srgbClr val="38BDF8"/>
                </a:solidFill>
                <a:latin typeface="Inter Medium"/>
                <a:ea typeface="Inter Medium"/>
                <a:cs typeface="Inter Medium"/>
                <a:sym typeface="Inter Medium"/>
              </a:rPr>
              <a:t>Cualquier duda técnica se canalizará exclusivamente por el Foro Oficial. | Auxiliar: Luis Vejo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796448" y="1621365"/>
            <a:ext cx="4437097" cy="39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3"/>
              </a:lnSpc>
            </a:pPr>
            <a:r>
              <a:rPr lang="en-US" sz="233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Hoja de Trabajo # 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78994" y="1763840"/>
            <a:ext cx="2205428" cy="8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13:30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78994" y="2555681"/>
            <a:ext cx="2205428" cy="8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13:50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04772" y="3347523"/>
            <a:ext cx="3154528" cy="8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20min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17293" y="2365613"/>
            <a:ext cx="4437097" cy="5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03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17293" y="3325197"/>
            <a:ext cx="4437097" cy="513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4"/>
              </a:lnSpc>
            </a:pPr>
            <a:r>
              <a:rPr lang="en-US" sz="303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5313559"/>
            <a:ext cx="6170724" cy="38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202401286 - Rene Casasola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Cristhian Giovanni Garcia Tumax 202300529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202100307-Josseline Marisol Ramírez Calderón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202308426 - Handery Isabel Cardona Almaraz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201602495 - José Emanuel Salazar Cano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201612281 - Julio Alfredo Cruz Gonzalez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Angie Paola Herrera Vargas Machuca - 202102606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Daniel Fernando Juarez Andrino 202004436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Santiago Benjamin Velásquez Chávez - 202502940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70724" y="5313559"/>
            <a:ext cx="6170724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elias abraham gonzalez solval 202307739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Tiffany Michelle Palacios Perez 202208685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202203909-Moises Alejandro Orozco Cárcamo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202307514 - Lilian Esther Jimenez Games</a:t>
            </a:r>
          </a:p>
          <a:p>
            <a:pPr algn="ctr">
              <a:lnSpc>
                <a:spcPts val="2798"/>
              </a:lnSpc>
            </a:pPr>
            <a:r>
              <a:rPr lang="en-US" sz="199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202110311- Wendy Karina Mijangos Morales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DAHT3sqXXlM</dc:identifier>
  <dcterms:modified xsi:type="dcterms:W3CDTF">2011-08-01T06:04:30Z</dcterms:modified>
  <cp:revision>1</cp:revision>
  <dc:title>Lab PDC1 Presentación 8 2S2026</dc:title>
</cp:coreProperties>
</file>