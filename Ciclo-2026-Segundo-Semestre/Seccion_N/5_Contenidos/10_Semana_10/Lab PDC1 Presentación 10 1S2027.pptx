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Open Sans Bold" charset="1" panose="00000000000000000000"/>
      <p:regular r:id="rId35"/>
    </p:embeddedFont>
    <p:embeddedFont>
      <p:font typeface="Open Sans" charset="1" panose="00000000000000000000"/>
      <p:regular r:id="rId36"/>
    </p:embeddedFont>
    <p:embeddedFont>
      <p:font typeface="Cinema Outfit" charset="1" panose="00000000000000000000"/>
      <p:regular r:id="rId37"/>
    </p:embeddedFont>
    <p:embeddedFont>
      <p:font typeface="Arimo" charset="1" panose="020B0604020202020204"/>
      <p:regular r:id="rId38"/>
    </p:embeddedFont>
    <p:embeddedFont>
      <p:font typeface="Cinema Outfit Italics" charset="1" panose="000000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31.png" Type="http://schemas.openxmlformats.org/officeDocument/2006/relationships/image"/><Relationship Id="rId5" Target="../media/image1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2" Target="../media/image2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2" Target="../media/image2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7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88.png" Type="http://schemas.openxmlformats.org/officeDocument/2006/relationships/image"/><Relationship Id="rId5" Target="../media/image89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92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13.png" Type="http://schemas.openxmlformats.org/officeDocument/2006/relationships/image"/><Relationship Id="rId8" Target="../media/image70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1" r="0" b="-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27112" y="6416164"/>
            <a:ext cx="6433785" cy="88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8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Luis Vejo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2952" y="3895715"/>
            <a:ext cx="10982096" cy="229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Programación de Computadoras 1 Sección N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60890" y="1922183"/>
          <a:ext cx="5410200" cy="161925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, 08/09/2026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9356406"/>
            <a:ext cx="6433785" cy="56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32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Iniciamos 12:25 pm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878806"/>
            <a:ext cx="16573500" cy="6529388"/>
            <a:chOff x="0" y="0"/>
            <a:chExt cx="22098000" cy="8705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8705850"/>
            </a:xfrm>
            <a:custGeom>
              <a:avLst/>
              <a:gdLst/>
              <a:ahLst/>
              <a:cxnLst/>
              <a:rect r="r" b="b" t="t" l="l"/>
              <a:pathLst>
                <a:path h="87058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8705850"/>
                  </a:lnTo>
                  <a:lnTo>
                    <a:pt x="0" y="870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9" r="0" b="-10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28800" y="2812256"/>
            <a:ext cx="15481935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78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Introducción a programación en </a:t>
            </a:r>
          </a:p>
          <a:p>
            <a:pPr algn="l">
              <a:lnSpc>
                <a:spcPts val="8662"/>
              </a:lnSpc>
            </a:pPr>
            <a:r>
              <a:rPr lang="en-US" sz="7875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Visual Basic App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1650" y="7469981"/>
            <a:ext cx="14744700" cy="52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Aux Luis Vejo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6050756"/>
            <a:ext cx="14744700" cy="52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925">
                <a:solidFill>
                  <a:srgbClr val="94A3B8"/>
                </a:solidFill>
                <a:latin typeface="Cinema Outfit"/>
                <a:ea typeface="Cinema Outfit"/>
                <a:cs typeface="Cinema Outfit"/>
                <a:sym typeface="Cinema Outfit"/>
              </a:rPr>
              <a:t>Laboratorio de Programación de Computadoras 1 Sección 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6841331"/>
            <a:ext cx="147447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Clase 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07531"/>
            <a:ext cx="7929562" cy="5400675"/>
            <a:chOff x="0" y="0"/>
            <a:chExt cx="10572750" cy="7200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" r="0" b="-1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107531"/>
            <a:ext cx="7929562" cy="5400675"/>
            <a:chOff x="0" y="0"/>
            <a:chExt cx="10572750" cy="7200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0" b="-13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3693319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Gestión del Laboratorio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6975" y="3693319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Contenido Académico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3100" y="4345781"/>
            <a:ext cx="6257925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52" indent="-267176" lvl="1">
              <a:lnSpc>
                <a:spcPts val="3712"/>
              </a:lnSpc>
              <a:buAutoNum type="arabicPeriod" startAt="1"/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Dudas Clase 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2018" y="5047774"/>
            <a:ext cx="6257925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52" indent="-267176" lvl="1">
              <a:lnSpc>
                <a:spcPts val="3712"/>
              </a:lnSpc>
              <a:buAutoNum type="arabicPeriod" startAt="1"/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Foro de la Semana: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 Dudas y Comunidad.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100" y="5959316"/>
            <a:ext cx="6257925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52" indent="-267176" lvl="1">
              <a:lnSpc>
                <a:spcPts val="3712"/>
              </a:lnSpc>
              <a:buAutoNum type="arabicPeriod" startAt="1"/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Valores: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 El Saber Ser.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3100" y="6617494"/>
            <a:ext cx="6257925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52" indent="-267176" lvl="1">
              <a:lnSpc>
                <a:spcPts val="3712"/>
              </a:lnSpc>
              <a:buAutoNum type="arabicPeriod" startAt="1"/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Competencias: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 Objetivos de la sesión.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87038" y="4345781"/>
            <a:ext cx="6257925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5. Video de la Semana: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Intro a VBA.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87038" y="5103019"/>
            <a:ext cx="625792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6. Tema de Hoy: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 Fundamentos de Programación.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87038" y="6331744"/>
            <a:ext cx="6257925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7. Ejemplo Práctico: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VBA en acción.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87038" y="7088981"/>
            <a:ext cx="6257925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8. Actividad: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Cuestionarios Formativos.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43038" y="4486275"/>
            <a:ext cx="285750" cy="300038"/>
            <a:chOff x="0" y="0"/>
            <a:chExt cx="381000" cy="4000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3038" y="5243512"/>
            <a:ext cx="357188" cy="300038"/>
            <a:chOff x="0" y="0"/>
            <a:chExt cx="476250" cy="4000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7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43038" y="6000750"/>
            <a:ext cx="328612" cy="300038"/>
            <a:chOff x="0" y="0"/>
            <a:chExt cx="438150" cy="4000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43038" y="6757988"/>
            <a:ext cx="285750" cy="300038"/>
            <a:chOff x="0" y="0"/>
            <a:chExt cx="381000" cy="4000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86975" y="4486275"/>
            <a:ext cx="328612" cy="300038"/>
            <a:chOff x="0" y="0"/>
            <a:chExt cx="438150" cy="4000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86975" y="5243512"/>
            <a:ext cx="357188" cy="300038"/>
            <a:chOff x="0" y="0"/>
            <a:chExt cx="476250" cy="4000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7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86975" y="6472238"/>
            <a:ext cx="328612" cy="300038"/>
            <a:chOff x="0" y="0"/>
            <a:chExt cx="438150" cy="4000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86975" y="7229475"/>
            <a:ext cx="328612" cy="300038"/>
            <a:chOff x="0" y="0"/>
            <a:chExt cx="438150" cy="4000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Agenda de la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871788"/>
            <a:ext cx="5238826" cy="5872162"/>
            <a:chOff x="0" y="0"/>
            <a:chExt cx="6985102" cy="78295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7829550"/>
            </a:xfrm>
            <a:custGeom>
              <a:avLst/>
              <a:gdLst/>
              <a:ahLst/>
              <a:cxnLst/>
              <a:rect r="r" b="b" t="t" l="l"/>
              <a:pathLst>
                <a:path h="78295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829550"/>
                  </a:lnTo>
                  <a:lnTo>
                    <a:pt x="0" y="782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4701" y="2871788"/>
            <a:ext cx="5238826" cy="5872162"/>
            <a:chOff x="0" y="0"/>
            <a:chExt cx="6985102" cy="78295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7829550"/>
            </a:xfrm>
            <a:custGeom>
              <a:avLst/>
              <a:gdLst/>
              <a:ahLst/>
              <a:cxnLst/>
              <a:rect r="r" b="b" t="t" l="l"/>
              <a:pathLst>
                <a:path h="78295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829550"/>
                  </a:lnTo>
                  <a:lnTo>
                    <a:pt x="0" y="782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" t="0" r="-18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152" y="2871788"/>
            <a:ext cx="5238826" cy="5872162"/>
            <a:chOff x="0" y="0"/>
            <a:chExt cx="6985102" cy="78295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7829550"/>
            </a:xfrm>
            <a:custGeom>
              <a:avLst/>
              <a:gdLst/>
              <a:ahLst/>
              <a:cxnLst/>
              <a:rect r="r" b="b" t="t" l="l"/>
              <a:pathLst>
                <a:path h="78295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829550"/>
                  </a:lnTo>
                  <a:lnTo>
                    <a:pt x="0" y="782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" t="0" r="-18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4429125"/>
            <a:ext cx="44206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Responsabilidad y Honestidad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5581650"/>
            <a:ext cx="421012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Cumplir con tareas y tiempos. Realizar trabajos propios sin copiar, manteniendo la integridad académica.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9051" y="4429125"/>
            <a:ext cx="259532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Colaboración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39051" y="5081588"/>
            <a:ext cx="421012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Trabajar en equipo, aportar ideas de forma constructiva y ayudar a otros compañeros en su aprendizaje.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06502" y="4429125"/>
            <a:ext cx="44206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Disciplina y Creatividad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06502" y="5581650"/>
            <a:ext cx="4210126" cy="24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Usar herramientas correctamente y buscar soluciones originales y prácticas a problemas planteados.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1600" y="3457575"/>
            <a:ext cx="757238" cy="600075"/>
            <a:chOff x="0" y="0"/>
            <a:chExt cx="1009650" cy="8001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09650" cy="800100"/>
            </a:xfrm>
            <a:custGeom>
              <a:avLst/>
              <a:gdLst/>
              <a:ahLst/>
              <a:cxnLst/>
              <a:rect r="r" b="b" t="t" l="l"/>
              <a:pathLst>
                <a:path h="800100" w="1009650">
                  <a:moveTo>
                    <a:pt x="0" y="0"/>
                  </a:moveTo>
                  <a:lnTo>
                    <a:pt x="1009650" y="0"/>
                  </a:lnTo>
                  <a:lnTo>
                    <a:pt x="10096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39051" y="3457575"/>
            <a:ext cx="757238" cy="600075"/>
            <a:chOff x="0" y="0"/>
            <a:chExt cx="1009650" cy="8001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009650" cy="800100"/>
            </a:xfrm>
            <a:custGeom>
              <a:avLst/>
              <a:gdLst/>
              <a:ahLst/>
              <a:cxnLst/>
              <a:rect r="r" b="b" t="t" l="l"/>
              <a:pathLst>
                <a:path h="800100" w="1009650">
                  <a:moveTo>
                    <a:pt x="0" y="0"/>
                  </a:moveTo>
                  <a:lnTo>
                    <a:pt x="1009650" y="0"/>
                  </a:lnTo>
                  <a:lnTo>
                    <a:pt x="10096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43" t="0" r="-94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06502" y="3457575"/>
            <a:ext cx="457200" cy="600075"/>
            <a:chOff x="0" y="0"/>
            <a:chExt cx="609600" cy="8001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0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562" t="0" r="-1562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Valores de la Semana (Saber ser)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950369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874169"/>
            <a:ext cx="7929562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Al finalizar esta unidad, ustedes podrán: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312" y="3559969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Crear soluciones digitales: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Utilizando programación visual para automatización.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312" y="4788694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Aplicar conceptos: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Desarrollar pensamiento lógico y computacional mediante código.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312" y="6017419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Diseñar macros: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Implementar funciones y ciclos condicionales en VBA.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15475" y="2964656"/>
            <a:ext cx="7900988" cy="5686425"/>
            <a:chOff x="0" y="0"/>
            <a:chExt cx="10534650" cy="7581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" r="0" b="-19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3700462"/>
            <a:ext cx="257175" cy="300038"/>
            <a:chOff x="0" y="0"/>
            <a:chExt cx="342900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929188"/>
            <a:ext cx="257175" cy="300038"/>
            <a:chOff x="0" y="0"/>
            <a:chExt cx="34290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6157912"/>
            <a:ext cx="257175" cy="300038"/>
            <a:chOff x="0" y="0"/>
            <a:chExt cx="342900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Competencias de la Sesión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73653" y="3571875"/>
            <a:ext cx="7929562" cy="5157788"/>
            <a:chOff x="0" y="0"/>
            <a:chExt cx="10572750" cy="6877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77050"/>
                  </a:lnTo>
                  <a:lnTo>
                    <a:pt x="0" y="6877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659441" y="4157662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Rúbricas de Evaluación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9441" y="4810125"/>
            <a:ext cx="6757988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Cada actividad cuenta con una rúbrica específica detallada. Es su responsabilidad leerla antes de iniciar sus entregables para asegurar el nivel de desempeño.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68991" y="6910388"/>
            <a:ext cx="654843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EF4444"/>
                </a:solidFill>
                <a:latin typeface="Cinema Outfit"/>
                <a:ea typeface="Cinema Outfit"/>
                <a:cs typeface="Cinema Outfit"/>
                <a:sym typeface="Cinema Outfit"/>
              </a:rPr>
              <a:t>Cero Tolerancia al Plagio: Las copias serán sancionadas con 0.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02278" y="7093744"/>
            <a:ext cx="314325" cy="314325"/>
            <a:chOff x="0" y="0"/>
            <a:chExt cx="419100" cy="4191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218958" y="881062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Hoja de Calificación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950369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950369"/>
            <a:ext cx="8326041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Participación y Comunidad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3602831"/>
            <a:ext cx="7929562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El foro de la Unidad 9 ya está habilitado en UEDI.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312" y="4288631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Utilicen este espacio para debatir sobre la programación orientada a eventos.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312" y="5517356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Si un ciclo                            se les queda infinito o un condicional falla, este es el lugar para pedir ayuda.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15475" y="2964656"/>
            <a:ext cx="7900988" cy="5686425"/>
            <a:chOff x="0" y="0"/>
            <a:chExt cx="10534650" cy="7581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" r="0" b="-19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93256" y="5536406"/>
            <a:ext cx="1628775" cy="457200"/>
            <a:chOff x="0" y="0"/>
            <a:chExt cx="21717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1717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2" r="0" b="-15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429125"/>
            <a:ext cx="357188" cy="300038"/>
            <a:chOff x="0" y="0"/>
            <a:chExt cx="47625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7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5657850"/>
            <a:ext cx="285750" cy="300038"/>
            <a:chOff x="0" y="0"/>
            <a:chExt cx="381000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Foro de la Semana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486150"/>
            <a:ext cx="16573500" cy="4643438"/>
            <a:chOff x="0" y="0"/>
            <a:chExt cx="22098000" cy="61912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6191250"/>
            </a:xfrm>
            <a:custGeom>
              <a:avLst/>
              <a:gdLst/>
              <a:ahLst/>
              <a:cxnLst/>
              <a:rect r="r" b="b" t="t" l="l"/>
              <a:pathLst>
                <a:path h="6191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6191250"/>
                  </a:lnTo>
                  <a:lnTo>
                    <a:pt x="0" y="619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88556" y="5729288"/>
            <a:ext cx="7110889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Introducción a Macros y VBA en Excel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1600" y="6381750"/>
            <a:ext cx="15544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Revisa el material audiovisual introductorio disponible en tu plataforma virtual antes de continuar con los ejercicios de esta sesión.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72500" y="4143375"/>
            <a:ext cx="1143000" cy="1143000"/>
            <a:chOff x="0" y="0"/>
            <a:chExt cx="1524000" cy="1524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Video de la Semana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72438" y="3914775"/>
            <a:ext cx="2143125" cy="57150"/>
            <a:chOff x="0" y="0"/>
            <a:chExt cx="28575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7500" cy="76200"/>
            </a:xfrm>
            <a:custGeom>
              <a:avLst/>
              <a:gdLst/>
              <a:ahLst/>
              <a:cxnLst/>
              <a:rect r="r" b="b" t="t" l="l"/>
              <a:pathLst>
                <a:path h="762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28473" y="4400550"/>
            <a:ext cx="8431054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El Mundo de </a:t>
            </a:r>
            <a:r>
              <a:rPr lang="en-US" sz="810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VBA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3531" y="5891212"/>
            <a:ext cx="750093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De Macros grabadas a Programación Real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950369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874169"/>
            <a:ext cx="7929562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VBA (Visual Basic for Applications)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es el lenguaje de programación impulsado por eventos desarrollado por Microsoft para sus aplicaciones de Office.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312" y="5269473"/>
            <a:ext cx="7429500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Deriva de un lenguaje clásico llamado BASIC, por lo que su sintaxis es muy amigable y legible (se lee casi como inglés).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312" y="7160419"/>
            <a:ext cx="7429500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Viene preinstalado y oculto dentro de Excel, Access, Word y PowerPoint. No requiere instalar software adicional.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15475" y="2964656"/>
            <a:ext cx="7900988" cy="5686425"/>
            <a:chOff x="0" y="0"/>
            <a:chExt cx="10534650" cy="75819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" r="0" b="-19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0106" y="5698331"/>
            <a:ext cx="357188" cy="300038"/>
            <a:chOff x="0" y="0"/>
            <a:chExt cx="476250" cy="4000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7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0106" y="7793831"/>
            <a:ext cx="357188" cy="300038"/>
            <a:chOff x="0" y="0"/>
            <a:chExt cx="476250" cy="4000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7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¿Qué es Visual Basic Application?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28975"/>
            <a:ext cx="7929562" cy="5157788"/>
            <a:chOff x="0" y="0"/>
            <a:chExt cx="10572750" cy="6877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77050"/>
                  </a:lnTo>
                  <a:lnTo>
                    <a:pt x="0" y="6877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228975"/>
            <a:ext cx="7929562" cy="5157788"/>
            <a:chOff x="0" y="0"/>
            <a:chExt cx="10572750" cy="6877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77050"/>
                  </a:lnTo>
                  <a:lnTo>
                    <a:pt x="0" y="6877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3814762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La Grabadora de Macros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4467225"/>
            <a:ext cx="6757988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Traduce literalmente tus clics del mouse a código. Es útil para cosas rápidas, pero el código generado es "rígido".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38" y="6096000"/>
            <a:ext cx="6757988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Si grabas borrar la celda          , la macro siempre borrará esa celda exacta, perdiendo flexibilidad ante datos dinámicos.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6975" y="3814762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Programar en VBA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86975" y="4467225"/>
            <a:ext cx="6757988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Te permite tomar el control absoluto. Al escribir tú el código, puedes agregar "inteligencia": ciclos, toma de decisiones (If/Else) y adaptabilidad completa.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6975" y="6567488"/>
            <a:ext cx="675798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Tus automatizaciones se adaptan al contexto de los datos.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607844" y="6200775"/>
            <a:ext cx="600075" cy="457200"/>
            <a:chOff x="0" y="0"/>
            <a:chExt cx="800100" cy="609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800100" cy="609600"/>
            </a:xfrm>
            <a:custGeom>
              <a:avLst/>
              <a:gdLst/>
              <a:ahLst/>
              <a:cxnLst/>
              <a:rect r="r" b="b" t="t" l="l"/>
              <a:pathLst>
                <a:path h="6096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57250" y="838200"/>
            <a:ext cx="813804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Grabadora de Macros vs. VBA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21819"/>
            <a:ext cx="5238826" cy="5372100"/>
            <a:chOff x="0" y="0"/>
            <a:chExt cx="6985102" cy="7162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7162800"/>
            </a:xfrm>
            <a:custGeom>
              <a:avLst/>
              <a:gdLst/>
              <a:ahLst/>
              <a:cxnLst/>
              <a:rect r="r" b="b" t="t" l="l"/>
              <a:pathLst>
                <a:path h="716280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" r="0" b="-8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4701" y="3121819"/>
            <a:ext cx="5238826" cy="5372100"/>
            <a:chOff x="0" y="0"/>
            <a:chExt cx="6985102" cy="7162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7162800"/>
            </a:xfrm>
            <a:custGeom>
              <a:avLst/>
              <a:gdLst/>
              <a:ahLst/>
              <a:cxnLst/>
              <a:rect r="r" b="b" t="t" l="l"/>
              <a:pathLst>
                <a:path h="716280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" t="0" r="-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152" y="3121819"/>
            <a:ext cx="5238826" cy="5372100"/>
            <a:chOff x="0" y="0"/>
            <a:chExt cx="6985102" cy="7162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7162800"/>
            </a:xfrm>
            <a:custGeom>
              <a:avLst/>
              <a:gdLst/>
              <a:ahLst/>
              <a:cxnLst/>
              <a:rect r="r" b="b" t="t" l="l"/>
              <a:pathLst>
                <a:path h="716280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7" t="0" r="-4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4679156"/>
            <a:ext cx="3045381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Automatización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5331619"/>
            <a:ext cx="4210126" cy="24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Tareas repetitivas (ej. limpiar reportes de 10,000 filas diarios) se reducen a un solo clic, eliminando el error humano.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9051" y="4679156"/>
            <a:ext cx="3405426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Formularios (GUI)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39051" y="5331619"/>
            <a:ext cx="4210126" cy="24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Creación de interfaces gráficas (UserForms) para que los usuarios ingresen datos de forma segura sin desconfigurar la hoja.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06502" y="4679156"/>
            <a:ext cx="2205276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Integración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06502" y="5331619"/>
            <a:ext cx="4210126" cy="24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Permite conectar Excel con Access, bases de datos SQL Server, o incluso enviar correos automatizados en Outlook.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1600" y="3707606"/>
            <a:ext cx="757238" cy="600075"/>
            <a:chOff x="0" y="0"/>
            <a:chExt cx="1009650" cy="8001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09650" cy="800100"/>
            </a:xfrm>
            <a:custGeom>
              <a:avLst/>
              <a:gdLst/>
              <a:ahLst/>
              <a:cxnLst/>
              <a:rect r="r" b="b" t="t" l="l"/>
              <a:pathLst>
                <a:path h="800100" w="1009650">
                  <a:moveTo>
                    <a:pt x="0" y="0"/>
                  </a:moveTo>
                  <a:lnTo>
                    <a:pt x="1009650" y="0"/>
                  </a:lnTo>
                  <a:lnTo>
                    <a:pt x="10096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90" r="0" b="-119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39051" y="3707606"/>
            <a:ext cx="600075" cy="600075"/>
            <a:chOff x="0" y="0"/>
            <a:chExt cx="800100" cy="8001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06502" y="3707606"/>
            <a:ext cx="457200" cy="600075"/>
            <a:chOff x="0" y="0"/>
            <a:chExt cx="609600" cy="8001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0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62" t="0" r="-364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57250" y="838200"/>
            <a:ext cx="67710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¿Para qué usamos VBA?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950369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874169"/>
            <a:ext cx="7929562" cy="10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Presionando                              abrimos el Editor de Visual Basic: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162359" y="2950369"/>
            <a:ext cx="1800225" cy="457200"/>
            <a:chOff x="0" y="0"/>
            <a:chExt cx="2400300" cy="6096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24003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57312" y="4031456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Explorador de Proyectos: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El panel izquierdo donde viven tus Hojas y Módulos.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312" y="5260181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Ventana de Propiedades: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Donde configuras atributos estáticos (nombres, colores).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312" y="6488906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El Módulo: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El lienzo blanco donde escribiremos nuestro código estructurado.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5475" y="2964656"/>
            <a:ext cx="7900988" cy="5686425"/>
            <a:chOff x="0" y="0"/>
            <a:chExt cx="10534650" cy="75819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95" r="0" b="-19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171950"/>
            <a:ext cx="328612" cy="300038"/>
            <a:chOff x="0" y="0"/>
            <a:chExt cx="43815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5400675"/>
            <a:ext cx="285750" cy="300038"/>
            <a:chOff x="0" y="0"/>
            <a:chExt cx="381000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6629400"/>
            <a:ext cx="214312" cy="300038"/>
            <a:chOff x="0" y="0"/>
            <a:chExt cx="285750" cy="4000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85750" cy="400050"/>
            </a:xfrm>
            <a:custGeom>
              <a:avLst/>
              <a:gdLst/>
              <a:ahLst/>
              <a:cxnLst/>
              <a:rect r="r" b="b" t="t" l="l"/>
              <a:pathLst>
                <a:path h="4000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838200"/>
            <a:ext cx="810434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El Entorno de Desarrollo (IDE)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2756297"/>
            <a:ext cx="7929562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Una variable es un espacio reservado en la memoria RAM (una "caja") que usamos para guardar datos temporales mientras nuestro código se ejecuta.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954667"/>
            <a:ext cx="7929562" cy="10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Para crearla, usamos la palabra clave                    (Dimensionar).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6546056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Es importante asignar un tipo de dato que corresponda al valor que la variable va a almacenar.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8384" y="5030867"/>
            <a:ext cx="771525" cy="457200"/>
            <a:chOff x="0" y="0"/>
            <a:chExt cx="1028700" cy="6096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287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57250" y="838200"/>
            <a:ext cx="770429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Variables: Declaración y Uso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58338" y="3251825"/>
            <a:ext cx="6173057" cy="3558083"/>
            <a:chOff x="0" y="0"/>
            <a:chExt cx="8230743" cy="47441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30743" cy="4744085"/>
            </a:xfrm>
            <a:custGeom>
              <a:avLst/>
              <a:gdLst/>
              <a:ahLst/>
              <a:cxnLst/>
              <a:rect r="r" b="b" t="t" l="l"/>
              <a:pathLst>
                <a:path h="4744085" w="8230743">
                  <a:moveTo>
                    <a:pt x="0" y="0"/>
                  </a:moveTo>
                  <a:lnTo>
                    <a:pt x="8230743" y="0"/>
                  </a:lnTo>
                  <a:lnTo>
                    <a:pt x="8230743" y="4744085"/>
                  </a:lnTo>
                  <a:lnTo>
                    <a:pt x="0" y="4744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403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28962"/>
            <a:ext cx="5238826" cy="5357812"/>
            <a:chOff x="0" y="0"/>
            <a:chExt cx="6985102" cy="7143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7143750"/>
            </a:xfrm>
            <a:custGeom>
              <a:avLst/>
              <a:gdLst/>
              <a:ahLst/>
              <a:cxnLst/>
              <a:rect r="r" b="b" t="t" l="l"/>
              <a:pathLst>
                <a:path h="7143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143750"/>
                  </a:lnTo>
                  <a:lnTo>
                    <a:pt x="0" y="714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4701" y="3128962"/>
            <a:ext cx="5238826" cy="5357812"/>
            <a:chOff x="0" y="0"/>
            <a:chExt cx="6985102" cy="7143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7143750"/>
            </a:xfrm>
            <a:custGeom>
              <a:avLst/>
              <a:gdLst/>
              <a:ahLst/>
              <a:cxnLst/>
              <a:rect r="r" b="b" t="t" l="l"/>
              <a:pathLst>
                <a:path h="7143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143750"/>
                  </a:lnTo>
                  <a:lnTo>
                    <a:pt x="0" y="714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" t="0" r="-18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152" y="3128962"/>
            <a:ext cx="5238826" cy="5357812"/>
            <a:chOff x="0" y="0"/>
            <a:chExt cx="6985102" cy="7143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7143750"/>
            </a:xfrm>
            <a:custGeom>
              <a:avLst/>
              <a:gdLst/>
              <a:ahLst/>
              <a:cxnLst/>
              <a:rect r="r" b="b" t="t" l="l"/>
              <a:pathLst>
                <a:path h="7143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7143750"/>
                  </a:lnTo>
                  <a:lnTo>
                    <a:pt x="0" y="714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" t="0" r="-18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4686300"/>
            <a:ext cx="168994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Numéricos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39051" y="4686300"/>
            <a:ext cx="223688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Texto y Lógica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06502" y="4686300"/>
            <a:ext cx="12510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Objetos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71600" y="3714750"/>
            <a:ext cx="528638" cy="600075"/>
            <a:chOff x="0" y="0"/>
            <a:chExt cx="704850" cy="8001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704850" cy="800100"/>
            </a:xfrm>
            <a:custGeom>
              <a:avLst/>
              <a:gdLst/>
              <a:ahLst/>
              <a:cxnLst/>
              <a:rect r="r" b="b" t="t" l="l"/>
              <a:pathLst>
                <a:path h="800100" w="704850">
                  <a:moveTo>
                    <a:pt x="0" y="0"/>
                  </a:moveTo>
                  <a:lnTo>
                    <a:pt x="704850" y="0"/>
                  </a:lnTo>
                  <a:lnTo>
                    <a:pt x="7048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843088" y="5643562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8753" y="5729288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  : Enteros.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3088" y="6186488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24088" y="6231732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: Enteros grandes.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3088" y="7200900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24088" y="7143750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: Decimales.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039051" y="3714750"/>
            <a:ext cx="528638" cy="600075"/>
            <a:chOff x="0" y="0"/>
            <a:chExt cx="704850" cy="800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04850" cy="800100"/>
            </a:xfrm>
            <a:custGeom>
              <a:avLst/>
              <a:gdLst/>
              <a:ahLst/>
              <a:cxnLst/>
              <a:rect r="r" b="b" t="t" l="l"/>
              <a:pathLst>
                <a:path h="800100" w="704850">
                  <a:moveTo>
                    <a:pt x="0" y="0"/>
                  </a:moveTo>
                  <a:lnTo>
                    <a:pt x="704850" y="0"/>
                  </a:lnTo>
                  <a:lnTo>
                    <a:pt x="7048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51" t="0" r="-1351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510539" y="5643562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1539" y="5586412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: Cadenas de texto.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0539" y="6657975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91539" y="6600825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 : True/False.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0539" y="7200900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91539" y="7143750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: Fechas/Tiempo.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706502" y="3714750"/>
            <a:ext cx="600075" cy="600075"/>
            <a:chOff x="0" y="0"/>
            <a:chExt cx="800100" cy="800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90" t="0" r="-119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177990" y="5643562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58990" y="5586412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     : Ref. a hoja.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77990" y="6657975"/>
            <a:ext cx="100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•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58990" y="6600825"/>
            <a:ext cx="335763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: Rango/Celda.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157412" y="5657850"/>
            <a:ext cx="1457325" cy="457200"/>
            <a:chOff x="0" y="0"/>
            <a:chExt cx="1943100" cy="6096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1943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43100">
                  <a:moveTo>
                    <a:pt x="0" y="0"/>
                  </a:moveTo>
                  <a:lnTo>
                    <a:pt x="1943100" y="0"/>
                  </a:lnTo>
                  <a:lnTo>
                    <a:pt x="19431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157412" y="6200775"/>
            <a:ext cx="942975" cy="457200"/>
            <a:chOff x="0" y="0"/>
            <a:chExt cx="1257300" cy="6096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12573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157412" y="7112793"/>
            <a:ext cx="1285875" cy="457200"/>
            <a:chOff x="0" y="0"/>
            <a:chExt cx="1714500" cy="6096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17145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53414" y="5579269"/>
            <a:ext cx="1285875" cy="457200"/>
            <a:chOff x="0" y="0"/>
            <a:chExt cx="1714500" cy="6096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17145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55" t="0" r="-555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686789" y="6550819"/>
            <a:ext cx="1457325" cy="457200"/>
            <a:chOff x="0" y="0"/>
            <a:chExt cx="1943100" cy="6096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1943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43100">
                  <a:moveTo>
                    <a:pt x="0" y="0"/>
                  </a:moveTo>
                  <a:lnTo>
                    <a:pt x="1943100" y="0"/>
                  </a:lnTo>
                  <a:lnTo>
                    <a:pt x="19431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490" t="0" r="-49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686789" y="7112793"/>
            <a:ext cx="942975" cy="457200"/>
            <a:chOff x="0" y="0"/>
            <a:chExt cx="1257300" cy="6096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12573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757" t="0" r="-757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332027" y="5557838"/>
            <a:ext cx="1800225" cy="457200"/>
            <a:chOff x="0" y="0"/>
            <a:chExt cx="2400300" cy="6096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4003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96" t="0" r="-396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354202" y="6596062"/>
            <a:ext cx="1114425" cy="457200"/>
            <a:chOff x="0" y="0"/>
            <a:chExt cx="1485900" cy="6096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14859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641" t="0" r="-641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857250" y="838200"/>
            <a:ext cx="623756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Tipos de Datos en VBA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697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286665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Por defecto, VBA permite usar variables sin haberlas declarado previamente. ¡Esto es un peligro gigante!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917281"/>
            <a:ext cx="7929562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Si escribes sueldo y por error de tipeo escribes seldo, VBA creará dos variables distintas y tus cálculos matemáticos fallarán silenciosamente.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7003256"/>
            <a:ext cx="7929562" cy="10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Regla de Oro: Siempre escribir                                              en la primera línea.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784467" y="7079456"/>
            <a:ext cx="2828925" cy="457200"/>
            <a:chOff x="0" y="0"/>
            <a:chExt cx="3771900" cy="6096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3771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Buenas Prácticas: Option Explicit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58338" y="3192904"/>
            <a:ext cx="7501985" cy="5015617"/>
            <a:chOff x="0" y="0"/>
            <a:chExt cx="10002647" cy="6687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02647" cy="6687439"/>
            </a:xfrm>
            <a:custGeom>
              <a:avLst/>
              <a:gdLst/>
              <a:ahLst/>
              <a:cxnLst/>
              <a:rect r="r" b="b" t="t" l="l"/>
              <a:pathLst>
                <a:path h="6687439" w="10002647">
                  <a:moveTo>
                    <a:pt x="0" y="0"/>
                  </a:moveTo>
                  <a:lnTo>
                    <a:pt x="10002647" y="0"/>
                  </a:lnTo>
                  <a:lnTo>
                    <a:pt x="10002647" y="6687439"/>
                  </a:lnTo>
                  <a:lnTo>
                    <a:pt x="0" y="6687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50406"/>
            <a:ext cx="7929562" cy="5114925"/>
            <a:chOff x="0" y="0"/>
            <a:chExt cx="10572750" cy="6819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6819900"/>
            </a:xfrm>
            <a:custGeom>
              <a:avLst/>
              <a:gdLst/>
              <a:ahLst/>
              <a:cxnLst/>
              <a:rect r="r" b="b" t="t" l="l"/>
              <a:pathLst>
                <a:path h="68199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19900"/>
                  </a:lnTo>
                  <a:lnTo>
                    <a:pt x="0" y="681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9" r="0" b="-1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250406"/>
            <a:ext cx="7929562" cy="5114925"/>
            <a:chOff x="0" y="0"/>
            <a:chExt cx="10572750" cy="6819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6819900"/>
            </a:xfrm>
            <a:custGeom>
              <a:avLst/>
              <a:gdLst/>
              <a:ahLst/>
              <a:cxnLst/>
              <a:rect r="r" b="b" t="t" l="l"/>
              <a:pathLst>
                <a:path h="68199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19900"/>
                  </a:lnTo>
                  <a:lnTo>
                    <a:pt x="0" y="681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9" r="0" b="-13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3836194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Fundamento Computacional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4488656"/>
            <a:ext cx="6757988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Es la matemática binaria detrás de la toma de decisiones. Todo enunciado se evalúa para saber si es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Verdadero (True)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o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Falso (False)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38" y="6603206"/>
            <a:ext cx="6757988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i="true">
                <a:solidFill>
                  <a:srgbClr val="CBD5E1"/>
                </a:solidFill>
                <a:latin typeface="Cinema Outfit Italics"/>
                <a:ea typeface="Cinema Outfit Italics"/>
                <a:cs typeface="Cinema Outfit Italics"/>
                <a:sym typeface="Cinema Outfit Italics"/>
              </a:rPr>
              <a:t>Ejemplo: ¿La celda A1 está vacía?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6975" y="3836194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Operadores Lógicos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87038" y="4488656"/>
            <a:ext cx="6257925" cy="5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: Todas las condiciones deben cumplirse.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87038" y="5717381"/>
            <a:ext cx="6257925" cy="5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: Basta con que una se cumpla.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87038" y="6474619"/>
            <a:ext cx="6257925" cy="5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: Invierte la realidad (Verdadero a Falso).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87038" y="4471988"/>
            <a:ext cx="771525" cy="457200"/>
            <a:chOff x="0" y="0"/>
            <a:chExt cx="1028700" cy="6096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0287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2" r="0" b="-156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72762" y="5750719"/>
            <a:ext cx="600075" cy="457200"/>
            <a:chOff x="0" y="0"/>
            <a:chExt cx="800100" cy="6096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800100" cy="609600"/>
            </a:xfrm>
            <a:custGeom>
              <a:avLst/>
              <a:gdLst/>
              <a:ahLst/>
              <a:cxnLst/>
              <a:rect r="r" b="b" t="t" l="l"/>
              <a:pathLst>
                <a:path h="6096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72762" y="6536531"/>
            <a:ext cx="771525" cy="457200"/>
            <a:chOff x="0" y="0"/>
            <a:chExt cx="1028700" cy="6096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0287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62" r="0" b="-156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86975" y="4629150"/>
            <a:ext cx="257175" cy="300038"/>
            <a:chOff x="0" y="0"/>
            <a:chExt cx="342900" cy="4000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86975" y="5857875"/>
            <a:ext cx="257175" cy="300038"/>
            <a:chOff x="0" y="0"/>
            <a:chExt cx="342900" cy="4000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86975" y="6615112"/>
            <a:ext cx="328612" cy="300038"/>
            <a:chOff x="0" y="0"/>
            <a:chExt cx="438150" cy="4000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57250" y="838200"/>
            <a:ext cx="800647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¿Cuál es la Lógica Booleana?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950369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874169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Las estructuras de control rompen el flujo lineal (arriba hacia abajo) del programa.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4031456"/>
            <a:ext cx="7929562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Los Condicionales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le dan "inteligencia" al script, permitiéndole elegir qué bloque de código ejecutar basándose en los resultados de la lógica booleana.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6149338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Dependiendo de si una condición es verdadera (True) o falsa (False), el camino se bifurca.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15475" y="2964656"/>
            <a:ext cx="7900988" cy="5686425"/>
            <a:chOff x="0" y="0"/>
            <a:chExt cx="10534650" cy="75819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" r="0" b="-19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Condicionales (If/Else)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310385"/>
            <a:ext cx="7929562" cy="5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Permite evaluar una o varias condiciones secuenciales.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312" y="4467225"/>
            <a:ext cx="7429500" cy="5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: Inicia la evaluación principal.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7312" y="5224462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: Permite agregar condiciones alternativas si la primera falló.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312" y="6453188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: El camino por defecto si absolutamente nada más se cumplió.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7312" y="4557712"/>
            <a:ext cx="600075" cy="457200"/>
            <a:chOff x="0" y="0"/>
            <a:chExt cx="80010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00100" cy="609600"/>
            </a:xfrm>
            <a:custGeom>
              <a:avLst/>
              <a:gdLst/>
              <a:ahLst/>
              <a:cxnLst/>
              <a:rect r="r" b="b" t="t" l="l"/>
              <a:pathLst>
                <a:path h="6096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3534" y="5286375"/>
            <a:ext cx="1285875" cy="457200"/>
            <a:chOff x="0" y="0"/>
            <a:chExt cx="17145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7145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5900" y="6515100"/>
            <a:ext cx="942975" cy="457200"/>
            <a:chOff x="0" y="0"/>
            <a:chExt cx="12573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2573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607719"/>
            <a:ext cx="257175" cy="300038"/>
            <a:chOff x="0" y="0"/>
            <a:chExt cx="34290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5364956"/>
            <a:ext cx="257175" cy="300038"/>
            <a:chOff x="0" y="0"/>
            <a:chExt cx="342900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6593681"/>
            <a:ext cx="257175" cy="300038"/>
            <a:chOff x="0" y="0"/>
            <a:chExt cx="342900" cy="4000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Estructura: IF...THEN...ELSE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367458" y="3622329"/>
            <a:ext cx="7230485" cy="4972745"/>
            <a:chOff x="0" y="0"/>
            <a:chExt cx="9640646" cy="66303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40697" cy="6630289"/>
            </a:xfrm>
            <a:custGeom>
              <a:avLst/>
              <a:gdLst/>
              <a:ahLst/>
              <a:cxnLst/>
              <a:rect r="r" b="b" t="t" l="l"/>
              <a:pathLst>
                <a:path h="6630289" w="9640697">
                  <a:moveTo>
                    <a:pt x="0" y="0"/>
                  </a:moveTo>
                  <a:lnTo>
                    <a:pt x="9640697" y="0"/>
                  </a:lnTo>
                  <a:lnTo>
                    <a:pt x="9640697" y="6630289"/>
                  </a:lnTo>
                  <a:lnTo>
                    <a:pt x="0" y="6630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055306"/>
            <a:ext cx="7929562" cy="10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El bloque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Select Case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es una alternativa mucho más limpia a utilizar docenas de sentencias                                       anidadas.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5305673"/>
            <a:ext cx="7929562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Es ideal cuando tienes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una sola variable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que puede tener múltiples opciones fijas (como estados, categorías o roles).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981770" y="3552792"/>
            <a:ext cx="2143125" cy="457200"/>
            <a:chOff x="0" y="0"/>
            <a:chExt cx="2857500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8575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Estructura: SELECT CASE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16122" y="3292916"/>
            <a:ext cx="7259060" cy="5029905"/>
            <a:chOff x="0" y="0"/>
            <a:chExt cx="9678746" cy="6706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8797" cy="6706489"/>
            </a:xfrm>
            <a:custGeom>
              <a:avLst/>
              <a:gdLst/>
              <a:ahLst/>
              <a:cxnLst/>
              <a:rect r="r" b="b" t="t" l="l"/>
              <a:pathLst>
                <a:path h="6706489" w="9678797">
                  <a:moveTo>
                    <a:pt x="0" y="0"/>
                  </a:moveTo>
                  <a:lnTo>
                    <a:pt x="9678797" y="0"/>
                  </a:lnTo>
                  <a:lnTo>
                    <a:pt x="9678797" y="6706489"/>
                  </a:lnTo>
                  <a:lnTo>
                    <a:pt x="0" y="6706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57550"/>
            <a:ext cx="7929562" cy="5100638"/>
            <a:chOff x="0" y="0"/>
            <a:chExt cx="10572750" cy="6800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6800850"/>
            </a:xfrm>
            <a:custGeom>
              <a:avLst/>
              <a:gdLst/>
              <a:ahLst/>
              <a:cxnLst/>
              <a:rect r="r" b="b" t="t" l="l"/>
              <a:pathLst>
                <a:path h="68008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00850"/>
                  </a:lnTo>
                  <a:lnTo>
                    <a:pt x="0" y="6800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257550"/>
            <a:ext cx="7929562" cy="5100638"/>
            <a:chOff x="0" y="0"/>
            <a:chExt cx="10572750" cy="6800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6800850"/>
            </a:xfrm>
            <a:custGeom>
              <a:avLst/>
              <a:gdLst/>
              <a:ahLst/>
              <a:cxnLst/>
              <a:rect r="r" b="b" t="t" l="l"/>
              <a:pathLst>
                <a:path h="68008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6800850"/>
                  </a:lnTo>
                  <a:lnTo>
                    <a:pt x="0" y="6800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3843338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Ciclo FOR...NEXT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4495800"/>
            <a:ext cx="6757988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Ejecuta el código un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número determinado de veces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. Ideal cuando sabes exactamente el inicio y el fin.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86975" y="3843338"/>
            <a:ext cx="709588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DO WHILE...LOOP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6975" y="4495800"/>
            <a:ext cx="6757988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Ejecuta el código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mientras una condición sea verdadera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. Ideal para recorrer bases de datos sin límite fijo.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Estructuras: Bucles (Ciclos)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21206" y="5807869"/>
            <a:ext cx="6201642" cy="2272027"/>
            <a:chOff x="0" y="0"/>
            <a:chExt cx="8268856" cy="30293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68843" cy="3029331"/>
            </a:xfrm>
            <a:custGeom>
              <a:avLst/>
              <a:gdLst/>
              <a:ahLst/>
              <a:cxnLst/>
              <a:rect r="r" b="b" t="t" l="l"/>
              <a:pathLst>
                <a:path h="3029331" w="8268843">
                  <a:moveTo>
                    <a:pt x="0" y="0"/>
                  </a:moveTo>
                  <a:lnTo>
                    <a:pt x="8268843" y="0"/>
                  </a:lnTo>
                  <a:lnTo>
                    <a:pt x="8268843" y="3029331"/>
                  </a:lnTo>
                  <a:lnTo>
                    <a:pt x="0" y="302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529002" y="5900233"/>
            <a:ext cx="6315961" cy="2429218"/>
            <a:chOff x="0" y="0"/>
            <a:chExt cx="8421281" cy="32389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21243" cy="3239008"/>
            </a:xfrm>
            <a:custGeom>
              <a:avLst/>
              <a:gdLst/>
              <a:ahLst/>
              <a:cxnLst/>
              <a:rect r="r" b="b" t="t" l="l"/>
              <a:pathLst>
                <a:path h="3239008" w="8421243">
                  <a:moveTo>
                    <a:pt x="0" y="0"/>
                  </a:moveTo>
                  <a:lnTo>
                    <a:pt x="8421243" y="0"/>
                  </a:lnTo>
                  <a:lnTo>
                    <a:pt x="8421243" y="3239008"/>
                  </a:lnTo>
                  <a:lnTo>
                    <a:pt x="0" y="3239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21819"/>
            <a:ext cx="8072438" cy="5372100"/>
            <a:chOff x="0" y="0"/>
            <a:chExt cx="10763250" cy="7162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7162800"/>
            </a:xfrm>
            <a:custGeom>
              <a:avLst/>
              <a:gdLst/>
              <a:ahLst/>
              <a:cxnLst/>
              <a:rect r="r" b="b" t="t" l="l"/>
              <a:pathLst>
                <a:path h="71628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" r="0" b="-1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58312" y="3121819"/>
            <a:ext cx="8072438" cy="5372100"/>
            <a:chOff x="0" y="0"/>
            <a:chExt cx="10763250" cy="7162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63250" cy="7162800"/>
            </a:xfrm>
            <a:custGeom>
              <a:avLst/>
              <a:gdLst/>
              <a:ahLst/>
              <a:cxnLst/>
              <a:rect r="r" b="b" t="t" l="l"/>
              <a:pathLst>
                <a:path h="71628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7162800"/>
                  </a:lnTo>
                  <a:lnTo>
                    <a:pt x="0" y="716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" r="0" b="-13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71600" y="4679156"/>
            <a:ext cx="3495437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Los Métodos (Sub)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5331619"/>
            <a:ext cx="7043738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Los Procedimientos                 ejecutan un bloque de acciones secuenciales, pero 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no devuelven un valor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directo. Son las macros clásicas que puedes asignar a un botón o forma gráfica en tu hoja.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2662" y="4679156"/>
            <a:ext cx="4725591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Las Funciones (Function)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2662" y="5331619"/>
            <a:ext cx="7043738" cy="243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Las Funciones procesan datos de entrada y 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obligatoriamente devuelven un resultado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. Puedes utilizarlas dentro de tu código o invocarlas como fórmulas personalizadas dentro de las celdas de Excel.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1600" y="3707606"/>
            <a:ext cx="457200" cy="600075"/>
            <a:chOff x="0" y="0"/>
            <a:chExt cx="609600" cy="800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0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90" r="0" b="-11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711370" y="5350669"/>
            <a:ext cx="771525" cy="457200"/>
            <a:chOff x="0" y="0"/>
            <a:chExt cx="1028700" cy="609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287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2" r="0" b="-156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72662" y="3707606"/>
            <a:ext cx="457200" cy="600075"/>
            <a:chOff x="0" y="0"/>
            <a:chExt cx="609600" cy="8001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0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90" r="0" b="-119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Definición de Funciones y Métodos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950369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5" r="0" b="-12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874169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El ámbito define "dónde" vive tu variable y quién puede verla o usarla dentro del código.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312" y="4031456"/>
            <a:ext cx="7429500" cy="52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            : Vive solo dentro del Sub donde se creó.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312" y="5260181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                         : Declarada arriba. Todos los Subs de ese módulo pueden usarla.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312" y="6488906"/>
            <a:ext cx="7429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                                         : Puede ser llamada desde cualquier parte, hoja o formulario del proyecto.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15475" y="2964656"/>
            <a:ext cx="7900988" cy="5686425"/>
            <a:chOff x="0" y="0"/>
            <a:chExt cx="10534650" cy="7581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" r="0" b="-19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00212" y="4093369"/>
            <a:ext cx="2143125" cy="457200"/>
            <a:chOff x="0" y="0"/>
            <a:chExt cx="28575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8575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2" r="0" b="-15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5089" y="5243512"/>
            <a:ext cx="3000375" cy="457200"/>
            <a:chOff x="0" y="0"/>
            <a:chExt cx="4000500" cy="609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0005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0">
                  <a:moveTo>
                    <a:pt x="0" y="0"/>
                  </a:moveTo>
                  <a:lnTo>
                    <a:pt x="4000500" y="0"/>
                  </a:lnTo>
                  <a:lnTo>
                    <a:pt x="4000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00814" y="6498431"/>
            <a:ext cx="2828925" cy="457200"/>
            <a:chOff x="0" y="0"/>
            <a:chExt cx="3771900" cy="609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771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62" r="0" b="-156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4171950"/>
            <a:ext cx="285750" cy="300038"/>
            <a:chOff x="0" y="0"/>
            <a:chExt cx="381000" cy="4000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5400675"/>
            <a:ext cx="285750" cy="300038"/>
            <a:chOff x="0" y="0"/>
            <a:chExt cx="381000" cy="4000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6629400"/>
            <a:ext cx="285750" cy="300038"/>
            <a:chOff x="0" y="0"/>
            <a:chExt cx="381000" cy="4000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Ámbitos (Scope) de las variables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72438" y="3914775"/>
            <a:ext cx="2143125" cy="57150"/>
            <a:chOff x="0" y="0"/>
            <a:chExt cx="28575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7500" cy="76200"/>
            </a:xfrm>
            <a:custGeom>
              <a:avLst/>
              <a:gdLst/>
              <a:ahLst/>
              <a:cxnLst/>
              <a:rect r="r" b="b" t="t" l="l"/>
              <a:pathLst>
                <a:path h="762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43475" y="4400550"/>
            <a:ext cx="8401050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Ejemplo </a:t>
            </a:r>
            <a:r>
              <a:rPr lang="en-US" sz="810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Práctico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6469" y="5891212"/>
            <a:ext cx="621506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Integrando For, If y Celdas de Excel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759994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En este ejemplo vamos a automatizar una tarea contable básica.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917281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El código recorrerá las ventas en la columna B (desde la fila 2 hasta la 100).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6074569"/>
            <a:ext cx="7929562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Si la venta supera los 1,000, automáticamente escribirá "Bono Aplica" en la columna C y pintará el fondo de verde.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Recorrer y Procesar Datos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5893" y="2471738"/>
            <a:ext cx="7544857" cy="6001588"/>
            <a:chOff x="0" y="0"/>
            <a:chExt cx="10059810" cy="80021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9797" cy="8002143"/>
            </a:xfrm>
            <a:custGeom>
              <a:avLst/>
              <a:gdLst/>
              <a:ahLst/>
              <a:cxnLst/>
              <a:rect r="r" b="b" t="t" l="l"/>
              <a:pathLst>
                <a:path h="8002143" w="10059797">
                  <a:moveTo>
                    <a:pt x="0" y="0"/>
                  </a:moveTo>
                  <a:lnTo>
                    <a:pt x="10059797" y="0"/>
                  </a:lnTo>
                  <a:lnTo>
                    <a:pt x="10059797" y="8002143"/>
                  </a:lnTo>
                  <a:lnTo>
                    <a:pt x="0" y="8002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72438" y="3914775"/>
            <a:ext cx="2143125" cy="57150"/>
            <a:chOff x="0" y="0"/>
            <a:chExt cx="28575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7500" cy="76200"/>
            </a:xfrm>
            <a:custGeom>
              <a:avLst/>
              <a:gdLst/>
              <a:ahLst/>
              <a:cxnLst/>
              <a:rect r="r" b="b" t="t" l="l"/>
              <a:pathLst>
                <a:path h="762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315767" y="4400550"/>
            <a:ext cx="11656457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Actividad de la </a:t>
            </a:r>
            <a:r>
              <a:rPr lang="en-US" sz="810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Semana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07844" y="5891212"/>
            <a:ext cx="707231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15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Demostrando el conocimiento adquirido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1188" y="2786062"/>
            <a:ext cx="7929562" cy="5715000"/>
            <a:chOff x="0" y="0"/>
            <a:chExt cx="1057275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786062"/>
            <a:ext cx="8326041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Manos a la Obra (Práctica)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3438525"/>
            <a:ext cx="7929562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Para comprobar que asimilaron las competencias de hoy, deberán escribir código real en su Excel: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312" y="4595812"/>
            <a:ext cx="7429500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1. Ciclos: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Creen una rutina usando  un                                                        para recorrer una lista de números.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312" y="5824538"/>
            <a:ext cx="7429500" cy="10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2. Condiciones: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Usen un Bloque                                    dentro de su ciclo.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312" y="7053262"/>
            <a:ext cx="7429500" cy="14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3. Lógica: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 Si el número es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&lt; 20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, escriban "Menor a 20". Si es </a:t>
            </a:r>
            <a:r>
              <a:rPr lang="en-US" sz="2475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&lt; 40</a:t>
            </a:r>
            <a:r>
              <a:rPr lang="en-US" sz="247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, escriban "Menor a 40". Si no, "Mayor a 40".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15475" y="2800350"/>
            <a:ext cx="7900988" cy="5686425"/>
            <a:chOff x="0" y="0"/>
            <a:chExt cx="10534650" cy="75819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0534650" cy="7581900"/>
            </a:xfrm>
            <a:custGeom>
              <a:avLst/>
              <a:gdLst/>
              <a:ahLst/>
              <a:cxnLst/>
              <a:rect r="r" b="b" t="t" l="l"/>
              <a:pathLst>
                <a:path h="7581900" w="1053465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7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11616" y="4579144"/>
            <a:ext cx="1971675" cy="457200"/>
            <a:chOff x="0" y="0"/>
            <a:chExt cx="2628900" cy="6096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2628900" cy="609600"/>
            </a:xfrm>
            <a:custGeom>
              <a:avLst/>
              <a:gdLst/>
              <a:ahLst/>
              <a:cxnLst/>
              <a:rect r="r" b="b" t="t" l="l"/>
              <a:pathLst>
                <a:path h="609600" w="2628900">
                  <a:moveTo>
                    <a:pt x="0" y="0"/>
                  </a:moveTo>
                  <a:lnTo>
                    <a:pt x="2628900" y="0"/>
                  </a:lnTo>
                  <a:lnTo>
                    <a:pt x="2628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054328" y="5854303"/>
            <a:ext cx="2143125" cy="457200"/>
            <a:chOff x="0" y="0"/>
            <a:chExt cx="2857500" cy="6096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8575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4736306"/>
            <a:ext cx="328612" cy="300038"/>
            <a:chOff x="0" y="0"/>
            <a:chExt cx="438150" cy="4000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5965031"/>
            <a:ext cx="257175" cy="300038"/>
            <a:chOff x="0" y="0"/>
            <a:chExt cx="342900" cy="4000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7250" y="7193756"/>
            <a:ext cx="214312" cy="300038"/>
            <a:chOff x="0" y="0"/>
            <a:chExt cx="285750" cy="4000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85750" cy="400050"/>
            </a:xfrm>
            <a:custGeom>
              <a:avLst/>
              <a:gdLst/>
              <a:ahLst/>
              <a:cxnLst/>
              <a:rect r="r" b="b" t="t" l="l"/>
              <a:pathLst>
                <a:path h="4000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Reto de Código: Estructuras y Ciclos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73329" y="3407569"/>
            <a:ext cx="10741343" cy="14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¿Dudas sobre </a:t>
            </a:r>
            <a:r>
              <a:rPr lang="en-US" sz="9000">
                <a:solidFill>
                  <a:srgbClr val="10B981"/>
                </a:solidFill>
                <a:latin typeface="Cinema Outfit"/>
                <a:ea typeface="Cinema Outfit"/>
                <a:cs typeface="Cinema Outfit"/>
                <a:sym typeface="Cinema Outfit"/>
              </a:rPr>
              <a:t>VBA</a:t>
            </a:r>
            <a:r>
              <a:rPr lang="en-US" sz="90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43450" y="5050631"/>
            <a:ext cx="880110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7"/>
              </a:lnSpc>
            </a:pPr>
            <a:r>
              <a:rPr lang="en-US" sz="2925">
                <a:solidFill>
                  <a:srgbClr val="CBD5E1"/>
                </a:solidFill>
                <a:latin typeface="Cinema Outfit"/>
                <a:ea typeface="Cinema Outfit"/>
                <a:cs typeface="Cinema Outfit"/>
                <a:sym typeface="Cinema Outfit"/>
              </a:rPr>
              <a:t>Empiecen a pensar cómo aplicarlo a su proyecto final.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77670" y="6479381"/>
            <a:ext cx="533266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94A3B8"/>
                </a:solidFill>
                <a:latin typeface="Cinema Outfit"/>
                <a:ea typeface="Cinema Outfit"/>
                <a:cs typeface="Cinema Outfit"/>
                <a:sym typeface="Cinema Outfit"/>
              </a:rPr>
              <a:t>Laboratorio PDC 1 | USAC | Sección N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96448" y="1621365"/>
            <a:ext cx="4437097" cy="39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3"/>
              </a:lnSpc>
            </a:pPr>
            <a:r>
              <a:rPr lang="en-US" sz="23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Tarea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78994" y="1763840"/>
            <a:ext cx="22054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13:35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8994" y="2555681"/>
            <a:ext cx="22054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13:50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04772" y="3347523"/>
            <a:ext cx="31545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15min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7293" y="2365613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17293" y="3325197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313559"/>
            <a:ext cx="6170724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Handery Isabel Cardona Almaraz - 202308426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José Emanuel Salazar Cano - 201602495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Daniel Fernando Juárez Andrino 202004436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William Edison Vicente Martínez - 202306629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Moises Alejandro Orozco Cárcamo- 202203909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Cristhian Garcia Tumax - 202300529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Diego Estuardo Jose Dionisio Quiacian -202300481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Wendy Karina Mijangos Morales - 202110311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Julio Alfredo Cruz Gonzalez - 201612281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Santiago Benjamin Velásquez Chávez - 202502940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0724" y="5313559"/>
            <a:ext cx="6170724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Lilian Esther Jimenez Gamez - 202307514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Rene Andres Casasola Rodas - 202401286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Elias Abraham González Solval 202307739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DAHUjyy2x0k</dc:identifier>
  <dcterms:modified xsi:type="dcterms:W3CDTF">2011-08-01T06:04:30Z</dcterms:modified>
  <cp:revision>1</cp:revision>
  <dc:title>Lab PDC1 Presentación 10 2S2026</dc:title>
</cp:coreProperties>
</file>