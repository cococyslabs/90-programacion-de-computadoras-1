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2"/>
  </p:notesMasterIdLst>
  <p:sldIdLst>
    <p:sldId id="283" r:id="rId3"/>
    <p:sldId id="256" r:id="rId4"/>
    <p:sldId id="257" r:id="rId5"/>
    <p:sldId id="284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5" r:id="rId29"/>
    <p:sldId id="280" r:id="rId30"/>
    <p:sldId id="28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95EB0-01B6-4BB6-8F34-6EAF605818FC}" type="datetimeFigureOut">
              <a:rPr lang="es-GT" smtClean="0"/>
              <a:t>27/10/2026</a:t>
            </a:fld>
            <a:endParaRPr lang="es-G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G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3382A-D5AE-4F79-BCD1-0D4E52BED886}" type="slidenum">
              <a:rPr lang="es-GT" smtClean="0"/>
              <a:t>‹#›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06167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740324" name="Google Shape;51;gcb241b134e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23408" name="Google Shape;52;gcb241b134e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body" type="tx" userDrawn="1">
  <p:cSld name="Title and 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512995" name="Google Shape;17;p4"/>
          <p:cNvSpPr txBox="1">
            <a:spLocks noGrp="1"/>
          </p:cNvSpPr>
          <p:nvPr>
            <p:ph type="title"/>
          </p:nvPr>
        </p:nvSpPr>
        <p:spPr bwMode="auto"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6468425" name="Google Shape;18;p4"/>
          <p:cNvSpPr txBox="1">
            <a:spLocks noGrp="1"/>
          </p:cNvSpPr>
          <p:nvPr>
            <p:ph type="body" idx="1"/>
          </p:nvPr>
        </p:nvSpPr>
        <p:spPr bwMode="auto"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6127535" name="Google Shape;19;p4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es" smtClean="0"/>
              <a:pPr>
                <a:defRPr/>
              </a:pPr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193910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0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0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" b="-81"/>
            </a:stretch>
          </a:blipFill>
        </p:spPr>
        <p:txBody>
          <a:bodyPr/>
          <a:lstStyle/>
          <a:p>
            <a:endParaRPr lang="es-GT" dirty="0"/>
          </a:p>
        </p:txBody>
      </p:sp>
      <p:sp>
        <p:nvSpPr>
          <p:cNvPr id="3" name="TextBox 3"/>
          <p:cNvSpPr txBox="1"/>
          <p:nvPr/>
        </p:nvSpPr>
        <p:spPr>
          <a:xfrm>
            <a:off x="3951407" y="4347290"/>
            <a:ext cx="4289187" cy="574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750"/>
              </a:lnSpc>
            </a:pPr>
            <a:r>
              <a:rPr lang="en-US" sz="3393" b="1" dirty="0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35302" y="2654296"/>
            <a:ext cx="7321397" cy="104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223"/>
              </a:lnSpc>
            </a:pPr>
            <a:r>
              <a:rPr lang="en-US" sz="3016" b="1" dirty="0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Laboratorio de </a:t>
            </a:r>
            <a:r>
              <a:rPr lang="en-US" sz="3016" b="1" dirty="0" err="1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Programacion</a:t>
            </a:r>
            <a:r>
              <a:rPr lang="en-US" sz="3016" b="1" dirty="0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3016" b="1" dirty="0" err="1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computadoras</a:t>
            </a:r>
            <a:r>
              <a:rPr lang="en-US" sz="3016" b="1" dirty="0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I, </a:t>
            </a:r>
            <a:r>
              <a:rPr lang="en-US" sz="3016" b="1" dirty="0" err="1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Sección</a:t>
            </a:r>
            <a:r>
              <a:rPr lang="en-US" sz="3016" b="1" dirty="0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X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253332" y="1281455"/>
          <a:ext cx="3610484" cy="1079500"/>
        </p:xfrm>
        <a:graphic>
          <a:graphicData uri="http://schemas.openxmlformats.org/drawingml/2006/table">
            <a:tbl>
              <a:tblPr/>
              <a:tblGrid>
                <a:gridCol w="1805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5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Dia, Fecha: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Martes 21/07/2026</a:t>
                      </a:r>
                      <a:endParaRPr lang="en-US" sz="7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Hora de inicio: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12:20</a:t>
                      </a:r>
                      <a:endParaRPr lang="en-US" sz="7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71500"/>
            <a:ext cx="11049000" cy="4679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-1341834"/>
            <a:ext cx="6667500" cy="54590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85317"/>
            <a:ext cx="11049000" cy="47011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1775" y="381000"/>
            <a:ext cx="1419225" cy="390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0150" y="2156817"/>
            <a:ext cx="10341292" cy="1603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Outfit"/>
              </a:rPr>
              <a:t>Implementación en </a:t>
            </a:r>
            <a:r>
              <a:t>
</a:t>
            </a:r>
            <a:r>
              <a:rPr sz="5400" b="1" i="0" u="none">
                <a:solidFill>
                  <a:srgbClr val="38BDF8"/>
                </a:solidFill>
                <a:latin typeface="Outfit"/>
              </a:rPr>
              <a:t>SQL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150" y="4046339"/>
            <a:ext cx="984885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F8FAFC"/>
                </a:solidFill>
                <a:latin typeface="Outfit"/>
              </a:rPr>
              <a:t>Estructuras, Relaciones y Consultas Avanzadas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4633019"/>
            <a:ext cx="984885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94A3B8"/>
                </a:solidFill>
                <a:latin typeface="Outfit"/>
              </a:rPr>
              <a:t>Laboratorio de Programación de Computadoras 1, Sección 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5219700"/>
            <a:ext cx="9848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0B981"/>
                </a:solidFill>
                <a:latin typeface="Outfit"/>
              </a:rPr>
              <a:t>Tutor: Billy Chamale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91370"/>
            <a:ext cx="5286375" cy="389512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391370"/>
            <a:ext cx="5286375" cy="389512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1500"/>
            <a:ext cx="11049000" cy="8864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781895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4650" y="2781895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Consultas Avanzadas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3025" y="3267670"/>
            <a:ext cx="4124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Dudas del Proyecto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3025" y="3793331"/>
            <a:ext cx="4124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Foro de la Semana.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3025" y="4318992"/>
            <a:ext cx="4124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Arquitectura y T-SQL.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3025" y="4844653"/>
            <a:ext cx="4124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Tipos de Datos y Restricciones.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3025" y="5370314"/>
            <a:ext cx="4124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Orden correcto de creación.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5650" y="3267670"/>
            <a:ext cx="4124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Introducción a los JOINs.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5650" y="3793331"/>
            <a:ext cx="4124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Explicación Visual de JOINs.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5650" y="4318992"/>
            <a:ext cx="4124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Uso de Alias (AS).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5650" y="4844653"/>
            <a:ext cx="4124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Demostración en SSMS.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5650" y="5370314"/>
            <a:ext cx="4124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Tarea 4: Experimentando con código.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3320057"/>
            <a:ext cx="161925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845718"/>
            <a:ext cx="266700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4371379"/>
            <a:ext cx="209550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4897040"/>
            <a:ext cx="180975" cy="2190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5422701"/>
            <a:ext cx="238125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4650" y="3320057"/>
            <a:ext cx="266700" cy="2190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4650" y="3845718"/>
            <a:ext cx="23812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650" y="4371379"/>
            <a:ext cx="1809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4650" y="4897040"/>
            <a:ext cx="238125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24650" y="5422701"/>
            <a:ext cx="238125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145792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Agenda de la Clase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515C73-8647-AD22-5D10-293FCB79D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8EECB08E-8E16-5762-7B60-50520C852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601" y="2549312"/>
            <a:ext cx="5286375" cy="3895129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E228C851-AA64-24E2-2300-746542785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1500"/>
            <a:ext cx="11049000" cy="8864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075B028-CD05-E19E-5F19-4C6AE2CF332B}"/>
              </a:ext>
            </a:extLst>
          </p:cNvPr>
          <p:cNvSpPr txBox="1"/>
          <p:nvPr/>
        </p:nvSpPr>
        <p:spPr>
          <a:xfrm>
            <a:off x="3764625" y="3471332"/>
            <a:ext cx="4124325" cy="163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s-GT" sz="1650" dirty="0">
                <a:solidFill>
                  <a:srgbClr val="CBD5E1"/>
                </a:solidFill>
                <a:latin typeface="Outfit"/>
              </a:rPr>
              <a:t> La responsabilidad es el compromiso de cumplir con las tareas, obligaciones y deberes asignados, asumiendo las consecuencias de las propias acciones y tomando decisiones de manera consciente y correcta.</a:t>
            </a:r>
            <a:endParaRPr sz="1650" b="0" i="0" u="none" dirty="0">
              <a:solidFill>
                <a:srgbClr val="CBD5E1"/>
              </a:solidFill>
              <a:latin typeface="Outfi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583358-2291-CE83-0AE1-AEC046B3C5DC}"/>
              </a:ext>
            </a:extLst>
          </p:cNvPr>
          <p:cNvSpPr txBox="1"/>
          <p:nvPr/>
        </p:nvSpPr>
        <p:spPr>
          <a:xfrm>
            <a:off x="1510838" y="1192462"/>
            <a:ext cx="1160145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450" b="0" i="0" u="none" dirty="0">
                <a:solidFill>
                  <a:srgbClr val="38BDF8"/>
                </a:solidFill>
                <a:latin typeface="Outfit ExtraBold"/>
              </a:rPr>
              <a:t>Valor de la Semana</a:t>
            </a:r>
            <a:r>
              <a:rPr lang="en-US" sz="3450" dirty="0">
                <a:solidFill>
                  <a:srgbClr val="38BDF8"/>
                </a:solidFill>
                <a:latin typeface="Outfit ExtraBold"/>
              </a:rPr>
              <a:t>: Responsabilidad</a:t>
            </a:r>
            <a:endParaRPr sz="3450" b="0" i="0" u="none" dirty="0">
              <a:solidFill>
                <a:srgbClr val="38BDF8"/>
              </a:solidFill>
              <a:latin typeface="Outfi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781422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752600"/>
            <a:ext cx="528637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52600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Patitas Felices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238375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Este es su espacio para plantear cualquier duda técnica o conceptual sobre el enunciado del proyecto.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051571"/>
            <a:ext cx="5286375" cy="1306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rgbClr val="F8FAFC"/>
                </a:solidFill>
                <a:latin typeface="Outfit"/>
              </a:rPr>
              <a:t>Recordatorio</a:t>
            </a:r>
            <a:r>
              <a:rPr sz="1650" b="1" i="0" u="none" dirty="0">
                <a:solidFill>
                  <a:srgbClr val="F8FAFC"/>
                </a:solidFill>
                <a:latin typeface="Outfit"/>
              </a:rPr>
              <a:t> Técnico: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El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entregable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principal es el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archivo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. </a:t>
            </a: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Este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debe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ejecutarse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en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SQL Server Management Studio sin un solo error de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sintaxis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, de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arriba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hacia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abajo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, para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crear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las 5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tablas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obligatorias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219" y="3051571"/>
            <a:ext cx="135255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757" y="1779204"/>
            <a:ext cx="4679454" cy="3790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Dudas del Proyecto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000250"/>
            <a:ext cx="5286375" cy="4286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952750"/>
            <a:ext cx="6667500" cy="495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00250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2E8F0"/>
                </a:solidFill>
                <a:latin typeface="Outfit"/>
              </a:rPr>
              <a:t>Participación y Dudas Generales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86025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Recuerden que el foro de esta semana en UEDI sigue abierto.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299221"/>
            <a:ext cx="4905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Úsenlo para discutir errores de sintaxis, instalación de SSMS o conceptos de bases de datos relacionales.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160043"/>
            <a:ext cx="4905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La comunidad se enriquece cuando entre ustedes se ayudan a resolver los bugs.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09775"/>
            <a:ext cx="5267325" cy="426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10668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Foro de la Semana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52922"/>
            <a:ext cx="5381625" cy="388560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1952922"/>
            <a:ext cx="5381625" cy="3885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3143547"/>
            <a:ext cx="242030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Ofimática (Access)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3629322"/>
            <a:ext cx="4600575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Guarda toda la información de las tablas en un único archivo estático (ej. .accdb). Su arquitectura limita severamente el acceso concurrente y el volumen de información procesable.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143547"/>
            <a:ext cx="304038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Nivel Empresarial (SQL)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629322"/>
            <a:ext cx="46005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SQL Server es un </a:t>
            </a:r>
            <a:r>
              <a:rPr sz="1650" b="1" i="0" u="none">
                <a:solidFill>
                  <a:srgbClr val="CBD5E1"/>
                </a:solidFill>
                <a:latin typeface="Outfit"/>
              </a:rPr>
              <a:t>Servicio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continuo. Diseñado con arquitectura cliente-servidor para manejar miles de usuarios concurrentes y bases de datos de terabytes de tamaño.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2400597"/>
            <a:ext cx="3429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400597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Evolución de Bases de Datos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752600"/>
            <a:ext cx="528637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52600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2E8F0"/>
                </a:solidFill>
                <a:latin typeface="Outfit"/>
              </a:rPr>
              <a:t>Comprendiendo las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2238375"/>
            <a:ext cx="4905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El Motor (SQL Server Express):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Es el cerebro invisible. Se ejecuta en segundo plano, procesa las peticiones matemáticas y almacena los datos físicamente.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769518"/>
            <a:ext cx="4905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El Cliente (SSMS):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SQL Server Management Studio es la interfaz gráfica. SSMS </a:t>
            </a:r>
            <a:r>
              <a:rPr sz="1650" b="0" i="1" u="none">
                <a:solidFill>
                  <a:srgbClr val="CBD5E1"/>
                </a:solidFill>
                <a:latin typeface="Outfit"/>
              </a:rPr>
              <a:t>no almacena datos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, solo es la ventana que utilizamos para enviar scripts.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762125"/>
            <a:ext cx="5267325" cy="426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90762"/>
            <a:ext cx="18097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21906"/>
            <a:ext cx="209550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Arquitectura del Entorno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29495"/>
            <a:ext cx="5286375" cy="365700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629495"/>
            <a:ext cx="5286375" cy="365700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-1809750"/>
            <a:ext cx="6667500" cy="1124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3020020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Más allá del estándar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505795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SQL Server no utiliza el SQL básico estándar. Utiliza un dialecto nativo llamado </a:t>
            </a:r>
            <a:r>
              <a:rPr sz="1650" b="1" i="0" u="none">
                <a:solidFill>
                  <a:srgbClr val="F8FAFC"/>
                </a:solidFill>
                <a:latin typeface="Outfit"/>
              </a:rPr>
              <a:t>T-SQL (Transact-SQL)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654153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Esta extensión eleva a SQL de un lenguaje de consultas a un lenguaje robusto.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3020020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Capacidades de Programación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3505795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T-SQL permite incorporar lógica de programación directamente en el motor: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5650" y="4318992"/>
            <a:ext cx="4124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Declaración de variables.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5650" y="4844653"/>
            <a:ext cx="4124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Estructuras de control (IF, WHILE).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5650" y="5370314"/>
            <a:ext cx="4124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Manejo de excepciones (TRY...CATCH).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696045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El Lenguaje T-SQL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752600"/>
            <a:ext cx="528637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52600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2E8F0"/>
                </a:solidFill>
                <a:latin typeface="Outfit"/>
              </a:rPr>
              <a:t>Definiendo la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2238375"/>
            <a:ext cx="4905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Outfit"/>
              </a:rPr>
              <a:t>: Para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números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enteros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extremadamente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grandes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 Es el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tipo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dato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ideal para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llaves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primarias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, IDs y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números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de DPI.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434357"/>
            <a:ext cx="4905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: Cadenas de texto de longitud variable. Optimiza el disco ocupando solo el espacio de los caracteres realmente ingresados.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630340"/>
            <a:ext cx="4905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: Texto de longitud fija. Muy eficiente cuando sabemos que el dato tiene una longitud constante (ej. un campo Género de tamaño '1').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762125"/>
            <a:ext cx="5267325" cy="426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" y="2107280"/>
            <a:ext cx="89535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16130"/>
            <a:ext cx="135255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50" y="4439839"/>
            <a:ext cx="1009650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Tipos de Datos Clave (Cadenas)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74936"/>
            <a:ext cx="5286375" cy="404157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74936"/>
            <a:ext cx="5286375" cy="40415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265461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DECIMAL(p, 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751236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Almacena números exactos con precisión fija. No sufre problemas de redondeo como los tipos flotantes.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899594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La </a:t>
            </a:r>
            <a:r>
              <a:rPr sz="1650" b="0" i="1" u="none">
                <a:solidFill>
                  <a:srgbClr val="CBD5E1"/>
                </a:solidFill>
                <a:latin typeface="Outfit"/>
              </a:rPr>
              <a:t>'p'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define el total de dígitos permitidos y la </a:t>
            </a:r>
            <a:r>
              <a:rPr sz="1650" b="0" i="1" u="none">
                <a:solidFill>
                  <a:srgbClr val="CBD5E1"/>
                </a:solidFill>
                <a:latin typeface="Outfit"/>
              </a:rPr>
              <a:t>'s'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cuántos de esos dígitos son decimales.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712791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1" u="none">
                <a:solidFill>
                  <a:srgbClr val="CBD5E1"/>
                </a:solidFill>
                <a:latin typeface="Outfit"/>
              </a:rPr>
              <a:t>Ejemplo: DECIMAL(5,2) guarda hasta 999.99. Ideal para Peso o Precios.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2265461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DATE y DATETIME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751236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almacena exclusivamente la fecha en formato YYYY-MM-DD, descartando el reloj.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3564433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almacena la fecha y la fracción exacta de segundo en que ocurrió un evento.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2579786"/>
            <a:ext cx="66675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8856" y="3392983"/>
            <a:ext cx="112395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Precisión y Tiempo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20503"/>
            <a:ext cx="3492549" cy="355044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120503"/>
            <a:ext cx="3492549" cy="3550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120503"/>
            <a:ext cx="3492549" cy="35504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3311128"/>
            <a:ext cx="283035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2E8F0"/>
                </a:solidFill>
                <a:latin typeface="Outfit"/>
              </a:rPr>
              <a:t>Primary &amp; Foreign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796903"/>
            <a:ext cx="2711499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Las restricciones estructurales más importantes para garantizar unicidad y relación.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0324" y="3311128"/>
            <a:ext cx="139017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2E8F0"/>
                </a:solidFill>
                <a:latin typeface="Outfit"/>
              </a:rPr>
              <a:t>NOT NULL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0324" y="3796903"/>
            <a:ext cx="2711499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Regla obligatoria a nivel de columna. Fuerza a que la columna siempre reciba un valor explícito.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8624" y="3311128"/>
            <a:ext cx="109013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2E8F0"/>
                </a:solidFill>
                <a:latin typeface="Outfit"/>
              </a:rPr>
              <a:t>UNIQUE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8624" y="3796903"/>
            <a:ext cx="2711499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Garantiza que no existan dos registros con el mismo valor en una columna específica (vital para correos).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568178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0324" y="2568178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8624" y="2568178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Restricciones de Integridad (Constraints)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000250"/>
            <a:ext cx="5286375" cy="4286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952750"/>
            <a:ext cx="6667500" cy="495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00250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2E8F0"/>
                </a:solidFill>
                <a:latin typeface="Outfit"/>
              </a:rPr>
              <a:t>Estructurando código profesional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529889"/>
            <a:ext cx="5286375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Outfit"/>
              </a:rPr>
              <a:t>Al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construir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su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       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final,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apliquen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estas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reglas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137" y="2543175"/>
            <a:ext cx="135255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0" y="2964060"/>
            <a:ext cx="4905375" cy="6393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rgbClr val="F8FAFC"/>
                </a:solidFill>
                <a:latin typeface="Outfit"/>
              </a:rPr>
              <a:t>Documentación</a:t>
            </a:r>
            <a:r>
              <a:rPr sz="1650" b="1" i="0" u="none" dirty="0">
                <a:solidFill>
                  <a:srgbClr val="F8FAFC"/>
                </a:solidFill>
                <a:latin typeface="Outfit"/>
              </a:rPr>
              <a:t>: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Utilicen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doble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guion</a:t>
            </a: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para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explicar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visualmente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qué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bloque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código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están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ejecutando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160043"/>
            <a:ext cx="4905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F8FAFC"/>
                </a:solidFill>
                <a:latin typeface="Outfit"/>
              </a:rPr>
              <a:t>El Loteador GO: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La palabra </a:t>
            </a: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   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instruye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al motor para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ejecutar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el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lote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anterior antes de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continuar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 Indispensable entre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creaciones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tablas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2009775"/>
            <a:ext cx="5267325" cy="426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0" y="2957456"/>
            <a:ext cx="43815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7009" y="4160043"/>
            <a:ext cx="438150" cy="342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10668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Buenas Prácticas T-SQL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03499"/>
            <a:ext cx="5286375" cy="418445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03499"/>
            <a:ext cx="5286375" cy="41844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194024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Resolución de Dependencias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679799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En SQL Server, no puedes hacer referencia a algo que no existe. El orden de tu script es fundamental para evitar errores de Foreign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4650" y="2194024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La Regla de Oro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05650" y="2679799"/>
            <a:ext cx="4124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1. Tablas Padre: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Instanciar primero las independientes (ESPECIE, DUEÑO, VETERINARIO).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5650" y="3875782"/>
            <a:ext cx="4124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2. Tablas Hijas: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Crear las dependientes (MASCOTA).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5650" y="4736603"/>
            <a:ext cx="4124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Outfit"/>
              </a:rPr>
              <a:t>3. Transaccionales: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De último las que cruzan todo (CONSULTA).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Orden de Creación de Tablas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71500"/>
            <a:ext cx="11049000" cy="2857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0476" y="4366319"/>
            <a:ext cx="8371046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F8FAFC"/>
                </a:solidFill>
                <a:latin typeface="Outfit"/>
              </a:rPr>
              <a:t>Introducción a los </a:t>
            </a:r>
            <a:r>
              <a:rPr sz="6000" b="1" i="0" u="none">
                <a:solidFill>
                  <a:srgbClr val="10B981"/>
                </a:solidFill>
                <a:latin typeface="Outfit"/>
              </a:rPr>
              <a:t>JOINs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9525" y="5518844"/>
            <a:ext cx="45529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>
                <a:solidFill>
                  <a:srgbClr val="38BDF8"/>
                </a:solidFill>
                <a:latin typeface="Outfit"/>
              </a:rPr>
              <a:t>¿Por qué necesitamos unir datos?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395835"/>
            <a:ext cx="5286375" cy="20669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09032"/>
            <a:ext cx="5286375" cy="895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395835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La normalización divide los datos lógicamente. Pero si ejecutamos un simple SELECT, vemos esto: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47257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Los humanos leen nombres, no números. Necesitamos una operación matemática (JOIN) que conecte estas llaves.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43650" y="2405360"/>
          <a:ext cx="5267324" cy="2047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9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utfit"/>
                        </a:rPr>
                        <a:t>ID_Mascota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utfit"/>
                        </a:rPr>
                        <a:t>Nombre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utfit"/>
                        </a:rPr>
                        <a:t>ID_Especie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101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Firulais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102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Michi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7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103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Piolín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F4444"/>
                          </a:solidFill>
                          <a:latin typeface="Outfit"/>
                        </a:rPr>
                        <a:t>NULL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9150" y="3466207"/>
            <a:ext cx="457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666232"/>
            <a:ext cx="457200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FF7B72"/>
                </a:solidFill>
                <a:latin typeface="Fira Code SemiBold"/>
              </a:rPr>
              <a:t>FROM</a:t>
            </a:r>
          </a:p>
        </p:txBody>
      </p:sp>
      <p:sp>
        <p:nvSpPr>
          <p:cNvPr id="9" name="Rectangle 8"/>
          <p:cNvSpPr/>
          <p:nvPr/>
        </p:nvSpPr>
        <p:spPr>
          <a:xfrm>
            <a:off x="6343650" y="2905422"/>
            <a:ext cx="19368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80499" y="2905422"/>
            <a:ext cx="14909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1459" y="2905422"/>
            <a:ext cx="18395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43650" y="3419772"/>
            <a:ext cx="19368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80499" y="3419772"/>
            <a:ext cx="14909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771459" y="3419772"/>
            <a:ext cx="18395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43650" y="3934122"/>
            <a:ext cx="19368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80499" y="3934122"/>
            <a:ext cx="14909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71459" y="3934122"/>
            <a:ext cx="18395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El Problema: Datos Crudos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563415"/>
            <a:ext cx="5286375" cy="20669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76612"/>
            <a:ext cx="5286375" cy="895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63415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Nuestra tabla ESPECIE contiene la traducción de esos números.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414837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Vamos a usar los JOINs basándonos en la coincidencia: </a:t>
            </a:r>
            <a:r>
              <a:rPr sz="1650" b="1" i="0" u="none">
                <a:solidFill>
                  <a:srgbClr val="F8FAFC"/>
                </a:solidFill>
                <a:latin typeface="Outfit"/>
              </a:rPr>
              <a:t>Mascota.ID_Especie = Especie.ID_Especie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43650" y="2572940"/>
          <a:ext cx="5267324" cy="2047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8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utfit"/>
                        </a:rPr>
                        <a:t>ID_Especie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utfit"/>
                        </a:rPr>
                        <a:t>Nombre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Perro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Gato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7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Reptil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9150" y="3633787"/>
            <a:ext cx="457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833812"/>
            <a:ext cx="457200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FF7B72"/>
                </a:solidFill>
                <a:latin typeface="Fira Code SemiBold"/>
              </a:rPr>
              <a:t>FROM</a:t>
            </a:r>
          </a:p>
        </p:txBody>
      </p:sp>
      <p:sp>
        <p:nvSpPr>
          <p:cNvPr id="9" name="Rectangle 8"/>
          <p:cNvSpPr/>
          <p:nvPr/>
        </p:nvSpPr>
        <p:spPr>
          <a:xfrm>
            <a:off x="6343650" y="3073003"/>
            <a:ext cx="29091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52793" y="3073003"/>
            <a:ext cx="235818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43650" y="3587353"/>
            <a:ext cx="29091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252793" y="3587353"/>
            <a:ext cx="235818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43650" y="4101703"/>
            <a:ext cx="29091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52793" y="4101703"/>
            <a:ext cx="235818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La Tabla Relacionada (Padre)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3507581"/>
            <a:ext cx="5286375" cy="1552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991100"/>
            <a:ext cx="5286375" cy="1295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-1809750"/>
            <a:ext cx="6667500" cy="20026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3507581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Solo devuelve registros donde hay coincidencias en </a:t>
            </a:r>
            <a:r>
              <a:rPr sz="1650" b="1" i="0" u="none">
                <a:solidFill>
                  <a:srgbClr val="F8FAFC"/>
                </a:solidFill>
                <a:latin typeface="Outfit"/>
              </a:rPr>
              <a:t>ambas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tablas. 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Piolín (sin especie) y el Reptil (sin mascota) desaparecen.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43650" y="3517106"/>
          <a:ext cx="5267324" cy="1533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3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1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utfit"/>
                        </a:rPr>
                        <a:t>M.Nombre (Mascota)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utfit"/>
                        </a:rPr>
                        <a:t>E.Nombre (Especie)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Firulais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Perro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Michi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Gato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9150" y="5248275"/>
            <a:ext cx="457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5448300"/>
            <a:ext cx="457200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FF7B72"/>
                </a:solidFill>
                <a:latin typeface="Fira Code SemiBold"/>
              </a:rPr>
              <a:t>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5648325"/>
            <a:ext cx="762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INNER JOIN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5848350"/>
            <a:ext cx="344632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43650" y="4017168"/>
            <a:ext cx="27034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047112" y="4017168"/>
            <a:ext cx="25638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43650" y="4531518"/>
            <a:ext cx="27034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47112" y="4531518"/>
            <a:ext cx="25638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1500" y="2574131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1. INNER JOIN (Intersección Perfecta)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506265"/>
            <a:ext cx="5286375" cy="20669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89784"/>
            <a:ext cx="5286375" cy="1295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06265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Trae </a:t>
            </a:r>
            <a:r>
              <a:rPr sz="1650" b="1" i="0" u="none">
                <a:solidFill>
                  <a:srgbClr val="F8FAFC"/>
                </a:solidFill>
                <a:latin typeface="Outfit"/>
              </a:rPr>
              <a:t>TODO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de la tabla de la izquierda (Mascota), tenga o no correspondencia. 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Piolín aparece, pero con NULL en su especie.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43650" y="2515790"/>
          <a:ext cx="5267324" cy="2047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3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utfit"/>
                        </a:rPr>
                        <a:t>M.Nombre (Mascota)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utfit"/>
                        </a:rPr>
                        <a:t>E.Nombre (Especie)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Firulais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Perro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Michi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Gato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7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Piolín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F4444"/>
                          </a:solidFill>
                          <a:latin typeface="Outfit"/>
                        </a:rPr>
                        <a:t>NULL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9150" y="4246959"/>
            <a:ext cx="457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4446984"/>
            <a:ext cx="457200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FF7B72"/>
                </a:solidFill>
                <a:latin typeface="Fira Code SemiBold"/>
              </a:rPr>
              <a:t>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647009"/>
            <a:ext cx="685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LEFT JOIN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4847035"/>
            <a:ext cx="304800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FF7B72"/>
                </a:solidFill>
                <a:latin typeface="Fira Code SemiBold"/>
              </a:rPr>
              <a:t>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3650" y="3015853"/>
            <a:ext cx="27034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047112" y="3015853"/>
            <a:ext cx="25638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43650" y="3530203"/>
            <a:ext cx="27034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047112" y="3530203"/>
            <a:ext cx="25638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43650" y="4044553"/>
            <a:ext cx="27034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047112" y="4044553"/>
            <a:ext cx="25638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2. LEFT JOIN (Manda la Izquierda)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506265"/>
            <a:ext cx="5286375" cy="20669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89784"/>
            <a:ext cx="5286375" cy="1295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06265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Trae </a:t>
            </a:r>
            <a:r>
              <a:rPr sz="1650" b="1" i="0" u="none">
                <a:solidFill>
                  <a:srgbClr val="F8FAFC"/>
                </a:solidFill>
                <a:latin typeface="Outfit"/>
              </a:rPr>
              <a:t>TODO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de la tabla de la derecha (Especie). 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Outfit"/>
              </a:rPr>
              <a:t> El Reptil aparece, pero se rellena con NULL porque no tiene mascota.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43650" y="2515790"/>
          <a:ext cx="5267324" cy="2047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3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utfit"/>
                        </a:rPr>
                        <a:t>M.Nombre (Mascota)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utfit"/>
                        </a:rPr>
                        <a:t>E.Nombre (Especie)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Firulais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Perro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Michi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Gato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7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F4444"/>
                          </a:solidFill>
                          <a:latin typeface="Outfit"/>
                        </a:rPr>
                        <a:t>NULL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Reptil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9150" y="4246959"/>
            <a:ext cx="457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4446984"/>
            <a:ext cx="457200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FF7B72"/>
                </a:solidFill>
                <a:latin typeface="Fira Code SemiBold"/>
              </a:rPr>
              <a:t>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647009"/>
            <a:ext cx="762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RIGHT JOIN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49" y="4847034"/>
            <a:ext cx="244879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3650" y="3015853"/>
            <a:ext cx="27034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047112" y="3015853"/>
            <a:ext cx="25638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43650" y="3530203"/>
            <a:ext cx="27034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047112" y="3530203"/>
            <a:ext cx="25638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43650" y="4044553"/>
            <a:ext cx="27034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047112" y="4044553"/>
            <a:ext cx="25638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3. RIGHT JOIN (Manda la Derecha)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3705225"/>
            <a:ext cx="5286375" cy="2581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853582"/>
            <a:ext cx="5286375" cy="1295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952750"/>
            <a:ext cx="6667500" cy="2200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3705225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Consolidación total. Devuelve todo de ambas tablas. Une lo que coincide y rellena con NULL los huérfanos de ambos lados.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43650" y="3714750"/>
          <a:ext cx="5267324" cy="2562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3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44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utfit"/>
                        </a:rPr>
                        <a:t>M.Nombre (Mascota)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utfit"/>
                        </a:rPr>
                        <a:t>E.Nombre (Especie)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44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Firulais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Perro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4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Michi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Gato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44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Piolín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F4444"/>
                          </a:solidFill>
                          <a:latin typeface="Outfit"/>
                        </a:rPr>
                        <a:t>NULL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44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F4444"/>
                          </a:solidFill>
                          <a:latin typeface="Outfit"/>
                        </a:rPr>
                        <a:t>NULL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utfit"/>
                        </a:rPr>
                        <a:t>Reptil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9150" y="5110757"/>
            <a:ext cx="457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5310782"/>
            <a:ext cx="457200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FF7B72"/>
                </a:solidFill>
                <a:latin typeface="Fira Code SemiBold"/>
              </a:rPr>
              <a:t>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5510807"/>
            <a:ext cx="1143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FULL OUTER JOIN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49" y="5710832"/>
            <a:ext cx="457199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FF7B72"/>
                </a:solidFill>
                <a:latin typeface="Fira Code SemiBold"/>
              </a:rPr>
              <a:t>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43650" y="4214812"/>
            <a:ext cx="27034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047112" y="4214812"/>
            <a:ext cx="25638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43650" y="4729162"/>
            <a:ext cx="27034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47112" y="4729162"/>
            <a:ext cx="25638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43650" y="5243512"/>
            <a:ext cx="27034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47112" y="5243512"/>
            <a:ext cx="25638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43650" y="5757862"/>
            <a:ext cx="27034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47112" y="5757862"/>
            <a:ext cx="25638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" y="2771775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4. FULL OUTER JOIN (Todo)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13954"/>
            <a:ext cx="5286375" cy="35635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113954"/>
            <a:ext cx="5286375" cy="35635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3133129"/>
            <a:ext cx="4505325" cy="1695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504479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Simplificando la escritura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990254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Para no escribir nombres de tablas largos repetidamente, usamos "apodos" o Alias en el `FROM`.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138612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Outfit"/>
              </a:rPr>
              <a:t>La palabra </a:t>
            </a:r>
            <a:r>
              <a:rPr lang="en-US" sz="1650" b="0" i="0" u="none" dirty="0">
                <a:solidFill>
                  <a:srgbClr val="CBD5E1"/>
                </a:solidFill>
                <a:latin typeface="Outfit"/>
              </a:rPr>
              <a:t>           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también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sirve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para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cambiar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cómo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se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muestra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el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nombre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de la columna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en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el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resultado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final.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2504479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2E8F0"/>
                </a:solidFill>
                <a:latin typeface="Outfit"/>
              </a:rPr>
              <a:t>Código con Alias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285" y="4138612"/>
            <a:ext cx="43815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72300" y="3390304"/>
            <a:ext cx="457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8100" y="3590329"/>
            <a:ext cx="152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8100" y="3790354"/>
            <a:ext cx="152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2300" y="3990379"/>
            <a:ext cx="304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FROM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2900" y="3990379"/>
            <a:ext cx="152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300" y="4190404"/>
            <a:ext cx="762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INNER JOIN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0100" y="4190404"/>
            <a:ext cx="152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2300" y="4390429"/>
            <a:ext cx="152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Uso de Alias (AS)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81535"/>
            <a:ext cx="5286375" cy="322837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281535"/>
            <a:ext cx="5286375" cy="32283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3300710"/>
            <a:ext cx="4505325" cy="149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672060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Lógica posterior al cruce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157835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El operador JOIN se encarga exclusivamente de la combinación estructural en memoria.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971032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Outfit"/>
              </a:rPr>
              <a:t>Para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aplicar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condiciones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y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reducir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el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volumen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datos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mostrar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, se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utiliza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al final del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bloque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2672060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2E8F0"/>
                </a:solidFill>
                <a:latin typeface="Outfit"/>
              </a:rPr>
              <a:t>Ejemplo de Filtrado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1850" y="4306192"/>
            <a:ext cx="78105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72300" y="3557885"/>
            <a:ext cx="457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2300" y="3757910"/>
            <a:ext cx="381000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FF7B72"/>
                </a:solidFill>
                <a:latin typeface="Fira Code SemiBold"/>
              </a:rPr>
              <a:t>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2300" y="3957935"/>
            <a:ext cx="762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INNER JOIN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2299" y="4157960"/>
            <a:ext cx="284711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F7B72"/>
                </a:solidFill>
                <a:latin typeface="Fira Code SemiBold"/>
              </a:rPr>
              <a:t>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2300" y="4357985"/>
            <a:ext cx="533400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FF7B72"/>
                </a:solidFill>
                <a:latin typeface="Fira Code SemiBold"/>
              </a:rPr>
              <a:t>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7700" y="4357985"/>
            <a:ext cx="533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A5D6FF"/>
                </a:solidFill>
                <a:latin typeface="Fira Code"/>
              </a:rPr>
              <a:t>'Perro'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Filtrando Resultados (WHERE)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00362" y="2328862"/>
            <a:ext cx="639127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CBD5E1"/>
                </a:solidFill>
                <a:latin typeface="Outfit"/>
              </a:rPr>
              <a:t>Representación animada de los JOINs en motores SQL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3536602"/>
            <a:ext cx="5715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72075" y="4489102"/>
            <a:ext cx="18478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utfit"/>
              </a:rPr>
              <a:t>[Video de YouTube]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Demostración Visual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000250"/>
            <a:ext cx="5286375" cy="4286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952750"/>
            <a:ext cx="6667500" cy="495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00250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Ejecución de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486025"/>
            <a:ext cx="4905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Abriremos SQL Server Management Studio.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011685"/>
            <a:ext cx="4905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Creación rápida de ESPECIE y MASCOTA.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537346"/>
            <a:ext cx="4905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Demostraremos los 4 tipos de JOINs en vivo para ver cómo reaccionan las tablas ante datos NULL.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38412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64073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589734"/>
            <a:ext cx="238125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10668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Demostración en Vivo (SSMS)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1691282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Jugando con los JOINs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16926" y="2143163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Outfit"/>
              </a:rPr>
              <a:t>1.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Descarguen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el script base (`Demo_Tablas_P1.sql`) de la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plataforma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UEDI.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Contiene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dos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tablas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y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datos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precargados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8736" y="3308792"/>
            <a:ext cx="5286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Outfit"/>
              </a:rPr>
              <a:t>2.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Ejecútenlo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en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su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SSMS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8736" y="4957545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Outfit"/>
              </a:rPr>
              <a:t>4. Suban un PDF o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captura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pantalla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comprobando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que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ejecutaron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y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comprendieron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la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diferencia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Outfit"/>
              </a:rPr>
              <a:t>resultados</a:t>
            </a:r>
            <a:r>
              <a:rPr sz="1650" b="0" i="0" u="none" dirty="0">
                <a:solidFill>
                  <a:srgbClr val="CBD5E1"/>
                </a:solidFill>
                <a:latin typeface="Outfit"/>
              </a:rPr>
              <a:t>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736" y="3828828"/>
            <a:ext cx="5076825" cy="6780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043" y="4211390"/>
            <a:ext cx="438150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Tarea 4: Experimentación SQL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6F0554-BCB1-4622-D762-C1DA3A929E49}"/>
              </a:ext>
            </a:extLst>
          </p:cNvPr>
          <p:cNvSpPr txBox="1"/>
          <p:nvPr/>
        </p:nvSpPr>
        <p:spPr>
          <a:xfrm>
            <a:off x="7294418" y="4140228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1800" b="0" i="0" dirty="0">
                <a:solidFill>
                  <a:schemeClr val="bg1"/>
                </a:solidFill>
                <a:effectLst/>
                <a:latin typeface="+mn-lt"/>
              </a:rPr>
              <a:t>s a las columnas.</a:t>
            </a:r>
            <a:endParaRPr lang="es-GT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599592" name="Google Shape;54;p13"/>
          <p:cNvPicPr/>
          <p:nvPr/>
        </p:nvPicPr>
        <p:blipFill rotWithShape="1">
          <a:blip r:embed="rId3">
            <a:alphaModFix amt="62000"/>
          </a:blip>
          <a:stretch/>
        </p:blipFill>
        <p:spPr bwMode="auto"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687050" name="Google Shape;55;p13"/>
          <p:cNvGraphicFramePr>
            <a:graphicFrameLocks/>
          </p:cNvGraphicFramePr>
          <p:nvPr/>
        </p:nvGraphicFramePr>
        <p:xfrm>
          <a:off x="11267" y="1004833"/>
          <a:ext cx="6973166" cy="2042040"/>
        </p:xfrm>
        <a:graphic>
          <a:graphicData uri="http://schemas.openxmlformats.org/drawingml/2006/table">
            <a:tbl>
              <a:tblPr/>
              <a:tblGrid>
                <a:gridCol w="3688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2400"/>
                        <a:t>Asignacion DTT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24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7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24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04884106" name="Google Shape;56;p13"/>
          <p:cNvSpPr txBox="1"/>
          <p:nvPr/>
        </p:nvSpPr>
        <p:spPr bwMode="auto">
          <a:xfrm>
            <a:off x="0" y="2854601"/>
            <a:ext cx="120252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defRPr/>
            </a:pPr>
            <a:r>
              <a:rPr lang="es" sz="2400" b="1"/>
              <a:t>Participantes: llenar las siguientes cajas de texto (tomar información del chat del meet)</a:t>
            </a:r>
            <a:endParaRPr sz="2400" b="1"/>
          </a:p>
        </p:txBody>
      </p:sp>
      <p:sp>
        <p:nvSpPr>
          <p:cNvPr id="1080400390" name="Google Shape;57;p13"/>
          <p:cNvSpPr txBox="1"/>
          <p:nvPr/>
        </p:nvSpPr>
        <p:spPr bwMode="auto">
          <a:xfrm>
            <a:off x="11267" y="3303865"/>
            <a:ext cx="4111600" cy="4308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r>
              <a:rPr lang="es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</p:txBody>
      </p:sp>
      <p:graphicFrame>
        <p:nvGraphicFramePr>
          <p:cNvPr id="666235659" name="Google Shape;58;p13"/>
          <p:cNvGraphicFramePr>
            <a:graphicFrameLocks/>
          </p:cNvGraphicFramePr>
          <p:nvPr/>
        </p:nvGraphicFramePr>
        <p:xfrm>
          <a:off x="7104267" y="1293367"/>
          <a:ext cx="4920767" cy="1828680"/>
        </p:xfrm>
        <a:graphic>
          <a:graphicData uri="http://schemas.openxmlformats.org/drawingml/2006/table">
            <a:tbl>
              <a:tblPr/>
              <a:tblGrid>
                <a:gridCol w="2024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2400"/>
                        <a:t>17:29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2400"/>
                        <a:t>17:34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700" b="1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2400"/>
                        <a:t>5 min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1797057" name="Google Shape;59;p13"/>
          <p:cNvSpPr txBox="1"/>
          <p:nvPr/>
        </p:nvSpPr>
        <p:spPr bwMode="auto">
          <a:xfrm>
            <a:off x="4174400" y="3303865"/>
            <a:ext cx="4111600" cy="4308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r>
              <a:rPr lang="es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65171085" name="Google Shape;60;p13"/>
          <p:cNvSpPr txBox="1"/>
          <p:nvPr/>
        </p:nvSpPr>
        <p:spPr bwMode="auto">
          <a:xfrm>
            <a:off x="8337533" y="3303865"/>
            <a:ext cx="3843200" cy="4308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endParaRPr sz="2400"/>
          </a:p>
          <a:p>
            <a:pPr>
              <a:buClr>
                <a:schemeClr val="dk1"/>
              </a:buClr>
              <a:buSzPts val="1100"/>
              <a:defRPr/>
            </a:pPr>
            <a:r>
              <a:rPr lang="es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71500"/>
            <a:ext cx="11049000" cy="141476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-394989"/>
            <a:ext cx="6667500" cy="16505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3636764"/>
            <a:ext cx="11601450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0" b="1" i="0" u="none">
                <a:solidFill>
                  <a:srgbClr val="F8FAFC"/>
                </a:solidFill>
                <a:latin typeface="Outfit"/>
              </a:rPr>
              <a:t>¿Dudas de </a:t>
            </a:r>
            <a:r>
              <a:rPr sz="7500" b="1" i="0" u="none">
                <a:solidFill>
                  <a:srgbClr val="38BDF8"/>
                </a:solidFill>
                <a:latin typeface="Outfit"/>
              </a:rPr>
              <a:t>SQL Server</a:t>
            </a:r>
            <a:r>
              <a:rPr sz="7500" b="1" i="0" u="none">
                <a:solidFill>
                  <a:srgbClr val="F8FAFC"/>
                </a:solidFill>
                <a:latin typeface="Outfit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027414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utfit"/>
              </a:rPr>
              <a:t>¡Aprovechen a romper el código para aprender!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838825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64748B"/>
                </a:solidFill>
                <a:latin typeface="Outfit"/>
              </a:rPr>
              <a:t>Laboratorio PDC 1 | Universidad de San Carlos de Guatemala | Sección 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1348085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233094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115716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409857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4883348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32142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32142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1061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1061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0890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40890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8738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8738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56585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6585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96628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75" y="1490960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Outfit"/>
              </a:rPr>
              <a:t>https://media.istockphoto.com/id/2216570186/vector/digital-uncertainty-and-artificial-intelligence-concept-with-polygonal-question-mark-symbol.jpg?s=612x612&amp;w=0&amp;k=20&amp;c=ux8Gup1t_eEP_ettSXtwqZccctfyYnuhPsKcpMCVsCE=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1934765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Outfit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Outfit"/>
              </a:rPr>
              <a:t>www.istockphoto.com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80369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66875" y="2473821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Outfit"/>
              </a:rPr>
              <a:t>https://images.squarespace-cdn.com/content/v1/5ea237e587e03021f9ef8cc2/1591064635932-7Z9AO4X4L8VEY0466GU4/image-asset.jpeg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2719536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Outfit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Outfit"/>
              </a:rPr>
              <a:t>www.swoopanalytics.com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64259"/>
            <a:ext cx="857250" cy="476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66875" y="3258591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Outfit"/>
              </a:rPr>
              <a:t>https://www-cms.pipedriveassets.com/cdn-cgi/image/quality=70,format=auto/https://www-cms.pipedriveassets.com/Database-management-systems-benefits-and-features.jpg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3702397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Outfit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Outfit"/>
              </a:rPr>
              <a:t>www.pipedrive.com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48001"/>
            <a:ext cx="857250" cy="4762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66875" y="4241452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Outfit"/>
              </a:rPr>
              <a:t>https://miro.medium.com/v2/resize:fit:1200/1*nk2ye5j0bJL7kayKNXscXQ.png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4487167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Outfit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Outfit"/>
              </a:rPr>
              <a:t>medium.com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032771"/>
            <a:ext cx="857250" cy="4762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66875" y="5026223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Outfit"/>
              </a:rPr>
              <a:t>https://www.red-gate.com/simple-talk/wp-content/uploads/2025/02/image-8.png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6875" y="5271938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Outfit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Outfit"/>
              </a:rPr>
              <a:t>www.red-gate.com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817542"/>
            <a:ext cx="857250" cy="4762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666875" y="5810994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Outfit"/>
              </a:rPr>
              <a:t>https://images.stockcake.com/public/9/5/7/957539e2-f085-442c-8d61-eed570ca5d8c_large/student-coding-intensely-stockcake.jpg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6875" y="6056709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Outfit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Outfit"/>
              </a:rPr>
              <a:t>stockcake.com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414635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8BDF8"/>
                </a:solidFill>
                <a:latin typeface="Outfit Extra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1690</Words>
  <Application>Microsoft Office PowerPoint</Application>
  <PresentationFormat>Widescreen</PresentationFormat>
  <Paragraphs>270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Calibri</vt:lpstr>
      <vt:lpstr>Fira Code</vt:lpstr>
      <vt:lpstr>Fira Code SemiBold</vt:lpstr>
      <vt:lpstr>Open Sans</vt:lpstr>
      <vt:lpstr>Open Sans Bold</vt:lpstr>
      <vt:lpstr>Outfit</vt:lpstr>
      <vt:lpstr>Outfit ExtraBold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Billy</dc:creator>
  <cp:keywords/>
  <dc:description>generated using python-pptx</dc:description>
  <cp:lastModifiedBy>Billy James</cp:lastModifiedBy>
  <cp:revision>3</cp:revision>
  <dcterms:created xsi:type="dcterms:W3CDTF">2013-01-27T09:14:16Z</dcterms:created>
  <dcterms:modified xsi:type="dcterms:W3CDTF">2026-10-28T00:30:36Z</dcterms:modified>
  <cp:category/>
</cp:coreProperties>
</file>