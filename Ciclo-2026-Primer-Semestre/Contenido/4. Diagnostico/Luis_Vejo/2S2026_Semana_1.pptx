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Open Sans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gbBcelw+kH6dS8i8b60krANa4T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penSans-bold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9" name="Google Shape;99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0" name="Google Shape;100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3" name="Google Shape;103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9" name="Google Shape;109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0" name="Google Shape;110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3" name="Google Shape;113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1" name="Google Shape;131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2" name="Google Shape;132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5" name="Google Shape;135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1" name="Google Shape;141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2" name="Google Shape;142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5" name="Google Shape;145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1" name="Google Shape;151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2" name="Google Shape;152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2" name="Google Shape;162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3" name="Google Shape;163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3" name="Google Shape;173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4" name="Google Shape;174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7" name="Google Shape;177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3" name="Google Shape;183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4" name="Google Shape;184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7" name="Google Shape;187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3" name="Google Shape;193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4" name="Google Shape;194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7" name="Google Shape;197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2" name="Google Shape;202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3" name="Google Shape;203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6" name="Google Shape;206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document/d/1SULLnA1A-tSi8imltHUHbaIaJMtgKhkH/edit?usp=drive_link&amp;ouid=107712509448620740170&amp;rtpof=true&amp;sd=tru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reate.kahoot.it/share/conocimientos-del-curso/8c83f8b2-f13b-4184-963e-66ef51a431f5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document/d/1IdLmbevHzesDwnqhT1ADTrBI-6RyvGg7/edit?usp=sharing&amp;ouid=107712509448620740170&amp;rtpof=true&amp;sd=true" TargetMode="External"/><Relationship Id="rId4" Type="http://schemas.openxmlformats.org/officeDocument/2006/relationships/hyperlink" Target="https://docs.google.com/document/d/1IdLmbevHzesDwnqhT1ADTrBI-6RyvGg7/edit?usp=sharing&amp;ouid=107712509448620740170&amp;rtpof=true&amp;sd=tru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" l="0" r="0" t="-37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969846" y="3030150"/>
            <a:ext cx="15055882" cy="3260979"/>
          </a:xfrm>
          <a:custGeom>
            <a:rect b="b" l="l" r="r" t="t"/>
            <a:pathLst>
              <a:path extrusionOk="0" h="4347972" w="20074510">
                <a:moveTo>
                  <a:pt x="0" y="0"/>
                </a:moveTo>
                <a:lnTo>
                  <a:pt x="20074510" y="0"/>
                </a:lnTo>
                <a:lnTo>
                  <a:pt x="20074510" y="4347972"/>
                </a:lnTo>
                <a:lnTo>
                  <a:pt x="0" y="43479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694" r="-3694" t="0"/>
            </a:stretch>
          </a:blipFill>
          <a:ln>
            <a:noFill/>
          </a:ln>
        </p:spPr>
      </p:sp>
      <p:sp>
        <p:nvSpPr>
          <p:cNvPr id="94" name="Google Shape;94;p1"/>
          <p:cNvSpPr txBox="1"/>
          <p:nvPr/>
        </p:nvSpPr>
        <p:spPr>
          <a:xfrm>
            <a:off x="5792610" y="6186354"/>
            <a:ext cx="6702904" cy="991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/>
          </a:p>
          <a:p>
            <a:pPr indent="0" lvl="0" marL="0" marR="0" rtl="0" algn="ctr">
              <a:lnSpc>
                <a:spcPct val="97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348644" y="9058275"/>
            <a:ext cx="5443966" cy="618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4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Luis Alfredo Vejo Mendoza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2904239" y="3611451"/>
            <a:ext cx="13187096" cy="829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Programacíon de Computadoras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27880"/>
            <a:ext cx="18288000" cy="10401300"/>
          </a:xfrm>
          <a:custGeom>
            <a:rect b="b" l="l" r="r" t="t"/>
            <a:pathLst>
              <a:path extrusionOk="0" h="13868400" w="24384000">
                <a:moveTo>
                  <a:pt x="0" y="0"/>
                </a:moveTo>
                <a:lnTo>
                  <a:pt x="24384000" y="0"/>
                </a:lnTo>
                <a:lnTo>
                  <a:pt x="24384000" y="13868400"/>
                </a:lnTo>
                <a:lnTo>
                  <a:pt x="0" y="13868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4" r="-34" t="0"/>
            </a:stretch>
          </a:blipFill>
          <a:ln>
            <a:noFill/>
          </a:ln>
        </p:spPr>
      </p:sp>
      <p:sp>
        <p:nvSpPr>
          <p:cNvPr id="106" name="Google Shape;106;p2"/>
          <p:cNvSpPr txBox="1"/>
          <p:nvPr/>
        </p:nvSpPr>
        <p:spPr>
          <a:xfrm>
            <a:off x="3101997" y="2585123"/>
            <a:ext cx="12083996" cy="3650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de Diagnóstico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4000071" y="2756059"/>
            <a:ext cx="9896475" cy="7628001"/>
          </a:xfrm>
          <a:custGeom>
            <a:rect b="b" l="l" r="r" t="t"/>
            <a:pathLst>
              <a:path extrusionOk="0" h="10170668" w="13195300">
                <a:moveTo>
                  <a:pt x="0" y="0"/>
                </a:moveTo>
                <a:lnTo>
                  <a:pt x="13195300" y="0"/>
                </a:lnTo>
                <a:lnTo>
                  <a:pt x="13195300" y="10170668"/>
                </a:lnTo>
                <a:lnTo>
                  <a:pt x="0" y="10170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4529" r="-14529" t="0"/>
            </a:stretch>
          </a:blipFill>
          <a:ln>
            <a:noFill/>
          </a:ln>
        </p:spPr>
      </p:sp>
      <p:sp>
        <p:nvSpPr>
          <p:cNvPr id="116" name="Google Shape;116;p3"/>
          <p:cNvSpPr/>
          <p:nvPr/>
        </p:nvSpPr>
        <p:spPr>
          <a:xfrm>
            <a:off x="3493370" y="-730682"/>
            <a:ext cx="11301222" cy="5127975"/>
          </a:xfrm>
          <a:custGeom>
            <a:rect b="b" l="l" r="r" t="t"/>
            <a:pathLst>
              <a:path extrusionOk="0" h="6837299" w="15068296">
                <a:moveTo>
                  <a:pt x="0" y="0"/>
                </a:moveTo>
                <a:lnTo>
                  <a:pt x="15068296" y="0"/>
                </a:lnTo>
                <a:lnTo>
                  <a:pt x="15068296" y="6837299"/>
                </a:lnTo>
                <a:lnTo>
                  <a:pt x="0" y="68372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2" r="-23" t="0"/>
            </a:stretch>
          </a:blipFill>
          <a:ln>
            <a:noFill/>
          </a:ln>
        </p:spPr>
      </p:sp>
      <p:sp>
        <p:nvSpPr>
          <p:cNvPr id="117" name="Google Shape;117;p3"/>
          <p:cNvSpPr/>
          <p:nvPr/>
        </p:nvSpPr>
        <p:spPr>
          <a:xfrm>
            <a:off x="4875924" y="3204229"/>
            <a:ext cx="678180" cy="824865"/>
          </a:xfrm>
          <a:custGeom>
            <a:rect b="b" l="l" r="r" t="t"/>
            <a:pathLst>
              <a:path extrusionOk="0" h="1099820" w="904240">
                <a:moveTo>
                  <a:pt x="0" y="0"/>
                </a:moveTo>
                <a:lnTo>
                  <a:pt x="904240" y="0"/>
                </a:lnTo>
                <a:lnTo>
                  <a:pt x="904240" y="1099820"/>
                </a:lnTo>
                <a:lnTo>
                  <a:pt x="0" y="1099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5" l="0" r="-1" t="0"/>
            </a:stretch>
          </a:blipFill>
          <a:ln>
            <a:noFill/>
          </a:ln>
        </p:spPr>
      </p:sp>
      <p:sp>
        <p:nvSpPr>
          <p:cNvPr id="118" name="Google Shape;118;p3"/>
          <p:cNvSpPr txBox="1"/>
          <p:nvPr/>
        </p:nvSpPr>
        <p:spPr>
          <a:xfrm>
            <a:off x="5839778" y="3478563"/>
            <a:ext cx="4886401" cy="47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4875924" y="4232853"/>
            <a:ext cx="678180" cy="824865"/>
          </a:xfrm>
          <a:custGeom>
            <a:rect b="b" l="l" r="r" t="t"/>
            <a:pathLst>
              <a:path extrusionOk="0" h="1099820" w="904240">
                <a:moveTo>
                  <a:pt x="0" y="0"/>
                </a:moveTo>
                <a:lnTo>
                  <a:pt x="904240" y="0"/>
                </a:lnTo>
                <a:lnTo>
                  <a:pt x="904240" y="1099820"/>
                </a:lnTo>
                <a:lnTo>
                  <a:pt x="0" y="1099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5" l="0" r="-1" t="0"/>
            </a:stretch>
          </a:blipFill>
          <a:ln>
            <a:noFill/>
          </a:ln>
        </p:spPr>
      </p:sp>
      <p:sp>
        <p:nvSpPr>
          <p:cNvPr id="120" name="Google Shape;120;p3"/>
          <p:cNvSpPr txBox="1"/>
          <p:nvPr/>
        </p:nvSpPr>
        <p:spPr>
          <a:xfrm>
            <a:off x="5839778" y="4495567"/>
            <a:ext cx="5249317" cy="46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Presentación de los Estudiantes 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4824746" y="5310921"/>
            <a:ext cx="678180" cy="824865"/>
          </a:xfrm>
          <a:custGeom>
            <a:rect b="b" l="l" r="r" t="t"/>
            <a:pathLst>
              <a:path extrusionOk="0" h="1099820" w="904240">
                <a:moveTo>
                  <a:pt x="0" y="0"/>
                </a:moveTo>
                <a:lnTo>
                  <a:pt x="904240" y="0"/>
                </a:lnTo>
                <a:lnTo>
                  <a:pt x="904240" y="1099820"/>
                </a:lnTo>
                <a:lnTo>
                  <a:pt x="0" y="1099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5" l="0" r="-1" t="0"/>
            </a:stretch>
          </a:blipFill>
          <a:ln>
            <a:noFill/>
          </a:ln>
        </p:spPr>
      </p:sp>
      <p:sp>
        <p:nvSpPr>
          <p:cNvPr id="122" name="Google Shape;122;p3"/>
          <p:cNvSpPr/>
          <p:nvPr/>
        </p:nvSpPr>
        <p:spPr>
          <a:xfrm>
            <a:off x="4824746" y="6413611"/>
            <a:ext cx="678180" cy="824865"/>
          </a:xfrm>
          <a:custGeom>
            <a:rect b="b" l="l" r="r" t="t"/>
            <a:pathLst>
              <a:path extrusionOk="0" h="1099820" w="904240">
                <a:moveTo>
                  <a:pt x="0" y="0"/>
                </a:moveTo>
                <a:lnTo>
                  <a:pt x="904240" y="0"/>
                </a:lnTo>
                <a:lnTo>
                  <a:pt x="904240" y="1099820"/>
                </a:lnTo>
                <a:lnTo>
                  <a:pt x="0" y="1099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5" l="0" r="-1" t="0"/>
            </a:stretch>
          </a:blipFill>
          <a:ln>
            <a:noFill/>
          </a:ln>
        </p:spPr>
      </p:sp>
      <p:sp>
        <p:nvSpPr>
          <p:cNvPr id="123" name="Google Shape;123;p3"/>
          <p:cNvSpPr/>
          <p:nvPr/>
        </p:nvSpPr>
        <p:spPr>
          <a:xfrm>
            <a:off x="4824746" y="7516301"/>
            <a:ext cx="678180" cy="824865"/>
          </a:xfrm>
          <a:custGeom>
            <a:rect b="b" l="l" r="r" t="t"/>
            <a:pathLst>
              <a:path extrusionOk="0" h="1099820" w="904240">
                <a:moveTo>
                  <a:pt x="0" y="0"/>
                </a:moveTo>
                <a:lnTo>
                  <a:pt x="904240" y="0"/>
                </a:lnTo>
                <a:lnTo>
                  <a:pt x="904240" y="1099820"/>
                </a:lnTo>
                <a:lnTo>
                  <a:pt x="0" y="1099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5" l="0" r="-1" t="0"/>
            </a:stretch>
          </a:blipFill>
          <a:ln>
            <a:noFill/>
          </a:ln>
        </p:spPr>
      </p:sp>
      <p:sp>
        <p:nvSpPr>
          <p:cNvPr id="124" name="Google Shape;124;p3"/>
          <p:cNvSpPr txBox="1"/>
          <p:nvPr/>
        </p:nvSpPr>
        <p:spPr>
          <a:xfrm>
            <a:off x="5839777" y="5560195"/>
            <a:ext cx="8001744" cy="46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Censo de Horarios de Calificación                                 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5839777" y="6636153"/>
            <a:ext cx="3413671" cy="46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Programa del Curso 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5839778" y="7699343"/>
            <a:ext cx="7415659" cy="46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 Evaluación de Conocimientos del Curso Actual 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5839778" y="8573019"/>
            <a:ext cx="5906988" cy="46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6. Tarea de fortalecimiento académico 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4824746" y="8444722"/>
            <a:ext cx="678180" cy="824865"/>
          </a:xfrm>
          <a:custGeom>
            <a:rect b="b" l="l" r="r" t="t"/>
            <a:pathLst>
              <a:path extrusionOk="0" h="1099820" w="904240">
                <a:moveTo>
                  <a:pt x="0" y="0"/>
                </a:moveTo>
                <a:lnTo>
                  <a:pt x="904240" y="0"/>
                </a:lnTo>
                <a:lnTo>
                  <a:pt x="904240" y="1099820"/>
                </a:lnTo>
                <a:lnTo>
                  <a:pt x="0" y="1099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5" l="0" r="-1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/>
        </p:nvSpPr>
        <p:spPr>
          <a:xfrm>
            <a:off x="3410550" y="543365"/>
            <a:ext cx="11466900" cy="2335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/>
          </a:p>
          <a:p>
            <a:pPr indent="0" lvl="0" marL="0" marR="0" rtl="0" algn="ctr">
              <a:lnSpc>
                <a:spcPct val="41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5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1754131" y="3631217"/>
            <a:ext cx="9862252" cy="2911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6178" lvl="1" marL="752355" marR="0" rtl="0" algn="l">
              <a:lnSpc>
                <a:spcPct val="16796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84"/>
              <a:buFont typeface="Arial"/>
              <a:buChar char="•"/>
            </a:pPr>
            <a:r>
              <a:rPr b="1" i="0" lang="en-US" sz="348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Nombre: Luis Alfredo Vejo Mendoza</a:t>
            </a:r>
            <a:endParaRPr/>
          </a:p>
          <a:p>
            <a:pPr indent="-376178" lvl="1" marL="752355" marR="0" rtl="0" algn="l">
              <a:lnSpc>
                <a:spcPct val="16796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84"/>
              <a:buFont typeface="Arial"/>
              <a:buChar char="•"/>
            </a:pPr>
            <a:r>
              <a:rPr b="1" i="0" lang="en-US" sz="348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Whatsapp: 42150478</a:t>
            </a:r>
            <a:endParaRPr/>
          </a:p>
          <a:p>
            <a:pPr indent="-376178" lvl="1" marL="752355" marR="0" rtl="0" algn="l">
              <a:lnSpc>
                <a:spcPct val="16796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84"/>
              <a:buFont typeface="Arial"/>
              <a:buChar char="•"/>
            </a:pPr>
            <a:r>
              <a:rPr b="1" i="0" lang="en-US" sz="348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Correo: 2205483820101@ingenieria.usac.edu.gt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/>
        </p:nvSpPr>
        <p:spPr>
          <a:xfrm>
            <a:off x="359326" y="345352"/>
            <a:ext cx="17588398" cy="153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Presentación de los Estudiantes </a:t>
            </a:r>
            <a:endParaRPr/>
          </a:p>
          <a:p>
            <a:pPr indent="0" lvl="0" marL="0" marR="0" rtl="0" algn="ctr">
              <a:lnSpc>
                <a:spcPct val="41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5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2301829" y="3206547"/>
            <a:ext cx="15067800" cy="37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79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4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Rueda aleatoria para que los estudiantes seleccionados se presenten y hablen un poco sobre ellos</a:t>
            </a:r>
            <a:endParaRPr/>
          </a:p>
          <a:p>
            <a:pPr indent="0" lvl="0" marL="0" marR="0" rtl="0" algn="just">
              <a:lnSpc>
                <a:spcPct val="1679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4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679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4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https://spinthewheel.io/es/wheels/s32ozrn0SUVQOlM8XldDcz0xJmU9MQ==</a:t>
            </a:r>
            <a:endParaRPr/>
          </a:p>
          <a:p>
            <a:pPr indent="0" lvl="0" marL="0" marR="0" rtl="0" algn="just">
              <a:lnSpc>
                <a:spcPct val="1679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4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679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4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67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4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/>
        </p:nvSpPr>
        <p:spPr>
          <a:xfrm>
            <a:off x="3091901" y="182005"/>
            <a:ext cx="16230600" cy="1115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 Censo de Horarios de Calificación                          </a:t>
            </a:r>
            <a:endParaRPr/>
          </a:p>
        </p:txBody>
      </p:sp>
      <p:sp>
        <p:nvSpPr>
          <p:cNvPr id="158" name="Google Shape;158;p6"/>
          <p:cNvSpPr txBox="1"/>
          <p:nvPr/>
        </p:nvSpPr>
        <p:spPr>
          <a:xfrm>
            <a:off x="5298918" y="2869579"/>
            <a:ext cx="7690164" cy="213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8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Horarios tentativos de calificación:</a:t>
            </a:r>
            <a:endParaRPr/>
          </a:p>
          <a:p>
            <a:pPr indent="0" lvl="0" marL="0" marR="0" rtl="0" algn="ctr">
              <a:lnSpc>
                <a:spcPct val="167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482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5988" lvl="1" marL="751975" marR="0" rtl="0" algn="l">
              <a:lnSpc>
                <a:spcPct val="167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82"/>
              <a:buFont typeface="Arial"/>
              <a:buChar char="•"/>
            </a:pPr>
            <a:r>
              <a:rPr b="1" i="0" lang="en-US" sz="348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Sabado 8:00 am - 12:00 pm</a:t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1703984" y="6581879"/>
            <a:ext cx="14880032" cy="683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8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Horario puede cambiar dependiendo disponibilidad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/>
          <p:nvPr/>
        </p:nvSpPr>
        <p:spPr>
          <a:xfrm>
            <a:off x="489652" y="329575"/>
            <a:ext cx="11466900" cy="153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Programa del Curso </a:t>
            </a:r>
            <a:endParaRPr/>
          </a:p>
          <a:p>
            <a:pPr indent="0" lvl="0" marL="0" marR="0" rtl="0" algn="ctr">
              <a:lnSpc>
                <a:spcPct val="41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5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1970005" y="2417931"/>
            <a:ext cx="5666333" cy="46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Presentación del programa del curso:</a:t>
            </a:r>
            <a:endParaRPr/>
          </a:p>
        </p:txBody>
      </p:sp>
      <p:sp>
        <p:nvSpPr>
          <p:cNvPr id="170" name="Google Shape;170;p7"/>
          <p:cNvSpPr txBox="1"/>
          <p:nvPr/>
        </p:nvSpPr>
        <p:spPr>
          <a:xfrm>
            <a:off x="2586710" y="4796053"/>
            <a:ext cx="14570630" cy="55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28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https://docs.google.com/document/d/1SULLnA1A-tSi8imltHUHbaIaJMtgKhkH/edit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 txBox="1"/>
          <p:nvPr/>
        </p:nvSpPr>
        <p:spPr>
          <a:xfrm>
            <a:off x="3410550" y="702497"/>
            <a:ext cx="11466900" cy="2306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 Evaluación de Conocimientos del Curso Actual                                  </a:t>
            </a:r>
            <a:endParaRPr/>
          </a:p>
        </p:txBody>
      </p:sp>
      <p:sp>
        <p:nvSpPr>
          <p:cNvPr id="180" name="Google Shape;180;p8"/>
          <p:cNvSpPr txBox="1"/>
          <p:nvPr/>
        </p:nvSpPr>
        <p:spPr>
          <a:xfrm>
            <a:off x="4411251" y="4725091"/>
            <a:ext cx="9465499" cy="2542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Kahoot de conocimientos del curso:</a:t>
            </a:r>
            <a:endParaRPr/>
          </a:p>
          <a:p>
            <a:pPr indent="0" lvl="0" marL="0" marR="0" rtl="0" algn="ctr">
              <a:lnSpc>
                <a:spcPct val="1679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67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4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https://create.kahoot.it/share/conocimientos-del-curso/8c83f8b2-f13b-4184-963e-66ef51a431f5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/>
          <p:nvPr/>
        </p:nvSpPr>
        <p:spPr>
          <a:xfrm>
            <a:off x="0" y="1197344"/>
            <a:ext cx="18288000" cy="153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6. Tarea de fortalecimiento académico </a:t>
            </a:r>
            <a:endParaRPr/>
          </a:p>
          <a:p>
            <a:pPr indent="0" lvl="0" marL="0" marR="0" rtl="0" algn="ctr">
              <a:lnSpc>
                <a:spcPct val="41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5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2481882" y="4311246"/>
            <a:ext cx="13324236" cy="1798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Tarea de fortalecimiento:</a:t>
            </a:r>
            <a:endParaRPr/>
          </a:p>
          <a:p>
            <a:pPr indent="0" lvl="0" marL="0" marR="0" rtl="0" algn="l">
              <a:lnSpc>
                <a:spcPct val="167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6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sng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https://docs.google.com/document/d/17wFyZI7lNlaEnbNAjYbwldLzaBj1SUDh/edit</a:t>
            </a:r>
            <a:endParaRPr/>
          </a:p>
          <a:p>
            <a:pPr indent="-122555" lvl="1" marL="245110" marR="0" rtl="0" algn="ctr">
              <a:lnSpc>
                <a:spcPct val="97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sng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3861683" y="595293"/>
            <a:ext cx="10564654" cy="8662988"/>
          </a:xfrm>
          <a:custGeom>
            <a:rect b="b" l="l" r="r" t="t"/>
            <a:pathLst>
              <a:path extrusionOk="0" h="11550650" w="14086205">
                <a:moveTo>
                  <a:pt x="0" y="0"/>
                </a:moveTo>
                <a:lnTo>
                  <a:pt x="14086205" y="0"/>
                </a:lnTo>
                <a:lnTo>
                  <a:pt x="14086205" y="11550650"/>
                </a:lnTo>
                <a:lnTo>
                  <a:pt x="0" y="11550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" l="0" r="0" t="-37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/>
          <p:nvPr/>
        </p:nvSpPr>
        <p:spPr>
          <a:xfrm>
            <a:off x="915619" y="118053"/>
            <a:ext cx="16659130" cy="10287000"/>
          </a:xfrm>
          <a:custGeom>
            <a:rect b="b" l="l" r="r" t="t"/>
            <a:pathLst>
              <a:path extrusionOk="0" h="13716000" w="22212173">
                <a:moveTo>
                  <a:pt x="0" y="0"/>
                </a:moveTo>
                <a:lnTo>
                  <a:pt x="22212173" y="0"/>
                </a:lnTo>
                <a:lnTo>
                  <a:pt x="22212173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4" r="-23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